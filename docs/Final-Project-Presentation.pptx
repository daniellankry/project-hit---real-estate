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6ddac75adf4352" /><Relationship Type="http://schemas.openxmlformats.org/officeDocument/2006/relationships/extended-properties" Target="/docProps/app.xml" Id="Re80f546483664822" /><Relationship Type="http://schemas.openxmlformats.org/officeDocument/2006/relationships/officeDocument" Target="/ppt/presentation.xml" Id="Rc926622cbbea44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d0df8e6ed044f1"/>
  </p:sldMasterIdLst>
  <p:notesMasterIdLst>
    <p:notesMasterId xmlns:r="http://schemas.openxmlformats.org/officeDocument/2006/relationships" r:id="Ra8a7a46d0141410b"/>
  </p:notesMasterIdLst>
  <p:sldIdLst>
    <p:sldId xmlns:r="http://schemas.openxmlformats.org/officeDocument/2006/relationships" id="256" r:id="R253eb1c984224807"/>
    <p:sldId xmlns:r="http://schemas.openxmlformats.org/officeDocument/2006/relationships" id="257" r:id="Ra92e4ab51056410b"/>
    <p:sldId xmlns:r="http://schemas.openxmlformats.org/officeDocument/2006/relationships" id="258" r:id="R67ed24d38d63420a"/>
    <p:sldId xmlns:r="http://schemas.openxmlformats.org/officeDocument/2006/relationships" id="259" r:id="R06fa18331b8c43e6"/>
    <p:sldId xmlns:r="http://schemas.openxmlformats.org/officeDocument/2006/relationships" id="260" r:id="R303d579cbec6463a"/>
    <p:sldId xmlns:r="http://schemas.openxmlformats.org/officeDocument/2006/relationships" id="261" r:id="Rbe2002f70c8b4688"/>
    <p:sldId xmlns:r="http://schemas.openxmlformats.org/officeDocument/2006/relationships" id="262" r:id="R2d0dc03dc75140fa"/>
    <p:sldId xmlns:r="http://schemas.openxmlformats.org/officeDocument/2006/relationships" id="263" r:id="R27c72b93b6fb416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72691e36084875" /><Relationship Type="http://schemas.openxmlformats.org/officeDocument/2006/relationships/slideMaster" Target="/ppt/slideMasters/slideMaster1.xml" Id="Re1d0df8e6ed044f1" /><Relationship Type="http://schemas.openxmlformats.org/officeDocument/2006/relationships/notesMaster" Target="/ppt/notesMasters/notesMaster1.xml" Id="Ra8a7a46d0141410b" /><Relationship Type="http://schemas.openxmlformats.org/officeDocument/2006/relationships/presProps" Target="/ppt/presProps.xml" Id="Rf88e8c1035274e30" /><Relationship Type="http://schemas.openxmlformats.org/officeDocument/2006/relationships/tableStyles" Target="/ppt/tableStyles.xml" Id="Re1b7e437477b4f23" /><Relationship Type="http://schemas.openxmlformats.org/officeDocument/2006/relationships/slide" Target="/ppt/slides/slide1.xml" Id="R253eb1c984224807" /><Relationship Type="http://schemas.openxmlformats.org/officeDocument/2006/relationships/slide" Target="/ppt/slides/slide2.xml" Id="Ra92e4ab51056410b" /><Relationship Type="http://schemas.openxmlformats.org/officeDocument/2006/relationships/slide" Target="/ppt/slides/slide3.xml" Id="R67ed24d38d63420a" /><Relationship Type="http://schemas.openxmlformats.org/officeDocument/2006/relationships/slide" Target="/ppt/slides/slide4.xml" Id="R06fa18331b8c43e6" /><Relationship Type="http://schemas.openxmlformats.org/officeDocument/2006/relationships/slide" Target="/ppt/slides/slide5.xml" Id="R303d579cbec6463a" /><Relationship Type="http://schemas.openxmlformats.org/officeDocument/2006/relationships/slide" Target="/ppt/slides/slide6.xml" Id="Rbe2002f70c8b4688" /><Relationship Type="http://schemas.openxmlformats.org/officeDocument/2006/relationships/slide" Target="/ppt/slides/slide7.xml" Id="R2d0dc03dc75140fa" /><Relationship Type="http://schemas.openxmlformats.org/officeDocument/2006/relationships/slide" Target="/ppt/slides/slide8.xml" Id="R27c72b93b6fb41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32005698804c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3f3af8bccd4db1" /><Relationship Type="http://schemas.openxmlformats.org/officeDocument/2006/relationships/notesMaster" Target="/ppt/notesMasters/notesMaster1.xml" Id="Rfc631a4d76074d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07ce81a79743ba" /><Relationship Type="http://schemas.openxmlformats.org/officeDocument/2006/relationships/notesMaster" Target="/ppt/notesMasters/notesMaster1.xml" Id="Rf8d346b4988b41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b9d106ff814dff" /><Relationship Type="http://schemas.openxmlformats.org/officeDocument/2006/relationships/notesMaster" Target="/ppt/notesMasters/notesMaster1.xml" Id="Rd7fab1f166264a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a37cdc076f4e87" /><Relationship Type="http://schemas.openxmlformats.org/officeDocument/2006/relationships/notesMaster" Target="/ppt/notesMasters/notesMaster1.xml" Id="Rb12ee4f7744c45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1082f22c7c4b95" /><Relationship Type="http://schemas.openxmlformats.org/officeDocument/2006/relationships/notesMaster" Target="/ppt/notesMasters/notesMaster1.xml" Id="R7a77d18c79b547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7f6a28563a4688" /><Relationship Type="http://schemas.openxmlformats.org/officeDocument/2006/relationships/notesMaster" Target="/ppt/notesMasters/notesMaster1.xml" Id="R54c8f97ff50c43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07ee799eb84aa0" /><Relationship Type="http://schemas.openxmlformats.org/officeDocument/2006/relationships/notesMaster" Target="/ppt/notesMasters/notesMaster1.xml" Id="R3e17a961cd5943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6965a285734457" /><Relationship Type="http://schemas.openxmlformats.org/officeDocument/2006/relationships/notesMaster" Target="/ppt/notesMasters/notesMaster1.xml" Id="Rd6340eb188f048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proposal: docs/Project-Proposal-Template-HIT-project-center Maiora.docx.pdf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proposal: docs/Project-Proposal-Template-HIT-project-center Maiora.docx.pdf</a:t>
            </a:r>
          </a:p>
          <a:p xmlns:a="http://schemas.openxmlformats.org/drawingml/2006/main">
            <a:r>
              <a:t>- Current pipeline: code/scrape_real_estate_training_data.py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Full data: data/scraped_real_estate_training.csv</a:t>
            </a:r>
          </a:p>
          <a:p xmlns:a="http://schemas.openxmlformats.org/drawingml/2006/main">
            <a:r>
              <a:t>- Compact data: data/scraped_real_estate_model_features.csv</a:t>
            </a:r>
          </a:p>
          <a:p xmlns:a="http://schemas.openxmlformats.org/drawingml/2006/main">
            <a:r>
              <a:t>- Crawler limitation: code/scrape_real_estate_training_data.py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Compact data quality checks: code/real_estate_model.ipynb</a:t>
            </a:r>
          </a:p>
          <a:p xmlns:a="http://schemas.openxmlformats.org/drawingml/2006/main">
            <a:r>
              <a:t>- Compact data: data/scraped_real_estate_model_features.csv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Correlation method and outputs: code/eda_real_estate.ipynb</a:t>
            </a:r>
          </a:p>
          <a:p xmlns:a="http://schemas.openxmlformats.org/drawingml/2006/main">
            <a:r>
              <a:t>- Compact data: data/scraped_real_estate_model_features.csv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World Bank API documentation: https://datahelpdesk.worldbank.org/knowledgebase/articles/889392</a:t>
            </a:r>
          </a:p>
          <a:p xmlns:a="http://schemas.openxmlformats.org/drawingml/2006/main">
            <a:r>
              <a:t>- Inflation indicator FP.CPI.TOTL.ZG: https://data.worldbank.org/indicator/FP.CPI.TOTL.ZG</a:t>
            </a:r>
          </a:p>
          <a:p xmlns:a="http://schemas.openxmlformats.org/drawingml/2006/main">
            <a:r>
              <a:t>- GDP growth indicator NY.GDP.MKTP.KD.ZG: https://data.worldbank.org/indicator/NY.GDP.MKTP.KD.ZG</a:t>
            </a:r>
          </a:p>
          <a:p xmlns:a="http://schemas.openxmlformats.org/drawingml/2006/main">
            <a:r>
              <a:t>- Downloaded values: data/macroeconomic_indicators.csv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Model method and executed outputs: code/real_estate_model.ipynb</a:t>
            </a:r>
          </a:p>
          <a:p xmlns:a="http://schemas.openxmlformats.org/drawingml/2006/main">
            <a:r>
              <a:t>- Model data: data/scraped_real_estate_model_features.csv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Completion evidence: README.md and docs/Project-Specification.docx</a:t>
            </a:r>
          </a:p>
          <a:p xmlns:a="http://schemas.openxmlformats.org/drawingml/2006/main">
            <a:r>
              <a:t>- Future forecasting requirement: docs/Project-Proposal-Template-HIT-project-center Maiora.docx.pdf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a1a73bd6424b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921eab70674b4d" /><Relationship Type="http://schemas.openxmlformats.org/officeDocument/2006/relationships/slideLayout" Target="/ppt/slideLayouts/slideLayout1.xml" Id="R49d105e1fd4646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d105e1fd4646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cfc0c0b6a4d73" /><Relationship Type="http://schemas.openxmlformats.org/officeDocument/2006/relationships/notesSlide" Target="/ppt/notesSlides/notesSlide1.xml" Id="R73d9ab4921f744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d9069d22f4250" /><Relationship Type="http://schemas.openxmlformats.org/officeDocument/2006/relationships/notesSlide" Target="/ppt/notesSlides/notesSlide2.xml" Id="R04a23e901af649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d7f3e43aa742ae" /><Relationship Type="http://schemas.openxmlformats.org/officeDocument/2006/relationships/chart" Target="/ppt/slides/charts/chart1.xml" Id="R2af5964425434b57" /><Relationship Type="http://schemas.openxmlformats.org/officeDocument/2006/relationships/notesSlide" Target="/ppt/notesSlides/notesSlide3.xml" Id="R3213959143d44a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1015a8d054794" /><Relationship Type="http://schemas.openxmlformats.org/officeDocument/2006/relationships/notesSlide" Target="/ppt/notesSlides/notesSlide4.xml" Id="R71131c97213d49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49930bdf134214" /><Relationship Type="http://schemas.openxmlformats.org/officeDocument/2006/relationships/chart" Target="/ppt/slides/charts/chart2.xml" Id="R41f7ba09987748e0" /><Relationship Type="http://schemas.openxmlformats.org/officeDocument/2006/relationships/notesSlide" Target="/ppt/notesSlides/notesSlide5.xml" Id="Rbe56d8ada2024f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8e9e7d09a34175" /><Relationship Type="http://schemas.openxmlformats.org/officeDocument/2006/relationships/chart" Target="/ppt/slides/charts/chart3.xml" Id="Re4042d318cfe4a28" /><Relationship Type="http://schemas.openxmlformats.org/officeDocument/2006/relationships/notesSlide" Target="/ppt/notesSlides/notesSlide6.xml" Id="R4a21e374914d42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45fcf40ef44d74" /><Relationship Type="http://schemas.openxmlformats.org/officeDocument/2006/relationships/notesSlide" Target="/ppt/notesSlides/notesSlide7.xml" Id="Rf4c4ee79ae3747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e479a8e4f74c14" /><Relationship Type="http://schemas.openxmlformats.org/officeDocument/2006/relationships/notesSlide" Target="/ppt/notesSlides/notesSlide8.xml" Id="R19b79bce912c4d4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Rows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InfoCasas</c:v>
              </c:pt>
              <c:pt idx="1">
                <c:v>ZonaProp</c:v>
              </c:pt>
              <c:pt idx="2">
                <c:v>ArgenProp</c:v>
              </c:pt>
            </c:strLit>
          </c:cat>
          <c:val>
            <c:numLit>
              <c:formatCode>General</c:formatCode>
              <c:ptCount val="3"/>
              <c:pt idx="0">
                <c:v>1185</c:v>
              </c:pt>
              <c:pt idx="1">
                <c:v>581</c:v>
              </c:pt>
              <c:pt idx="2">
                <c:v>11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Pearson correlation × 100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6"/>
              <c:pt idx="0">
                <c:v>Bathrooms</c:v>
              </c:pt>
              <c:pt idx="1">
                <c:v>Covered area</c:v>
              </c:pt>
              <c:pt idx="2">
                <c:v>Effective area</c:v>
              </c:pt>
              <c:pt idx="3">
                <c:v>Bedrooms</c:v>
              </c:pt>
              <c:pt idx="4">
                <c:v>Expenses</c:v>
              </c:pt>
              <c:pt idx="5">
                <c:v>Total rooms</c:v>
              </c:pt>
            </c:strLit>
          </c:cat>
          <c:val>
            <c:numLit>
              <c:formatCode>General</c:formatCode>
              <c:ptCount val="6"/>
              <c:pt idx="0">
                <c:v>70.2</c:v>
              </c:pt>
              <c:pt idx="1">
                <c:v>58.8</c:v>
              </c:pt>
              <c:pt idx="2">
                <c:v>58.7</c:v>
              </c:pt>
              <c:pt idx="3">
                <c:v>57.2</c:v>
              </c:pt>
              <c:pt idx="4">
                <c:v>52.4</c:v>
              </c:pt>
              <c:pt idx="5">
                <c:v>51.6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Argentina</c:v>
          </c:tx>
          <c:spPr>
            <a:solidFill xmlns:a="http://schemas.openxmlformats.org/drawingml/2006/main">
              <a:srgbClr val="3D8DFF"/>
            </a:solidFill>
          </c:spPr>
          <c:marker>
            <c:symbol val="none"/>
          </c:marker>
          <c:cat>
            <c:numLit>
              <c:formatCode>General</c:formatCode>
              <c:ptCount val="7"/>
              <c:pt idx="0">
                <c:v>2018</c:v>
              </c:pt>
              <c:pt idx="1">
                <c:v>2019</c:v>
              </c:pt>
              <c:pt idx="2">
                <c:v>2020</c:v>
              </c:pt>
              <c:pt idx="3">
                <c:v>2021</c:v>
              </c:pt>
              <c:pt idx="4">
                <c:v>2022</c:v>
              </c:pt>
              <c:pt idx="5">
                <c:v>2023</c:v>
              </c:pt>
              <c:pt idx="6">
                <c:v>2024</c:v>
              </c:pt>
            </c:numLit>
          </c:cat>
          <c:val>
            <c:numLit>
              <c:formatCode>General</c:formatCode>
              <c:ptCount val="7"/>
              <c:pt idx="0">
                <c:v>34.28</c:v>
              </c:pt>
              <c:pt idx="1">
                <c:v>53.55</c:v>
              </c:pt>
              <c:pt idx="2">
                <c:v>42.02</c:v>
              </c:pt>
              <c:pt idx="3">
                <c:v>48.41</c:v>
              </c:pt>
              <c:pt idx="4">
                <c:v>72.43</c:v>
              </c:pt>
              <c:pt idx="5">
                <c:v>133.49</c:v>
              </c:pt>
              <c:pt idx="6">
                <c:v>219.88</c:v>
              </c:pt>
            </c:numLit>
          </c:val>
          <c:smooth val="0"/>
        </c:ser>
        <c:ser>
          <c:idx val="1"/>
          <c:order val="1"/>
          <c:tx>
            <c:v>Uruguay</c:v>
          </c:tx>
          <c:spPr>
            <a:solidFill xmlns:a="http://schemas.openxmlformats.org/drawingml/2006/main">
              <a:srgbClr val="16826C"/>
            </a:solidFill>
          </c:spPr>
          <c:marker>
            <c:symbol val="none"/>
          </c:marker>
          <c:cat>
            <c:numLit>
              <c:formatCode>General</c:formatCode>
              <c:ptCount val="7"/>
              <c:pt idx="0">
                <c:v>2018</c:v>
              </c:pt>
              <c:pt idx="1">
                <c:v>2019</c:v>
              </c:pt>
              <c:pt idx="2">
                <c:v>2020</c:v>
              </c:pt>
              <c:pt idx="3">
                <c:v>2021</c:v>
              </c:pt>
              <c:pt idx="4">
                <c:v>2022</c:v>
              </c:pt>
              <c:pt idx="5">
                <c:v>2023</c:v>
              </c:pt>
              <c:pt idx="6">
                <c:v>2024</c:v>
              </c:pt>
            </c:numLit>
          </c:cat>
          <c:val>
            <c:numLit>
              <c:formatCode>General</c:formatCode>
              <c:ptCount val="7"/>
              <c:pt idx="0">
                <c:v>7.61</c:v>
              </c:pt>
              <c:pt idx="1">
                <c:v>7.88</c:v>
              </c:pt>
              <c:pt idx="2">
                <c:v>9.76</c:v>
              </c:pt>
              <c:pt idx="3">
                <c:v>7.75</c:v>
              </c:pt>
              <c:pt idx="4">
                <c:v>9.1</c:v>
              </c:pt>
              <c:pt idx="5">
                <c:v>5.87</c:v>
              </c:pt>
              <c:pt idx="6">
                <c:v>4.85</c:v>
              </c:pt>
            </c:numLit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24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40"/>
      </c:valAx>
      <c:spPr>
        <a:noFill xmlns:a="http://schemas.openxmlformats.org/drawingml/2006/main"/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8F3EA-BC2A-40BC-B25C-04EC2B4F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457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344FBD-B0B9-491B-A09E-397CD58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800100"/>
            <a:ext cx="3143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CD69A3-32B4-4E03-93C7-09C9920C9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295400"/>
            <a:ext cx="2286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0FFBD1-E89B-4D2C-9BE7-C2132CE0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90700"/>
            <a:ext cx="3619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9DFDCF-72E4-4A80-912E-BB40CA8B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HIT PROJECT CENTER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05AB4-9CF0-4B22-8557-3E52EF83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572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Latin America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Real Estate Data Analytics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78D64-A886-4FBE-B9C1-07242C00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Argentina and Uruguay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9EDB9F-0D79-4132-BED3-29AB89FC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29150"/>
            <a:ext cx="628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Web scraping, simple EDA, and a validated listing-price 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CCAD1-7069-446B-A928-F4A6995A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8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3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7049406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E472F5-D66E-4105-A0CF-03062F5F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3850"/>
            <a:ext cx="11096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39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project turns public listings into a tested price baseline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7D08A3-865B-406A-BC51-A13C7C87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865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9C997B-4500-46B0-BD74-C0C94A94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2400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59948A-2FBC-46C1-99D3-8E1206C8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52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53C8FE-26D1-46F6-8425-48603464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C1D708-4955-45C2-A3D5-950475B98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1943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Crawl approved sale-listing pages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31E8BA-D872-46A1-9E4D-7F840C41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33600"/>
            <a:ext cx="2400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34BCAB-7E77-4949-8B9F-A93F7FFE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62200"/>
            <a:ext cx="52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E62BC-E051-48CF-AEB3-91F5226F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105150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Organize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6623D4-E217-4906-B999-742B224F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33800"/>
            <a:ext cx="1943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Clean fields and write full + compact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09F998-14C6-49C0-A255-B04F2995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2400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6D1ED9-5C4B-4204-A435-2ED7FF3F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62200"/>
            <a:ext cx="52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3F9FA3-AB3F-4DCB-9866-6EEF7BFB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05150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Understand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99DB0D-3730-48EE-970C-1FEB4805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33800"/>
            <a:ext cx="1943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Check quality, outliers, and correlations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654E71-3508-451C-86BC-9F10A64A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133600"/>
            <a:ext cx="2400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142553-7FDD-4F82-936C-5B7C13BC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362200"/>
            <a:ext cx="52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6227E2-97A1-4062-AB5E-8999B8E0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E5A915-2C7F-4E3D-8791-AEF88EB0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33800"/>
            <a:ext cx="1943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Compare basic regressors without leakage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D6AA6D-8BB2-4AF1-92AB-DF083641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Current outcome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D34576-5056-4559-9AEF-5678BFE6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3530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current listing-price estimate — not a future market forecast</a:t>
            </a:r>
          </a:p>
        </p:txBody>
      </p:sp>
    </p:spTree>
    <p:extLst>
      <p:ext uri="{BB962C8B-B14F-4D97-AF65-F5344CB8AC3E}">
        <p14:creationId xmlns:p14="http://schemas.microsoft.com/office/powerpoint/2010/main" val="3160751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F4D5B-8DBF-485A-A625-8993AE74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3850"/>
            <a:ext cx="11096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dataset is useful, but one source supplies most rows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F3B63-EC36-4B46-A499-A86A30B8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865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514350" y="1581150"/>
          <a:ext xmlns:a="http://schemas.openxmlformats.org/drawingml/2006/main" cx="676275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f5964425434b57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E133E9-1D8F-447E-878D-740EFAF2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19250"/>
            <a:ext cx="36671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0C12DA-9BDA-41AF-BFFD-3A26E54A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09750"/>
            <a:ext cx="304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02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1,777 × 161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529D2D-DDD4-4FD2-9E0D-697ADD96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622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246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full cleaned dataset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B41A9A-43FC-4EE4-BE28-C8C27772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124200"/>
            <a:ext cx="36671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CF3CF-ECD4-4280-A22D-C436F06A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14700"/>
            <a:ext cx="304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02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1,689 × 63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9FE4F3-2253-4DCA-8C51-D44D4530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671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246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compact model dataset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F7516-F24E-447A-968A-1BC0BB13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838700"/>
            <a:ext cx="3667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69E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69E2E"/>
                </a:solidFill>
                <a:latin typeface="Arial"/>
                <a:ea typeface="Arial"/>
                <a:cs typeface="Arial"/>
              </a:rPr>
              <a:t>Gallito: blocked by Cloudflare; 0 rows</a:t>
            </a:r>
          </a:p>
        </p:txBody>
      </p:sp>
    </p:spTree>
    <p:extLst>
      <p:ext uri="{BB962C8B-B14F-4D97-AF65-F5344CB8AC3E}">
        <p14:creationId xmlns:p14="http://schemas.microsoft.com/office/powerpoint/2010/main" val="6673285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6CAAB2-764D-4C1A-BE62-2B667F41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3850"/>
            <a:ext cx="11096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101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compact data passes basic checks, with clear caveats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758C8-28FF-43A1-95B7-C4F95549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865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163757-50BF-4FFA-ABF0-659591B7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5334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E49CE1-5850-4D9A-A4A5-492F4F18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is ready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6AE60F-A616-4DB1-BBEC-FA41505C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4476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0 exact duplicate model rows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0 missing target prices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0 non-positive target prices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Target-derived fields excluded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Raw evidence kept for debugging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1632F9-1145-4853-BB5E-9E735090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62100"/>
            <a:ext cx="53911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5141BC-A7B6-45F9-8899-C90F157D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669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needs caution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BC72E2-B741-430C-B8A9-461DF136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33650"/>
            <a:ext cx="4476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1,110 Uruguay vs 579 Argentina</a:t>
            </a: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rows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Apartments dominate the sample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Asking price ≠ completed sale price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Amenity 0 means “not mentioned”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One-time snapshot, not a time series</a:t>
            </a:r>
          </a:p>
        </p:txBody>
      </p:sp>
    </p:spTree>
    <p:extLst>
      <p:ext uri="{BB962C8B-B14F-4D97-AF65-F5344CB8AC3E}">
        <p14:creationId xmlns:p14="http://schemas.microsoft.com/office/powerpoint/2010/main" val="15752124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1DEB25-915B-4016-B467-237221F2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3850"/>
            <a:ext cx="11096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Size and room information carry the clearest price signal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EA232-5532-4255-AC0A-89AD34D9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865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476250" y="1428750"/>
          <a:ext xmlns:a="http://schemas.openxmlformats.org/drawingml/2006/main" cx="7048500" cy="4762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f7ba09987748e0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540B8-14BF-42BC-942B-25F8341D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95450"/>
            <a:ext cx="342900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7090C-7EEE-4992-A19B-CD961A6B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002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to read this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A0444E-5F2F-4A96-8BF6-950B5F1A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67000"/>
            <a:ext cx="28384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58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The chart shows Pearson correlation × 100 after limiting price to the 99th percentile.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Higher values mean the feature and asking price tend to rise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Correlation does not prove cause.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153EC4-A9AC-4ACE-AAAD-7F43229A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4825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3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Location also matters, but it is categorical and is handled in the model.</a:t>
            </a:r>
          </a:p>
        </p:txBody>
      </p:sp>
    </p:spTree>
    <p:extLst>
      <p:ext uri="{BB962C8B-B14F-4D97-AF65-F5344CB8AC3E}">
        <p14:creationId xmlns:p14="http://schemas.microsoft.com/office/powerpoint/2010/main" val="11202031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858B25-0484-4337-AE2D-11F8225F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3850"/>
            <a:ext cx="11096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Argentina and Uruguay face very different inflation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76AC3D-8AF5-4258-B12B-5F810804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865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514350" y="1485900"/>
          <a:ext xmlns:a="http://schemas.openxmlformats.org/drawingml/2006/main" cx="723900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042d318cfe4a28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CC436C-9CE3-407F-A34A-5FC61143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811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Consumer-price inflation, annual 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6CCF4C-C958-4128-B166-E05B8EDC8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14500"/>
            <a:ext cx="32575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4FD176-CC83-4756-AC91-99C05684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431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2024 inflation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621AFF-0EAA-4CF6-83FC-7CF9FF6C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8125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304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219.9%  Argentina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4.8%      Uruguay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D8E2C-FE4E-4EDB-ADB9-91F0CEF6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86150"/>
            <a:ext cx="32575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D53D2E-E88C-4913-AAD5-DE863C1A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147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2024 GDP growth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239C14-E320-4A3C-A8A9-43A0BFBD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529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304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−1.3%     Argentina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3.3%      Uruguay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693AA1-8CE0-43C0-89D3-ADC49D69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334000"/>
            <a:ext cx="3257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5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D69E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69E2E"/>
                </a:solidFill>
                <a:latin typeface="Arial"/>
                <a:ea typeface="Arial"/>
                <a:cs typeface="Arial"/>
              </a:rPr>
              <a:t>Context only — not a listing-level model input</a:t>
            </a:r>
          </a:p>
        </p:txBody>
      </p:sp>
    </p:spTree>
    <p:extLst>
      <p:ext uri="{BB962C8B-B14F-4D97-AF65-F5344CB8AC3E}">
        <p14:creationId xmlns:p14="http://schemas.microsoft.com/office/powerpoint/2010/main" val="14098123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F3E98D-B65E-4D4E-9A8C-68C1D311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3850"/>
            <a:ext cx="11096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Ridge Regression gives a credible basic 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7544B-BF9D-4DA8-A9E2-AF86CDB0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865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120316-1E6D-4EF5-BE86-F489DD65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954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Five-fold cross-validation selects the model using training rows only. The test set stays untouched until the final check.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2691BE-E960-4C86-A672-35753498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33909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62E4B4-B765-45BB-B2E1-F793C88B3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0.475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52850-A0B6-4F54-839A-89A78B6B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Held-out R²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E6A869-D0A6-4E2C-AE84-24C8678B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Variation explained on the test rows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6F5B9-F2B9-4749-8539-68407C04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28950"/>
            <a:ext cx="33909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0F633C-A072-4D17-B0D8-E3AD9528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$105,473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E579F3-C30D-4211-BB55-C7F2ADD7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43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Mean absolute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7001BD-71AF-4B00-8771-DBD2EBCC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577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Average absolute price difference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36240B-8AA9-4C0D-B00F-47EF4A32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3909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7335A0-DBE3-4914-B991-108EB0FD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81375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27.2%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EA81A0-0EDC-4EC4-B079-1D6AE883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43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Mean absolute % error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5CABDF-676C-4ABD-AB6A-5D00497A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577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Average absolute percentage difference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AE7ABE-DB70-428D-82D9-DAB5591E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81700"/>
            <a:ext cx="695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Cross-validation mean R²: 0.628</a:t>
            </a:r>
          </a:p>
        </p:txBody>
      </p:sp>
    </p:spTree>
    <p:extLst>
      <p:ext uri="{BB962C8B-B14F-4D97-AF65-F5344CB8AC3E}">
        <p14:creationId xmlns:p14="http://schemas.microsoft.com/office/powerpoint/2010/main" val="7823804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BCC672-BC0B-4D97-92C0-BEC474D5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3850"/>
            <a:ext cx="11096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core project is complete; forecasting needs history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8070A4-057E-4B68-A152-69763209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865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B33A4-199A-4F23-8B57-54D923A3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52197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63E44-D483-491E-AB63-EE05ECFD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050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851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Complete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14B08E-A376-4758-B311-CC306212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4381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Reproducible scraper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Full + compact datasets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Simple executed EDA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Leakage-safe price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</a:t>
            </a: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Specification, slides + video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7DCFAB-C19F-4F3A-9783-DB5FD6D3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55054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F864D-7F62-47F9-8A54-A419FD33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05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851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Next meaningful step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1C9377-B667-4580-A7B2-D31EE55F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47950"/>
            <a:ext cx="46482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Collect dated listing snapshots at a regular interval.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Preserve listing IDs and aggregate by country, city, and property type.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Then align market series with inflation, GDP, and interest-rate data before testing time-series forecasts.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41607E-93E3-4606-8577-6EC218A9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912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 snapshot can estimate price. A time series is needed to estimate the future.</a:t>
            </a:r>
          </a:p>
        </p:txBody>
      </p:sp>
    </p:spTree>
    <p:extLst>
      <p:ext uri="{BB962C8B-B14F-4D97-AF65-F5344CB8AC3E}">
        <p14:creationId xmlns:p14="http://schemas.microsoft.com/office/powerpoint/2010/main" val="15615263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2026-09-03T08:18:29.9230000Z</dcterms:created>
  <dcterms:modified xsi:type="dcterms:W3CDTF">2026-09-03T08:18:29.9230000Z</dcterms:modified>
</coreProperties>
</file>