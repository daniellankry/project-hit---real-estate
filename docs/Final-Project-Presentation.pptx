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1819265a9d40cb" /><Relationship Type="http://schemas.openxmlformats.org/officeDocument/2006/relationships/extended-properties" Target="/docProps/app.xml" Id="Rd2b64c53706549b4" /><Relationship Type="http://schemas.openxmlformats.org/officeDocument/2006/relationships/officeDocument" Target="/ppt/presentation.xml" Id="R56312b4795b444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d156d2507845f0"/>
  </p:sldMasterIdLst>
  <p:notesMasterIdLst>
    <p:notesMasterId xmlns:r="http://schemas.openxmlformats.org/officeDocument/2006/relationships" r:id="R92e4becbda2a4de6"/>
  </p:notesMasterIdLst>
  <p:sldIdLst>
    <p:sldId xmlns:r="http://schemas.openxmlformats.org/officeDocument/2006/relationships" id="256" r:id="R9e7a844a0faf4c2e"/>
    <p:sldId xmlns:r="http://schemas.openxmlformats.org/officeDocument/2006/relationships" id="257" r:id="R12573f48cb09428b"/>
    <p:sldId xmlns:r="http://schemas.openxmlformats.org/officeDocument/2006/relationships" id="258" r:id="R3271dba1dbbe4b55"/>
    <p:sldId xmlns:r="http://schemas.openxmlformats.org/officeDocument/2006/relationships" id="259" r:id="Re4678fb46e154be0"/>
    <p:sldId xmlns:r="http://schemas.openxmlformats.org/officeDocument/2006/relationships" id="260" r:id="R81b21e668fc543e8"/>
    <p:sldId xmlns:r="http://schemas.openxmlformats.org/officeDocument/2006/relationships" id="261" r:id="Rbec89637cc184d94"/>
    <p:sldId xmlns:r="http://schemas.openxmlformats.org/officeDocument/2006/relationships" id="262" r:id="R8577f610b2154072"/>
    <p:sldId xmlns:r="http://schemas.openxmlformats.org/officeDocument/2006/relationships" id="263" r:id="Ree602c02fe2e47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a64e72b8914bed" /><Relationship Type="http://schemas.openxmlformats.org/officeDocument/2006/relationships/slideMaster" Target="/ppt/slideMasters/slideMaster1.xml" Id="R79d156d2507845f0" /><Relationship Type="http://schemas.openxmlformats.org/officeDocument/2006/relationships/notesMaster" Target="/ppt/notesMasters/notesMaster1.xml" Id="R92e4becbda2a4de6" /><Relationship Type="http://schemas.openxmlformats.org/officeDocument/2006/relationships/presProps" Target="/ppt/presProps.xml" Id="R07ebbc3dafbf477a" /><Relationship Type="http://schemas.openxmlformats.org/officeDocument/2006/relationships/tableStyles" Target="/ppt/tableStyles.xml" Id="R165b7064c40e4b5d" /><Relationship Type="http://schemas.openxmlformats.org/officeDocument/2006/relationships/slide" Target="/ppt/slides/slide1.xml" Id="R9e7a844a0faf4c2e" /><Relationship Type="http://schemas.openxmlformats.org/officeDocument/2006/relationships/slide" Target="/ppt/slides/slide2.xml" Id="R12573f48cb09428b" /><Relationship Type="http://schemas.openxmlformats.org/officeDocument/2006/relationships/slide" Target="/ppt/slides/slide3.xml" Id="R3271dba1dbbe4b55" /><Relationship Type="http://schemas.openxmlformats.org/officeDocument/2006/relationships/slide" Target="/ppt/slides/slide4.xml" Id="Re4678fb46e154be0" /><Relationship Type="http://schemas.openxmlformats.org/officeDocument/2006/relationships/slide" Target="/ppt/slides/slide5.xml" Id="R81b21e668fc543e8" /><Relationship Type="http://schemas.openxmlformats.org/officeDocument/2006/relationships/slide" Target="/ppt/slides/slide6.xml" Id="Rbec89637cc184d94" /><Relationship Type="http://schemas.openxmlformats.org/officeDocument/2006/relationships/slide" Target="/ppt/slides/slide7.xml" Id="R8577f610b2154072" /><Relationship Type="http://schemas.openxmlformats.org/officeDocument/2006/relationships/slide" Target="/ppt/slides/slide8.xml" Id="Ree602c02fe2e47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8940192a5241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81154559d942be" /><Relationship Type="http://schemas.openxmlformats.org/officeDocument/2006/relationships/notesMaster" Target="/ppt/notesMasters/notesMaster1.xml" Id="R4690564a74914e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7c38a06d574c26" /><Relationship Type="http://schemas.openxmlformats.org/officeDocument/2006/relationships/notesMaster" Target="/ppt/notesMasters/notesMaster1.xml" Id="R5416bceff8a548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96ac56453b40ae" /><Relationship Type="http://schemas.openxmlformats.org/officeDocument/2006/relationships/notesMaster" Target="/ppt/notesMasters/notesMaster1.xml" Id="Rdddc362a511642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0a7904dff64282" /><Relationship Type="http://schemas.openxmlformats.org/officeDocument/2006/relationships/notesMaster" Target="/ppt/notesMasters/notesMaster1.xml" Id="R96ae1f33117849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0c6d1255e14337" /><Relationship Type="http://schemas.openxmlformats.org/officeDocument/2006/relationships/notesMaster" Target="/ppt/notesMasters/notesMaster1.xml" Id="Ree010a2de9ee44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54952594364bf3" /><Relationship Type="http://schemas.openxmlformats.org/officeDocument/2006/relationships/notesMaster" Target="/ppt/notesMasters/notesMaster1.xml" Id="Re1450a2b026d41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d5667ac6844157" /><Relationship Type="http://schemas.openxmlformats.org/officeDocument/2006/relationships/notesMaster" Target="/ppt/notesMasters/notesMaster1.xml" Id="R844c2a0e6db046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b58219e92c4974" /><Relationship Type="http://schemas.openxmlformats.org/officeDocument/2006/relationships/notesMaster" Target="/ppt/notesMasters/notesMaster1.xml" Id="R562f673c663648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proposal: docs/Project-Proposal-Template-HIT-project-center Maiora.docx.pdf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proposal: docs/Project-Proposal-Template-HIT-project-center Maiora.docx.pdf</a:t>
            </a:r>
          </a:p>
          <a:p xmlns:a="http://schemas.openxmlformats.org/drawingml/2006/main">
            <a:r>
              <a:t>- Current pipeline: code/scrape_real_estate_training_data.py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Full data: data/scraped_real_estate_training.csv</a:t>
            </a:r>
          </a:p>
          <a:p xmlns:a="http://schemas.openxmlformats.org/drawingml/2006/main">
            <a:r>
              <a:t>- Compact data: data/scraped_real_estate_model_features.csv</a:t>
            </a:r>
          </a:p>
          <a:p xmlns:a="http://schemas.openxmlformats.org/drawingml/2006/main">
            <a:r>
              <a:t>- Crawler limitation: code/scrape_real_estate_training_data.py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Compact data quality checks: code/real_estate_model.ipynb</a:t>
            </a:r>
          </a:p>
          <a:p xmlns:a="http://schemas.openxmlformats.org/drawingml/2006/main">
            <a:r>
              <a:t>- Compact data: data/scraped_real_estate_model_features.csv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Correlation method and outputs: code/eda_real_estate.ipynb</a:t>
            </a:r>
          </a:p>
          <a:p xmlns:a="http://schemas.openxmlformats.org/drawingml/2006/main">
            <a:r>
              <a:t>- Compact data: data/scraped_real_estate_model_features.csv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World Bank API documentation: https://datahelpdesk.worldbank.org/knowledgebase/articles/889392</a:t>
            </a:r>
          </a:p>
          <a:p xmlns:a="http://schemas.openxmlformats.org/drawingml/2006/main">
            <a:r>
              <a:t>- Inflation indicator FP.CPI.TOTL.ZG: https://data.worldbank.org/indicator/FP.CPI.TOTL.ZG</a:t>
            </a:r>
          </a:p>
          <a:p xmlns:a="http://schemas.openxmlformats.org/drawingml/2006/main">
            <a:r>
              <a:t>- GDP growth indicator NY.GDP.MKTP.KD.ZG: https://data.worldbank.org/indicator/NY.GDP.MKTP.KD.ZG</a:t>
            </a:r>
          </a:p>
          <a:p xmlns:a="http://schemas.openxmlformats.org/drawingml/2006/main">
            <a:r>
              <a:t>- Downloaded values: data/macroeconomic_indicators.csv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 method and executed outputs: code/real_estate_model.ipynb</a:t>
            </a:r>
          </a:p>
          <a:p xmlns:a="http://schemas.openxmlformats.org/drawingml/2006/main">
            <a:r>
              <a:t>- Model data: data/scraped_real_estate_model_features.csv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Completion evidence: README.md and docs/Project-Specification.docx</a:t>
            </a:r>
          </a:p>
          <a:p xmlns:a="http://schemas.openxmlformats.org/drawingml/2006/main">
            <a:r>
              <a:t>- Future forecasting requirement: docs/Project-Proposal-Template-HIT-project-center Maiora.docx.pdf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62b6159c0b42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ab8b01b60d46bc" /><Relationship Type="http://schemas.openxmlformats.org/officeDocument/2006/relationships/slideLayout" Target="/ppt/slideLayouts/slideLayout1.xml" Id="R7a7c0d53862d49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7c0d53862d49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b9edf177d4f58" /><Relationship Type="http://schemas.openxmlformats.org/officeDocument/2006/relationships/notesSlide" Target="/ppt/notesSlides/notesSlide1.xml" Id="Rd6188db10c5843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29920e1684cdc" /><Relationship Type="http://schemas.openxmlformats.org/officeDocument/2006/relationships/notesSlide" Target="/ppt/notesSlides/notesSlide2.xml" Id="Re8fd8c0baad041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5807a5f4a49be" /><Relationship Type="http://schemas.openxmlformats.org/officeDocument/2006/relationships/chart" Target="/ppt/slides/charts/chart1.xml" Id="Rbb41a94fffdd4aac" /><Relationship Type="http://schemas.openxmlformats.org/officeDocument/2006/relationships/notesSlide" Target="/ppt/notesSlides/notesSlide3.xml" Id="R519e2346135f4f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ad86e85344b69" /><Relationship Type="http://schemas.openxmlformats.org/officeDocument/2006/relationships/notesSlide" Target="/ppt/notesSlides/notesSlide4.xml" Id="R9603e3e31d9546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7de5810a34f18" /><Relationship Type="http://schemas.openxmlformats.org/officeDocument/2006/relationships/chart" Target="/ppt/slides/charts/chart2.xml" Id="Rb6915197a6754142" /><Relationship Type="http://schemas.openxmlformats.org/officeDocument/2006/relationships/notesSlide" Target="/ppt/notesSlides/notesSlide5.xml" Id="R2261280f1c3244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8ae7b416f4edd" /><Relationship Type="http://schemas.openxmlformats.org/officeDocument/2006/relationships/chart" Target="/ppt/slides/charts/chart3.xml" Id="R49dd170ba7e94e9f" /><Relationship Type="http://schemas.openxmlformats.org/officeDocument/2006/relationships/notesSlide" Target="/ppt/notesSlides/notesSlide6.xml" Id="R7b4e558d838544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8e47ff1cf4dbf" /><Relationship Type="http://schemas.openxmlformats.org/officeDocument/2006/relationships/notesSlide" Target="/ppt/notesSlides/notesSlide7.xml" Id="Rd7f6124d8d4943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c347565b84a55" /><Relationship Type="http://schemas.openxmlformats.org/officeDocument/2006/relationships/notesSlide" Target="/ppt/notesSlides/notesSlide8.xml" Id="R82f39323135e4cd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Rows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InfoCasas</c:v>
              </c:pt>
              <c:pt idx="1">
                <c:v>ZonaProp</c:v>
              </c:pt>
              <c:pt idx="2">
                <c:v>ArgenProp</c:v>
              </c:pt>
            </c:strLit>
          </c:cat>
          <c:val>
            <c:numLit>
              <c:formatCode>General</c:formatCode>
              <c:ptCount val="3"/>
              <c:pt idx="0">
                <c:v>1185</c:v>
              </c:pt>
              <c:pt idx="1">
                <c:v>481</c:v>
              </c:pt>
              <c:pt idx="2">
                <c:v>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Pearson correlation × 100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Bathrooms</c:v>
              </c:pt>
              <c:pt idx="1">
                <c:v>Covered area</c:v>
              </c:pt>
              <c:pt idx="2">
                <c:v>Effective area</c:v>
              </c:pt>
              <c:pt idx="3">
                <c:v>Bedrooms</c:v>
              </c:pt>
              <c:pt idx="4">
                <c:v>Expenses</c:v>
              </c:pt>
              <c:pt idx="5">
                <c:v>Total rooms</c:v>
              </c:pt>
            </c:strLit>
          </c:cat>
          <c:val>
            <c:numLit>
              <c:formatCode>General</c:formatCode>
              <c:ptCount val="6"/>
              <c:pt idx="0">
                <c:v>71.2</c:v>
              </c:pt>
              <c:pt idx="1">
                <c:v>69.3</c:v>
              </c:pt>
              <c:pt idx="2">
                <c:v>69.1</c:v>
              </c:pt>
              <c:pt idx="3">
                <c:v>59.2</c:v>
              </c:pt>
              <c:pt idx="4">
                <c:v>51.2</c:v>
              </c:pt>
              <c:pt idx="5">
                <c:v>48.6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Argentina</c:v>
          </c:tx>
          <c:spPr>
            <a:solidFill xmlns:a="http://schemas.openxmlformats.org/drawingml/2006/main">
              <a:srgbClr val="3D8DFF"/>
            </a:solidFill>
          </c:spPr>
          <c:marker>
            <c:symbol val="none"/>
          </c:marker>
          <c:cat>
            <c:numLit>
              <c:formatCode>General</c:formatCode>
              <c:ptCount val="7"/>
              <c:pt idx="0">
                <c:v>2018</c:v>
              </c:pt>
              <c:pt idx="1">
                <c:v>2019</c:v>
              </c:pt>
              <c:pt idx="2">
                <c:v>2020</c:v>
              </c:pt>
              <c:pt idx="3">
                <c:v>2021</c:v>
              </c:pt>
              <c:pt idx="4">
                <c:v>2022</c:v>
              </c:pt>
              <c:pt idx="5">
                <c:v>2023</c:v>
              </c:pt>
              <c:pt idx="6">
                <c:v>2024</c:v>
              </c:pt>
            </c:numLit>
          </c:cat>
          <c:val>
            <c:numLit>
              <c:formatCode>General</c:formatCode>
              <c:ptCount val="7"/>
              <c:pt idx="0">
                <c:v>34.28</c:v>
              </c:pt>
              <c:pt idx="1">
                <c:v>53.55</c:v>
              </c:pt>
              <c:pt idx="2">
                <c:v>42.02</c:v>
              </c:pt>
              <c:pt idx="3">
                <c:v>48.41</c:v>
              </c:pt>
              <c:pt idx="4">
                <c:v>72.43</c:v>
              </c:pt>
              <c:pt idx="5">
                <c:v>133.49</c:v>
              </c:pt>
              <c:pt idx="6">
                <c:v>219.88</c:v>
              </c:pt>
            </c:numLit>
          </c:val>
          <c:smooth val="0"/>
        </c:ser>
        <c:ser>
          <c:idx val="1"/>
          <c:order val="1"/>
          <c:tx>
            <c:v>Uruguay</c:v>
          </c:tx>
          <c:spPr>
            <a:solidFill xmlns:a="http://schemas.openxmlformats.org/drawingml/2006/main">
              <a:srgbClr val="16826C"/>
            </a:solidFill>
          </c:spPr>
          <c:marker>
            <c:symbol val="none"/>
          </c:marker>
          <c:cat>
            <c:numLit>
              <c:formatCode>General</c:formatCode>
              <c:ptCount val="7"/>
              <c:pt idx="0">
                <c:v>2018</c:v>
              </c:pt>
              <c:pt idx="1">
                <c:v>2019</c:v>
              </c:pt>
              <c:pt idx="2">
                <c:v>2020</c:v>
              </c:pt>
              <c:pt idx="3">
                <c:v>2021</c:v>
              </c:pt>
              <c:pt idx="4">
                <c:v>2022</c:v>
              </c:pt>
              <c:pt idx="5">
                <c:v>2023</c:v>
              </c:pt>
              <c:pt idx="6">
                <c:v>2024</c:v>
              </c:pt>
            </c:numLit>
          </c:cat>
          <c:val>
            <c:numLit>
              <c:formatCode>General</c:formatCode>
              <c:ptCount val="7"/>
              <c:pt idx="0">
                <c:v>7.61</c:v>
              </c:pt>
              <c:pt idx="1">
                <c:v>7.88</c:v>
              </c:pt>
              <c:pt idx="2">
                <c:v>9.76</c:v>
              </c:pt>
              <c:pt idx="3">
                <c:v>7.75</c:v>
              </c:pt>
              <c:pt idx="4">
                <c:v>9.1</c:v>
              </c:pt>
              <c:pt idx="5">
                <c:v>5.87</c:v>
              </c:pt>
              <c:pt idx="6">
                <c:v>4.85</c:v>
              </c:pt>
            </c:numLit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40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8F3EA-BC2A-40BC-B25C-04EC2B4F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44FBD-B0B9-491B-A09E-397CD582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0010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D69A3-32B4-4E03-93C7-09C9920C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95400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FFBD1-E89B-4D2C-9BE7-C2132CE0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3619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DFDCF-72E4-4A80-912E-BB40CA8B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HIT PROJECT CENTER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05AB4-9CF0-4B22-8557-3E52EF83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657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Latin America</a:t>
            </a:r>
          </a:p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 Estate Data Analytics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78D64-A886-4FBE-B9C1-07242C00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Argentina and Uruguay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EDB9F-0D79-4132-BED3-29AB89FC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29150"/>
            <a:ext cx="628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Web scraping, simple EDA, and a validated listing-price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CCAD1-7069-446B-A928-F4A6995A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17 August 2026</a:t>
            </a:r>
          </a:p>
        </p:txBody>
      </p:sp>
    </p:spTree>
    <p:extLst>
      <p:ext uri="{BB962C8B-B14F-4D97-AF65-F5344CB8AC3E}">
        <p14:creationId xmlns:p14="http://schemas.microsoft.com/office/powerpoint/2010/main" val="7049406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E472F5-D66E-4105-A0CF-03062F5F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9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3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project turns public listings into a tested price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D08A3-865B-406A-BC51-A13C7C87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C997B-4500-46B0-BD74-C0C94A94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2400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9948A-2FBC-46C1-99D3-8E1206C8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3C8FE-26D1-46F6-8425-48603464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1D708-4955-45C2-A3D5-950475B9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943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Crawl approved sale-listing pages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1E8BA-D872-46A1-9E4D-7F840C41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2400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4BCAB-7E77-4949-8B9F-A93F7FFE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6220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E62BC-E051-48CF-AEB3-91F5226F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051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Organize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623D4-E217-4906-B999-742B224F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33800"/>
            <a:ext cx="1943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Clean fields and write full + compact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9F998-14C6-49C0-A255-B04F2995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2400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D1ED9-5C4B-4204-A435-2ED7FF3F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6220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F9FA3-AB3F-4DCB-9866-6EEF7BFB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9DB0D-3730-48EE-970C-1FEB4805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33800"/>
            <a:ext cx="1943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Check quality, outliers, and correlations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54E71-3508-451C-86BC-9F10A64A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33600"/>
            <a:ext cx="2400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42553-7FDD-4F82-936C-5B7C13BC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6220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6227E2-97A1-4062-AB5E-8999B8E0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E5A915-2C7F-4E3D-8791-AEF88EB0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33800"/>
            <a:ext cx="1943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Compare basic regressors without leakage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D6AA6D-8BB2-4AF1-92AB-DF083641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Current outcome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D34576-5056-4559-9AEF-5678BFE6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530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current listing-price estimate — not a future market forecast</a:t>
            </a:r>
          </a:p>
        </p:txBody>
      </p:sp>
    </p:spTree>
    <p:extLst>
      <p:ext uri="{BB962C8B-B14F-4D97-AF65-F5344CB8AC3E}">
        <p14:creationId xmlns:p14="http://schemas.microsoft.com/office/powerpoint/2010/main" val="316075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F4D5B-8DBF-485A-A625-8993AE74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9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dataset is useful, but one source supplies most rows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F3B63-EC36-4B46-A499-A86A30B8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581150"/>
          <a:ext xmlns:a="http://schemas.openxmlformats.org/drawingml/2006/main" cx="67627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41a94fffdd4aa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133E9-1D8F-447E-878D-740EFAF2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19250"/>
            <a:ext cx="3667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C12DA-9BDA-41AF-BFFD-3A26E54A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1,672 × 161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29D2D-DDD4-4FD2-9E0D-697ADD96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622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full cleaned 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41A9A-43FC-4EE4-BE28-C8C27772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24200"/>
            <a:ext cx="3667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CF3CF-ECD4-4280-A22D-C436F06A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147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1,589 × 63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FE4F3-2253-4DCA-8C51-D44D4530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671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compact model 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F7516-F24E-447A-968A-1BC0BB13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38700"/>
            <a:ext cx="3667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9E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9E2E"/>
                </a:solidFill>
                <a:latin typeface="Arial"/>
                <a:ea typeface="Arial"/>
                <a:cs typeface="Arial"/>
              </a:rPr>
              <a:t>Gallito: blocked by Cloudflare; 0 rows</a:t>
            </a:r>
          </a:p>
        </p:txBody>
      </p:sp>
    </p:spTree>
    <p:extLst>
      <p:ext uri="{BB962C8B-B14F-4D97-AF65-F5344CB8AC3E}">
        <p14:creationId xmlns:p14="http://schemas.microsoft.com/office/powerpoint/2010/main" val="6673285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CAAB2-764D-4C1A-BE62-2B667F41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9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01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compact data passes basic checks, with clear caveats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758C8-28FF-43A1-95B7-C4F95549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63757-50BF-4FFA-ABF0-659591B7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53340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49CE1-5850-4D9A-A4A5-492F4F18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is ready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AE60F-A616-4DB1-BBEC-FA41505C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476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0 exact duplicate model rows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0 missing target prices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0 non-positive target prices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Target-derived fields excluded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Raw evidence kept for debugging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632F9-1145-4853-BB5E-9E735090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62100"/>
            <a:ext cx="53911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141BC-A7B6-45F9-8899-C90F157D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669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needs caution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C72E2-B741-430C-B8A9-461DF136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33650"/>
            <a:ext cx="4476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1,111 Uruguay vs 478 Argentina rows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Apartments dominate the sample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Asking price ≠ completed sale price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Amenity 0 means “not mentioned”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One-time snapshot, not a time series</a:t>
            </a:r>
          </a:p>
        </p:txBody>
      </p:sp>
    </p:spTree>
    <p:extLst>
      <p:ext uri="{BB962C8B-B14F-4D97-AF65-F5344CB8AC3E}">
        <p14:creationId xmlns:p14="http://schemas.microsoft.com/office/powerpoint/2010/main" val="15752124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DEB25-915B-4016-B467-237221F2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9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Size and room information carry the clearest price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EA232-5532-4255-AC0A-89AD34D9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476250" y="1428750"/>
          <a:ext xmlns:a="http://schemas.openxmlformats.org/drawingml/2006/main" cx="70485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915197a675414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540B8-14BF-42BC-942B-25F8341D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95450"/>
            <a:ext cx="34290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7090C-7EEE-4992-A19B-CD961A6B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to read this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0444E-5F2F-4A96-8BF6-950B5F1A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2838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8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The chart shows Pearson correlation × 100 after limiting price to the 99th percentile.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Higher values mean the feature and asking price tend to rise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Correlation does not prove cause.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53EC4-A9AC-4ACE-AAAD-7F43229A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3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Location also matters, but it is categorical and is handled in the model.</a:t>
            </a:r>
          </a:p>
        </p:txBody>
      </p:sp>
    </p:spTree>
    <p:extLst>
      <p:ext uri="{BB962C8B-B14F-4D97-AF65-F5344CB8AC3E}">
        <p14:creationId xmlns:p14="http://schemas.microsoft.com/office/powerpoint/2010/main" val="11202031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58B25-0484-4337-AE2D-11F8225F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9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Argentina and Uruguay face very different inflation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6AC3D-8AF5-4258-B12B-5F810804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14350" y="1485900"/>
          <a:ext xmlns:a="http://schemas.openxmlformats.org/drawingml/2006/main" cx="72390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dd170ba7e94e9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C436C-9CE3-407F-A34A-5FC61143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Consumer-price inflation, annual 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CCF4C-C958-4128-B166-E05B8EDC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0"/>
            <a:ext cx="3257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FD176-CC83-4756-AC91-99C05684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43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2024 inflation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21AFF-0EAA-4CF6-83FC-7CF9FF6C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219.9%  Argentina</a:t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4.8%      Uruguay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D8E2C-FE4E-4EDB-ADB9-91F0CEF6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3257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53D2E-E88C-4913-AAD5-DE863C1A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2024 GDP growth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39C14-E320-4A3C-A8A9-43A0BFBD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529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−1.3%     Argentina</a:t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3.3%      Uruguay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93AA1-8CE0-43C0-89D3-ADC49D69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34000"/>
            <a:ext cx="3257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69E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69E2E"/>
                </a:solidFill>
                <a:latin typeface="Arial"/>
                <a:ea typeface="Arial"/>
                <a:cs typeface="Arial"/>
              </a:rPr>
              <a:t>Context only — not a listing-level model input</a:t>
            </a:r>
          </a:p>
        </p:txBody>
      </p:sp>
    </p:spTree>
    <p:extLst>
      <p:ext uri="{BB962C8B-B14F-4D97-AF65-F5344CB8AC3E}">
        <p14:creationId xmlns:p14="http://schemas.microsoft.com/office/powerpoint/2010/main" val="14098123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3E98D-B65E-4D4E-9A8C-68C1D311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9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Ridge Regression gives a credible basic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7544B-BF9D-4DA8-A9E2-AF86CDB0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20316-1E6D-4EF5-BE86-F489DD65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954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Five-fold cross-validation selects the model using training rows only. The test set stays untouched until the final check.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691BE-E960-4C86-A672-35753498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8950"/>
            <a:ext cx="33909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2E4B4-B765-45BB-B2E1-F793C88B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0.623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52850-A0B6-4F54-839A-89A78B6B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Held-out R²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6A869-D0A6-4E2C-AE84-24C8678B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Variation explained on the test 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6F5B9-F2B9-4749-8539-68407C04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3909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F633C-A072-4D17-B0D8-E3AD9528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8137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$93,161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579F3-C30D-4211-BB55-C7F2ADD7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43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Mean absolute 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001BD-71AF-4B00-8771-DBD2EBCC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Average absolute price difference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6240B-8AA9-4C0D-B00F-47EF4A32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33909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335A0-DBE3-4914-B991-108EB0FD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26.2%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A81A0-0EDC-4EC4-B079-1D6AE883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43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Mean absolute % 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5CABDF-676C-4ABD-AB6A-5D00497A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Average absolute percentage difference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E7ABE-DB70-428D-82D9-DAB5591E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8170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Cross-validation mean R²: approximately 0.636</a:t>
            </a:r>
          </a:p>
        </p:txBody>
      </p:sp>
    </p:spTree>
    <p:extLst>
      <p:ext uri="{BB962C8B-B14F-4D97-AF65-F5344CB8AC3E}">
        <p14:creationId xmlns:p14="http://schemas.microsoft.com/office/powerpoint/2010/main" val="7823804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CC672-BC0B-4D97-92C0-BEC474D5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09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core project is complete; forecasting needs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070A4-057E-4B68-A152-69763209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B33A4-199A-4F23-8B57-54D923A3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52197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63E44-D483-491E-AB63-EE05ECFD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Complete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4B08E-A376-4758-B311-CC306212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Reproducible scraper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Full + compact datasets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Simple executed EDA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Leakage-safe price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Specification and slides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DCFAB-C19F-4F3A-9783-DB5FD6D3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5054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F864D-7F62-47F9-8A54-A419FD33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meaningful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C9377-B667-4580-A7B2-D31EE55F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4648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Collect dated listing snapshots at a regular interval.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Preserve listing IDs and aggregate by country, city, and property 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Then align market series with inflation, GDP, and interest-rate data before testing time-series forecasts.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1607E-93E3-4606-8577-6EC218A9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 snapshot can estimate price. A time series is needed to estimate the future.</a:t>
            </a:r>
          </a:p>
        </p:txBody>
      </p:sp>
    </p:spTree>
    <p:extLst>
      <p:ext uri="{BB962C8B-B14F-4D97-AF65-F5344CB8AC3E}">
        <p14:creationId xmlns:p14="http://schemas.microsoft.com/office/powerpoint/2010/main" val="1561526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2026-08-17T10:57:56.3990000Z</dcterms:created>
  <dcterms:modified xsi:type="dcterms:W3CDTF">2026-08-17T10:57:56.3990000Z</dcterms:modified>
</coreProperties>
</file>