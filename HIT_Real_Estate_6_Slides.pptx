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12"/>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project scope: this is a current listing-price estimator for Argentina and Uruguay, not a future market forecaster. The pipeline combines web scraping, data cleaning, EDA and regression. The final modeling dataset contains 1,689 listings and 48 usable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does not depend on a ready-made Kaggle dataset. It crawls approved real-estate sites, cleans the listings, removes duplicates and stores detailed evidence. The full extraction has 1,777 rows and 161 columns; the compact modeling table has 1,689 rows and 63 columns. Coverage is strongest in Uruguay and apartments.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itself is clean: no duplicate model rows and no missing or non-positive prices. But optional listing fields can be sparse, and the sample is not balanced. The useful signal comes mainly from location, property size, bathrooms, rooms and amenity groups. Also stress that these are online asking prices, not confirmed transaction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modeling discipline rather than only the score. The project uses a fixed 80/20 split, with 1,351 training rows and 338 held-out test rows. Imputation, scaling and one-hot encoding are fitted only inside each training fold. Four regressors are compared using 5-fold cross-validation; Ridge wins with mean CV R² of 0.628.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held-out results: R² 0.475, MAPE 27.2% and MAE about 105 thousand dollars. Segment analysis matters: apartments are much stronger at 21% MAPE, while houses are 47%. The terminal script accepts a new property and returns an estimated USD price. The correct next step is not a more complicated model first; it is dated historical snapshots so the project can eventually test true future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11480" y="6537960"/>
            <a:ext cx="11365992" cy="0"/>
          </a:xfrm>
          <a:prstGeom prst="line">
            <a:avLst/>
          </a:prstGeom>
          <a:noFill/>
          <a:ln w="12700">
            <a:solidFill>
              <a:srgbClr val="DCE3EA"/>
            </a:solidFill>
            <a:prstDash val="solid"/>
          </a:ln>
        </p:spPr>
      </p:sp>
      <p:sp>
        <p:nvSpPr>
          <p:cNvPr id="3" name="Text 1"/>
          <p:cNvSpPr/>
          <p:nvPr/>
        </p:nvSpPr>
        <p:spPr>
          <a:xfrm>
            <a:off x="502920" y="6565392"/>
            <a:ext cx="3017520" cy="164592"/>
          </a:xfrm>
          <a:prstGeom prst="rect">
            <a:avLst/>
          </a:prstGeom>
          <a:noFill/>
          <a:ln/>
        </p:spPr>
        <p:txBody>
          <a:bodyPr wrap="square" lIns="0" tIns="0" rIns="0" bIns="0" rtlCol="0" anchor="ctr"/>
          <a:lstStyle/>
          <a:p>
            <a:pPr indent="0" marL="0">
              <a:buNone/>
            </a:pPr>
            <a:r>
              <a:rPr lang="en-US" sz="750" dirty="0">
                <a:solidFill>
                  <a:srgbClr val="738091"/>
                </a:solidFill>
                <a:latin typeface="Arimo" pitchFamily="34" charset="0"/>
                <a:ea typeface="Arimo" pitchFamily="34" charset="-122"/>
                <a:cs typeface="Arimo" pitchFamily="34" charset="-120"/>
              </a:rPr>
              <a:t>HIT • Real Estate Data Project</a:t>
            </a:r>
            <a:endParaRPr lang="en-US" sz="750" dirty="0"/>
          </a:p>
        </p:txBody>
      </p:sp>
      <p:sp>
        <p:nvSpPr>
          <p:cNvPr id="4" name="Text 2"/>
          <p:cNvSpPr/>
          <p:nvPr/>
        </p:nvSpPr>
        <p:spPr>
          <a:xfrm>
            <a:off x="7726680" y="6565392"/>
            <a:ext cx="3931920" cy="164592"/>
          </a:xfrm>
          <a:prstGeom prst="rect">
            <a:avLst/>
          </a:prstGeom>
          <a:noFill/>
          <a:ln/>
        </p:spPr>
        <p:txBody>
          <a:bodyPr wrap="square" lIns="0" tIns="0" rIns="0" bIns="0" rtlCol="0" anchor="ctr"/>
          <a:lstStyle/>
          <a:p>
            <a:pPr algn="r" indent="0" marL="0">
              <a:buNone/>
            </a:pPr>
            <a:r>
              <a:rPr lang="en-US" sz="750" dirty="0">
                <a:solidFill>
                  <a:srgbClr val="738091"/>
                </a:solidFill>
                <a:latin typeface="Arimo" pitchFamily="34" charset="0"/>
                <a:ea typeface="Arimo" pitchFamily="34" charset="-122"/>
                <a:cs typeface="Arimo" pitchFamily="34" charset="-120"/>
              </a:rPr>
              <a:t>Source: project repository / notebooks executed 24 Aug 2026</a:t>
            </a:r>
            <a:endParaRPr lang="en-US" sz="75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38091"/>
                </a:solidFill>
                <a:latin typeface="Arimo"/>
                <a:ea typeface="Arimo"/>
                <a:cs typeface="Arimo"/>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38091"/>
                </a:solidFill>
                <a:latin typeface="Arimo"/>
                <a:ea typeface="Arimo"/>
                <a:cs typeface="Arimo"/>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B"/>
        </a:solidFill>
      </p:bgPr>
    </p:bg>
    <p:spTree>
      <p:nvGrpSpPr>
        <p:cNvPr id="1" name=""/>
        <p:cNvGrpSpPr/>
        <p:nvPr/>
      </p:nvGrpSpPr>
      <p:grpSpPr>
        <a:xfrm>
          <a:off x="0" y="0"/>
          <a:ext cx="0" cy="0"/>
          <a:chOff x="0" y="0"/>
          <a:chExt cx="0" cy="0"/>
        </a:xfrm>
      </p:grpSpPr>
      <p:sp>
        <p:nvSpPr>
          <p:cNvPr id="2" name="Shape 0"/>
          <p:cNvSpPr/>
          <p:nvPr/>
        </p:nvSpPr>
        <p:spPr>
          <a:xfrm>
            <a:off x="6446520" y="320040"/>
            <a:ext cx="0" cy="5897880"/>
          </a:xfrm>
          <a:prstGeom prst="line">
            <a:avLst/>
          </a:prstGeom>
          <a:noFill/>
          <a:ln w="6985">
            <a:solidFill>
              <a:srgbClr val="183249"/>
            </a:solidFill>
            <a:prstDash val="solid"/>
            <a:headEnd type="none"/>
            <a:tailEnd type="none"/>
          </a:ln>
        </p:spPr>
      </p:sp>
      <p:sp>
        <p:nvSpPr>
          <p:cNvPr id="3" name="Shape 1"/>
          <p:cNvSpPr/>
          <p:nvPr/>
        </p:nvSpPr>
        <p:spPr>
          <a:xfrm>
            <a:off x="7059168" y="320040"/>
            <a:ext cx="0" cy="5897880"/>
          </a:xfrm>
          <a:prstGeom prst="line">
            <a:avLst/>
          </a:prstGeom>
          <a:noFill/>
          <a:ln w="6985">
            <a:solidFill>
              <a:srgbClr val="183249"/>
            </a:solidFill>
            <a:prstDash val="solid"/>
            <a:headEnd type="none"/>
            <a:tailEnd type="none"/>
          </a:ln>
        </p:spPr>
      </p:sp>
      <p:sp>
        <p:nvSpPr>
          <p:cNvPr id="4" name="Shape 2"/>
          <p:cNvSpPr/>
          <p:nvPr/>
        </p:nvSpPr>
        <p:spPr>
          <a:xfrm>
            <a:off x="7671816" y="320040"/>
            <a:ext cx="0" cy="5897880"/>
          </a:xfrm>
          <a:prstGeom prst="line">
            <a:avLst/>
          </a:prstGeom>
          <a:noFill/>
          <a:ln w="6985">
            <a:solidFill>
              <a:srgbClr val="183249"/>
            </a:solidFill>
            <a:prstDash val="solid"/>
            <a:headEnd type="none"/>
            <a:tailEnd type="none"/>
          </a:ln>
        </p:spPr>
      </p:sp>
      <p:sp>
        <p:nvSpPr>
          <p:cNvPr id="5" name="Shape 3"/>
          <p:cNvSpPr/>
          <p:nvPr/>
        </p:nvSpPr>
        <p:spPr>
          <a:xfrm>
            <a:off x="8284464" y="320040"/>
            <a:ext cx="0" cy="5897880"/>
          </a:xfrm>
          <a:prstGeom prst="line">
            <a:avLst/>
          </a:prstGeom>
          <a:noFill/>
          <a:ln w="6985">
            <a:solidFill>
              <a:srgbClr val="183249"/>
            </a:solidFill>
            <a:prstDash val="solid"/>
            <a:headEnd type="none"/>
            <a:tailEnd type="none"/>
          </a:ln>
        </p:spPr>
      </p:sp>
      <p:sp>
        <p:nvSpPr>
          <p:cNvPr id="6" name="Shape 4"/>
          <p:cNvSpPr/>
          <p:nvPr/>
        </p:nvSpPr>
        <p:spPr>
          <a:xfrm>
            <a:off x="8897112" y="320040"/>
            <a:ext cx="0" cy="5897880"/>
          </a:xfrm>
          <a:prstGeom prst="line">
            <a:avLst/>
          </a:prstGeom>
          <a:noFill/>
          <a:ln w="6985">
            <a:solidFill>
              <a:srgbClr val="183249"/>
            </a:solidFill>
            <a:prstDash val="solid"/>
            <a:headEnd type="none"/>
            <a:tailEnd type="none"/>
          </a:ln>
        </p:spPr>
      </p:sp>
      <p:sp>
        <p:nvSpPr>
          <p:cNvPr id="7" name="Shape 5"/>
          <p:cNvSpPr/>
          <p:nvPr/>
        </p:nvSpPr>
        <p:spPr>
          <a:xfrm>
            <a:off x="9509760" y="320040"/>
            <a:ext cx="0" cy="5897880"/>
          </a:xfrm>
          <a:prstGeom prst="line">
            <a:avLst/>
          </a:prstGeom>
          <a:noFill/>
          <a:ln w="6985">
            <a:solidFill>
              <a:srgbClr val="183249"/>
            </a:solidFill>
            <a:prstDash val="solid"/>
            <a:headEnd type="none"/>
            <a:tailEnd type="none"/>
          </a:ln>
        </p:spPr>
      </p:sp>
      <p:sp>
        <p:nvSpPr>
          <p:cNvPr id="8" name="Shape 6"/>
          <p:cNvSpPr/>
          <p:nvPr/>
        </p:nvSpPr>
        <p:spPr>
          <a:xfrm>
            <a:off x="10122408" y="320040"/>
            <a:ext cx="0" cy="5897880"/>
          </a:xfrm>
          <a:prstGeom prst="line">
            <a:avLst/>
          </a:prstGeom>
          <a:noFill/>
          <a:ln w="6985">
            <a:solidFill>
              <a:srgbClr val="183249"/>
            </a:solidFill>
            <a:prstDash val="solid"/>
            <a:headEnd type="none"/>
            <a:tailEnd type="none"/>
          </a:ln>
        </p:spPr>
      </p:sp>
      <p:sp>
        <p:nvSpPr>
          <p:cNvPr id="9" name="Shape 7"/>
          <p:cNvSpPr/>
          <p:nvPr/>
        </p:nvSpPr>
        <p:spPr>
          <a:xfrm>
            <a:off x="10735056" y="320040"/>
            <a:ext cx="0" cy="5897880"/>
          </a:xfrm>
          <a:prstGeom prst="line">
            <a:avLst/>
          </a:prstGeom>
          <a:noFill/>
          <a:ln w="6985">
            <a:solidFill>
              <a:srgbClr val="183249"/>
            </a:solidFill>
            <a:prstDash val="solid"/>
            <a:headEnd type="none"/>
            <a:tailEnd type="none"/>
          </a:ln>
        </p:spPr>
      </p:sp>
      <p:sp>
        <p:nvSpPr>
          <p:cNvPr id="10" name="Shape 8"/>
          <p:cNvSpPr/>
          <p:nvPr/>
        </p:nvSpPr>
        <p:spPr>
          <a:xfrm>
            <a:off x="6446520" y="502920"/>
            <a:ext cx="5138928" cy="0"/>
          </a:xfrm>
          <a:prstGeom prst="line">
            <a:avLst/>
          </a:prstGeom>
          <a:noFill/>
          <a:ln w="6985">
            <a:solidFill>
              <a:srgbClr val="183249"/>
            </a:solidFill>
            <a:prstDash val="solid"/>
            <a:headEnd type="none"/>
            <a:tailEnd type="none"/>
          </a:ln>
        </p:spPr>
      </p:sp>
      <p:sp>
        <p:nvSpPr>
          <p:cNvPr id="11" name="Shape 9"/>
          <p:cNvSpPr/>
          <p:nvPr/>
        </p:nvSpPr>
        <p:spPr>
          <a:xfrm>
            <a:off x="6446520" y="1106424"/>
            <a:ext cx="5138928" cy="0"/>
          </a:xfrm>
          <a:prstGeom prst="line">
            <a:avLst/>
          </a:prstGeom>
          <a:noFill/>
          <a:ln w="6985">
            <a:solidFill>
              <a:srgbClr val="183249"/>
            </a:solidFill>
            <a:prstDash val="solid"/>
            <a:headEnd type="none"/>
            <a:tailEnd type="none"/>
          </a:ln>
        </p:spPr>
      </p:sp>
      <p:sp>
        <p:nvSpPr>
          <p:cNvPr id="12" name="Shape 10"/>
          <p:cNvSpPr/>
          <p:nvPr/>
        </p:nvSpPr>
        <p:spPr>
          <a:xfrm>
            <a:off x="6446520" y="1709928"/>
            <a:ext cx="5138928" cy="0"/>
          </a:xfrm>
          <a:prstGeom prst="line">
            <a:avLst/>
          </a:prstGeom>
          <a:noFill/>
          <a:ln w="6985">
            <a:solidFill>
              <a:srgbClr val="183249"/>
            </a:solidFill>
            <a:prstDash val="solid"/>
            <a:headEnd type="none"/>
            <a:tailEnd type="none"/>
          </a:ln>
        </p:spPr>
      </p:sp>
      <p:sp>
        <p:nvSpPr>
          <p:cNvPr id="13" name="Shape 11"/>
          <p:cNvSpPr/>
          <p:nvPr/>
        </p:nvSpPr>
        <p:spPr>
          <a:xfrm>
            <a:off x="6446520" y="2313432"/>
            <a:ext cx="5138928" cy="0"/>
          </a:xfrm>
          <a:prstGeom prst="line">
            <a:avLst/>
          </a:prstGeom>
          <a:noFill/>
          <a:ln w="6985">
            <a:solidFill>
              <a:srgbClr val="183249"/>
            </a:solidFill>
            <a:prstDash val="solid"/>
            <a:headEnd type="none"/>
            <a:tailEnd type="none"/>
          </a:ln>
        </p:spPr>
      </p:sp>
      <p:sp>
        <p:nvSpPr>
          <p:cNvPr id="14" name="Shape 12"/>
          <p:cNvSpPr/>
          <p:nvPr/>
        </p:nvSpPr>
        <p:spPr>
          <a:xfrm>
            <a:off x="6446520" y="2916936"/>
            <a:ext cx="5138928" cy="0"/>
          </a:xfrm>
          <a:prstGeom prst="line">
            <a:avLst/>
          </a:prstGeom>
          <a:noFill/>
          <a:ln w="6985">
            <a:solidFill>
              <a:srgbClr val="183249"/>
            </a:solidFill>
            <a:prstDash val="solid"/>
            <a:headEnd type="none"/>
            <a:tailEnd type="none"/>
          </a:ln>
        </p:spPr>
      </p:sp>
      <p:sp>
        <p:nvSpPr>
          <p:cNvPr id="15" name="Shape 13"/>
          <p:cNvSpPr/>
          <p:nvPr/>
        </p:nvSpPr>
        <p:spPr>
          <a:xfrm>
            <a:off x="6446520" y="3520440"/>
            <a:ext cx="5138928" cy="0"/>
          </a:xfrm>
          <a:prstGeom prst="line">
            <a:avLst/>
          </a:prstGeom>
          <a:noFill/>
          <a:ln w="6985">
            <a:solidFill>
              <a:srgbClr val="183249"/>
            </a:solidFill>
            <a:prstDash val="solid"/>
            <a:headEnd type="none"/>
            <a:tailEnd type="none"/>
          </a:ln>
        </p:spPr>
      </p:sp>
      <p:sp>
        <p:nvSpPr>
          <p:cNvPr id="16" name="Shape 14"/>
          <p:cNvSpPr/>
          <p:nvPr/>
        </p:nvSpPr>
        <p:spPr>
          <a:xfrm>
            <a:off x="6446520" y="4123944"/>
            <a:ext cx="5138928" cy="0"/>
          </a:xfrm>
          <a:prstGeom prst="line">
            <a:avLst/>
          </a:prstGeom>
          <a:noFill/>
          <a:ln w="6985">
            <a:solidFill>
              <a:srgbClr val="183249"/>
            </a:solidFill>
            <a:prstDash val="solid"/>
            <a:headEnd type="none"/>
            <a:tailEnd type="none"/>
          </a:ln>
        </p:spPr>
      </p:sp>
      <p:sp>
        <p:nvSpPr>
          <p:cNvPr id="17" name="Shape 15"/>
          <p:cNvSpPr/>
          <p:nvPr/>
        </p:nvSpPr>
        <p:spPr>
          <a:xfrm>
            <a:off x="6446520" y="4727448"/>
            <a:ext cx="5138928" cy="0"/>
          </a:xfrm>
          <a:prstGeom prst="line">
            <a:avLst/>
          </a:prstGeom>
          <a:noFill/>
          <a:ln w="6985">
            <a:solidFill>
              <a:srgbClr val="183249"/>
            </a:solidFill>
            <a:prstDash val="solid"/>
            <a:headEnd type="none"/>
            <a:tailEnd type="none"/>
          </a:ln>
        </p:spPr>
      </p:sp>
      <p:sp>
        <p:nvSpPr>
          <p:cNvPr id="18" name="Shape 16"/>
          <p:cNvSpPr/>
          <p:nvPr/>
        </p:nvSpPr>
        <p:spPr>
          <a:xfrm>
            <a:off x="6446520" y="5330952"/>
            <a:ext cx="5138928" cy="0"/>
          </a:xfrm>
          <a:prstGeom prst="line">
            <a:avLst/>
          </a:prstGeom>
          <a:noFill/>
          <a:ln w="6985">
            <a:solidFill>
              <a:srgbClr val="183249"/>
            </a:solidFill>
            <a:prstDash val="solid"/>
            <a:headEnd type="none"/>
            <a:tailEnd type="none"/>
          </a:ln>
        </p:spPr>
      </p:sp>
      <p:sp>
        <p:nvSpPr>
          <p:cNvPr id="19" name="Text 17"/>
          <p:cNvSpPr/>
          <p:nvPr/>
        </p:nvSpPr>
        <p:spPr>
          <a:xfrm>
            <a:off x="566928" y="502920"/>
            <a:ext cx="3017520" cy="256032"/>
          </a:xfrm>
          <a:prstGeom prst="rect">
            <a:avLst/>
          </a:prstGeom>
          <a:noFill/>
          <a:ln/>
        </p:spPr>
        <p:txBody>
          <a:bodyPr wrap="square" lIns="0" tIns="0" rIns="0" bIns="0" rtlCol="0" anchor="ctr">
            <a:normAutofit/>
          </a:bodyPr>
          <a:lstStyle/>
          <a:p>
            <a:pPr algn="l" indent="0" marL="0">
              <a:buNone/>
            </a:pPr>
            <a:r>
              <a:rPr lang="en-US" sz="1000" b="1" spc="180" kern="0" dirty="0">
                <a:solidFill>
                  <a:srgbClr val="79A4FF"/>
                </a:solidFill>
                <a:latin typeface="Arimo" pitchFamily="34" charset="0"/>
                <a:ea typeface="Arimo" pitchFamily="34" charset="-122"/>
                <a:cs typeface="Arimo" pitchFamily="34" charset="-120"/>
              </a:rPr>
              <a:t>HIT FINAL PROJECT</a:t>
            </a:r>
            <a:endParaRPr lang="en-US" sz="1000" dirty="0"/>
          </a:p>
        </p:txBody>
      </p:sp>
      <p:sp>
        <p:nvSpPr>
          <p:cNvPr id="20" name="Text 18"/>
          <p:cNvSpPr/>
          <p:nvPr/>
        </p:nvSpPr>
        <p:spPr>
          <a:xfrm>
            <a:off x="566928" y="1115568"/>
            <a:ext cx="5852160" cy="1417320"/>
          </a:xfrm>
          <a:prstGeom prst="rect">
            <a:avLst/>
          </a:prstGeom>
          <a:noFill/>
          <a:ln/>
        </p:spPr>
        <p:txBody>
          <a:bodyPr wrap="square" lIns="0" tIns="0" rIns="0" bIns="0" rtlCol="0" anchor="t">
            <a:normAutofit/>
          </a:bodyPr>
          <a:lstStyle/>
          <a:p>
            <a:pPr algn="l" indent="0" marL="0">
              <a:buNone/>
            </a:pPr>
            <a:r>
              <a:rPr lang="en-US" sz="3300" b="1" dirty="0">
                <a:solidFill>
                  <a:srgbClr val="FFFFFF"/>
                </a:solidFill>
                <a:latin typeface="Arimo" pitchFamily="34" charset="0"/>
                <a:ea typeface="Arimo" pitchFamily="34" charset="-122"/>
                <a:cs typeface="Arimo" pitchFamily="34" charset="-120"/>
              </a:rPr>
              <a:t>Real Estate</a:t>
            </a:r>
            <a:endParaRPr lang="en-US" sz="3300" dirty="0"/>
          </a:p>
          <a:p>
            <a:pPr algn="l" indent="0" marL="0">
              <a:buNone/>
            </a:pPr>
            <a:r>
              <a:rPr lang="en-US" sz="3300" b="1" dirty="0">
                <a:solidFill>
                  <a:srgbClr val="FFFFFF"/>
                </a:solidFill>
                <a:latin typeface="Arimo" pitchFamily="34" charset="0"/>
                <a:ea typeface="Arimo" pitchFamily="34" charset="-122"/>
                <a:cs typeface="Arimo" pitchFamily="34" charset="-120"/>
              </a:rPr>
              <a:t>Price Estimation</a:t>
            </a:r>
            <a:endParaRPr lang="en-US" sz="3300" dirty="0"/>
          </a:p>
        </p:txBody>
      </p:sp>
      <p:sp>
        <p:nvSpPr>
          <p:cNvPr id="21" name="Text 19"/>
          <p:cNvSpPr/>
          <p:nvPr/>
        </p:nvSpPr>
        <p:spPr>
          <a:xfrm>
            <a:off x="566928" y="2679192"/>
            <a:ext cx="4297680" cy="384048"/>
          </a:xfrm>
          <a:prstGeom prst="rect">
            <a:avLst/>
          </a:prstGeom>
          <a:noFill/>
          <a:ln/>
        </p:spPr>
        <p:txBody>
          <a:bodyPr wrap="square" lIns="0" tIns="0" rIns="0" bIns="0" rtlCol="0" anchor="ctr">
            <a:normAutofit/>
          </a:bodyPr>
          <a:lstStyle/>
          <a:p>
            <a:pPr algn="l" indent="0" marL="0">
              <a:buNone/>
            </a:pPr>
            <a:r>
              <a:rPr lang="en-US" sz="1700" b="1" dirty="0">
                <a:solidFill>
                  <a:srgbClr val="B9CCF5"/>
                </a:solidFill>
                <a:latin typeface="Arimo" pitchFamily="34" charset="0"/>
                <a:ea typeface="Arimo" pitchFamily="34" charset="-122"/>
                <a:cs typeface="Arimo" pitchFamily="34" charset="-120"/>
              </a:rPr>
              <a:t>Argentina &amp; Uruguay</a:t>
            </a:r>
            <a:endParaRPr lang="en-US" sz="1700" dirty="0"/>
          </a:p>
        </p:txBody>
      </p:sp>
      <p:sp>
        <p:nvSpPr>
          <p:cNvPr id="22" name="Text 20"/>
          <p:cNvSpPr/>
          <p:nvPr/>
        </p:nvSpPr>
        <p:spPr>
          <a:xfrm>
            <a:off x="566928" y="3154680"/>
            <a:ext cx="5029200" cy="347472"/>
          </a:xfrm>
          <a:prstGeom prst="rect">
            <a:avLst/>
          </a:prstGeom>
          <a:noFill/>
          <a:ln/>
        </p:spPr>
        <p:txBody>
          <a:bodyPr wrap="square" lIns="0" tIns="0" rIns="0" bIns="0" rtlCol="0" anchor="ctr">
            <a:normAutofit/>
          </a:bodyPr>
          <a:lstStyle/>
          <a:p>
            <a:pPr algn="l" indent="0" marL="0">
              <a:buNone/>
            </a:pPr>
            <a:r>
              <a:rPr lang="en-US" sz="1320" dirty="0">
                <a:solidFill>
                  <a:srgbClr val="A8B8C9"/>
                </a:solidFill>
                <a:latin typeface="Arimo" pitchFamily="34" charset="0"/>
                <a:ea typeface="Arimo" pitchFamily="34" charset="-122"/>
                <a:cs typeface="Arimo" pitchFamily="34" charset="-120"/>
              </a:rPr>
              <a:t>Web scraping  •  EDA  •  Machine learning</a:t>
            </a:r>
            <a:endParaRPr lang="en-US" sz="1320" dirty="0"/>
          </a:p>
        </p:txBody>
      </p:sp>
      <p:sp>
        <p:nvSpPr>
          <p:cNvPr id="23" name="Text 21"/>
          <p:cNvSpPr/>
          <p:nvPr/>
        </p:nvSpPr>
        <p:spPr>
          <a:xfrm>
            <a:off x="566928" y="3749040"/>
            <a:ext cx="5074920" cy="685800"/>
          </a:xfrm>
          <a:prstGeom prst="rect">
            <a:avLst/>
          </a:prstGeom>
          <a:noFill/>
          <a:ln/>
        </p:spPr>
        <p:txBody>
          <a:bodyPr wrap="square" lIns="0" tIns="0" rIns="0" bIns="0" rtlCol="0" anchor="t">
            <a:normAutofit/>
          </a:bodyPr>
          <a:lstStyle/>
          <a:p>
            <a:pPr algn="l" indent="0" marL="0">
              <a:buNone/>
            </a:pPr>
            <a:r>
              <a:rPr lang="en-US" sz="1430" dirty="0">
                <a:solidFill>
                  <a:srgbClr val="E4EBF2"/>
                </a:solidFill>
                <a:latin typeface="Arimo" pitchFamily="34" charset="0"/>
                <a:ea typeface="Arimo" pitchFamily="34" charset="-122"/>
                <a:cs typeface="Arimo" pitchFamily="34" charset="-120"/>
              </a:rPr>
              <a:t>Goal: estimate the USD asking price of a residential listing from its location, size, rooms and amenities.</a:t>
            </a:r>
            <a:endParaRPr lang="en-US" sz="1430" dirty="0"/>
          </a:p>
        </p:txBody>
      </p:sp>
      <p:sp>
        <p:nvSpPr>
          <p:cNvPr id="24" name="Shape 22"/>
          <p:cNvSpPr/>
          <p:nvPr/>
        </p:nvSpPr>
        <p:spPr>
          <a:xfrm>
            <a:off x="6720840" y="749808"/>
            <a:ext cx="4773168" cy="5074920"/>
          </a:xfrm>
          <a:prstGeom prst="roundRect">
            <a:avLst>
              <a:gd name="adj" fmla="val 3448"/>
            </a:avLst>
          </a:prstGeom>
          <a:solidFill>
            <a:srgbClr val="0C243A"/>
          </a:solidFill>
          <a:ln w="12700">
            <a:solidFill>
              <a:srgbClr val="173752"/>
            </a:solidFill>
            <a:prstDash val="solid"/>
          </a:ln>
        </p:spPr>
      </p:sp>
      <p:sp>
        <p:nvSpPr>
          <p:cNvPr id="25" name="Text 23"/>
          <p:cNvSpPr/>
          <p:nvPr/>
        </p:nvSpPr>
        <p:spPr>
          <a:xfrm>
            <a:off x="7059168" y="1097280"/>
            <a:ext cx="4096512" cy="512064"/>
          </a:xfrm>
          <a:prstGeom prst="rect">
            <a:avLst/>
          </a:prstGeom>
          <a:noFill/>
          <a:ln/>
        </p:spPr>
        <p:txBody>
          <a:bodyPr wrap="square" lIns="0" tIns="0" rIns="0" bIns="0" rtlCol="0" anchor="ctr">
            <a:normAutofit/>
          </a:bodyPr>
          <a:lstStyle/>
          <a:p>
            <a:pPr algn="ctr" indent="0" marL="0">
              <a:buNone/>
            </a:pPr>
            <a:r>
              <a:rPr lang="en-US" sz="1120" dirty="0">
                <a:solidFill>
                  <a:srgbClr val="C8D7E8"/>
                </a:solidFill>
                <a:latin typeface="DejaVu Sans Mono" pitchFamily="34" charset="0"/>
                <a:ea typeface="DejaVu Sans Mono" pitchFamily="34" charset="-122"/>
                <a:cs typeface="DejaVu Sans Mono" pitchFamily="34" charset="-120"/>
              </a:rPr>
              <a:t>price_usd = f(property, location, area, rooms, amenities)</a:t>
            </a:r>
            <a:endParaRPr lang="en-US" sz="1120" dirty="0"/>
          </a:p>
        </p:txBody>
      </p:sp>
      <p:sp>
        <p:nvSpPr>
          <p:cNvPr id="26" name="Shape 24"/>
          <p:cNvSpPr/>
          <p:nvPr/>
        </p:nvSpPr>
        <p:spPr>
          <a:xfrm rot="16200000">
            <a:off x="8303666" y="1856232"/>
            <a:ext cx="1360627" cy="680314"/>
          </a:xfrm>
          <a:prstGeom prst="chevron">
            <a:avLst/>
          </a:prstGeom>
          <a:solidFill>
            <a:srgbClr val="2F6BFF"/>
          </a:solidFill>
          <a:ln w="12700">
            <a:solidFill>
              <a:srgbClr val="2F6BFF">
                <a:alpha val="0"/>
              </a:srgbClr>
            </a:solidFill>
            <a:prstDash val="solid"/>
          </a:ln>
        </p:spPr>
      </p:sp>
      <p:sp>
        <p:nvSpPr>
          <p:cNvPr id="27" name="Shape 25"/>
          <p:cNvSpPr/>
          <p:nvPr/>
        </p:nvSpPr>
        <p:spPr>
          <a:xfrm>
            <a:off x="8530438" y="2281428"/>
            <a:ext cx="907085" cy="878738"/>
          </a:xfrm>
          <a:prstGeom prst="rect">
            <a:avLst/>
          </a:prstGeom>
          <a:solidFill>
            <a:srgbClr val="E7F0FF"/>
          </a:solidFill>
          <a:ln w="12700">
            <a:solidFill>
              <a:srgbClr val="E7F0FF">
                <a:alpha val="0"/>
              </a:srgbClr>
            </a:solidFill>
            <a:prstDash val="solid"/>
          </a:ln>
        </p:spPr>
      </p:sp>
      <p:sp>
        <p:nvSpPr>
          <p:cNvPr id="28" name="Shape 26"/>
          <p:cNvSpPr/>
          <p:nvPr/>
        </p:nvSpPr>
        <p:spPr>
          <a:xfrm>
            <a:off x="8927287" y="2678278"/>
            <a:ext cx="240944" cy="481889"/>
          </a:xfrm>
          <a:prstGeom prst="rect">
            <a:avLst/>
          </a:prstGeom>
          <a:solidFill>
            <a:srgbClr val="2F6BFF"/>
          </a:solidFill>
          <a:ln w="12700">
            <a:solidFill>
              <a:srgbClr val="2F6BFF">
                <a:alpha val="0"/>
              </a:srgbClr>
            </a:solidFill>
            <a:prstDash val="solid"/>
          </a:ln>
        </p:spPr>
      </p:sp>
      <p:sp>
        <p:nvSpPr>
          <p:cNvPr id="29" name="Shape 27"/>
          <p:cNvSpPr/>
          <p:nvPr/>
        </p:nvSpPr>
        <p:spPr>
          <a:xfrm>
            <a:off x="7616952" y="2395728"/>
            <a:ext cx="384048" cy="384048"/>
          </a:xfrm>
          <a:prstGeom prst="ellipse">
            <a:avLst/>
          </a:prstGeom>
          <a:solidFill>
            <a:srgbClr val="18A7B8"/>
          </a:solidFill>
          <a:ln w="12700">
            <a:solidFill>
              <a:srgbClr val="18A7B8">
                <a:alpha val="0"/>
              </a:srgbClr>
            </a:solidFill>
            <a:prstDash val="solid"/>
          </a:ln>
        </p:spPr>
      </p:sp>
      <p:sp>
        <p:nvSpPr>
          <p:cNvPr id="30" name="Shape 28"/>
          <p:cNvSpPr/>
          <p:nvPr/>
        </p:nvSpPr>
        <p:spPr>
          <a:xfrm>
            <a:off x="9966960" y="1993392"/>
            <a:ext cx="292608" cy="292608"/>
          </a:xfrm>
          <a:prstGeom prst="ellipse">
            <a:avLst/>
          </a:prstGeom>
          <a:solidFill>
            <a:srgbClr val="F1A73C"/>
          </a:solidFill>
          <a:ln w="12700">
            <a:solidFill>
              <a:srgbClr val="F1A73C">
                <a:alpha val="0"/>
              </a:srgbClr>
            </a:solidFill>
            <a:prstDash val="solid"/>
          </a:ln>
        </p:spPr>
      </p:sp>
      <p:sp>
        <p:nvSpPr>
          <p:cNvPr id="31" name="Shape 29"/>
          <p:cNvSpPr/>
          <p:nvPr/>
        </p:nvSpPr>
        <p:spPr>
          <a:xfrm>
            <a:off x="10332720" y="2926080"/>
            <a:ext cx="228600" cy="228600"/>
          </a:xfrm>
          <a:prstGeom prst="ellipse">
            <a:avLst/>
          </a:prstGeom>
          <a:solidFill>
            <a:srgbClr val="2F6BFF"/>
          </a:solidFill>
          <a:ln w="12700">
            <a:solidFill>
              <a:srgbClr val="2F6BFF">
                <a:alpha val="0"/>
              </a:srgbClr>
            </a:solidFill>
            <a:prstDash val="solid"/>
          </a:ln>
        </p:spPr>
      </p:sp>
      <p:sp>
        <p:nvSpPr>
          <p:cNvPr id="32" name="Shape 30"/>
          <p:cNvSpPr/>
          <p:nvPr/>
        </p:nvSpPr>
        <p:spPr>
          <a:xfrm>
            <a:off x="7882128" y="2578608"/>
            <a:ext cx="1060704" cy="-411480"/>
          </a:xfrm>
          <a:prstGeom prst="line">
            <a:avLst/>
          </a:prstGeom>
          <a:noFill/>
          <a:ln w="13970">
            <a:solidFill>
              <a:srgbClr val="48647E"/>
            </a:solidFill>
            <a:prstDash val="dash"/>
            <a:headEnd type="none"/>
            <a:tailEnd type="none"/>
          </a:ln>
        </p:spPr>
      </p:sp>
      <p:sp>
        <p:nvSpPr>
          <p:cNvPr id="33" name="Shape 31"/>
          <p:cNvSpPr/>
          <p:nvPr/>
        </p:nvSpPr>
        <p:spPr>
          <a:xfrm>
            <a:off x="9646920" y="2523744"/>
            <a:ext cx="603504" cy="-365760"/>
          </a:xfrm>
          <a:prstGeom prst="line">
            <a:avLst/>
          </a:prstGeom>
          <a:noFill/>
          <a:ln w="13970">
            <a:solidFill>
              <a:srgbClr val="48647E"/>
            </a:solidFill>
            <a:prstDash val="dash"/>
            <a:headEnd type="none"/>
            <a:tailEnd type="none"/>
          </a:ln>
        </p:spPr>
      </p:sp>
      <p:sp>
        <p:nvSpPr>
          <p:cNvPr id="34" name="Shape 32"/>
          <p:cNvSpPr/>
          <p:nvPr/>
        </p:nvSpPr>
        <p:spPr>
          <a:xfrm>
            <a:off x="9646920" y="2788920"/>
            <a:ext cx="768096" cy="228600"/>
          </a:xfrm>
          <a:prstGeom prst="line">
            <a:avLst/>
          </a:prstGeom>
          <a:noFill/>
          <a:ln w="13970">
            <a:solidFill>
              <a:srgbClr val="48647E"/>
            </a:solidFill>
            <a:prstDash val="dash"/>
            <a:headEnd type="none"/>
            <a:tailEnd type="none"/>
          </a:ln>
        </p:spPr>
      </p:sp>
      <p:sp>
        <p:nvSpPr>
          <p:cNvPr id="35" name="Shape 33"/>
          <p:cNvSpPr/>
          <p:nvPr/>
        </p:nvSpPr>
        <p:spPr>
          <a:xfrm>
            <a:off x="7159752" y="3675888"/>
            <a:ext cx="1764792" cy="274320"/>
          </a:xfrm>
          <a:prstGeom prst="roundRect">
            <a:avLst>
              <a:gd name="adj" fmla="val 50000"/>
            </a:avLst>
          </a:prstGeom>
          <a:solidFill>
            <a:srgbClr val="E8F0FF"/>
          </a:solidFill>
          <a:ln w="12700">
            <a:solidFill>
              <a:srgbClr val="E8F0FF"/>
            </a:solidFill>
            <a:prstDash val="solid"/>
          </a:ln>
        </p:spPr>
      </p:sp>
      <p:sp>
        <p:nvSpPr>
          <p:cNvPr id="36" name="Text 34"/>
          <p:cNvSpPr/>
          <p:nvPr/>
        </p:nvSpPr>
        <p:spPr>
          <a:xfrm>
            <a:off x="7159752" y="3685032"/>
            <a:ext cx="1764792" cy="256032"/>
          </a:xfrm>
          <a:prstGeom prst="rect">
            <a:avLst/>
          </a:prstGeom>
          <a:noFill/>
          <a:ln/>
        </p:spPr>
        <p:txBody>
          <a:bodyPr wrap="square" lIns="0" tIns="0" rIns="0" bIns="0" rtlCol="0" anchor="ctr">
            <a:normAutofit/>
          </a:bodyPr>
          <a:lstStyle/>
          <a:p>
            <a:pPr algn="ctr" indent="0" marL="0">
              <a:buNone/>
            </a:pPr>
            <a:r>
              <a:rPr lang="en-US" sz="950" b="1" dirty="0">
                <a:solidFill>
                  <a:srgbClr val="2F6BFF"/>
                </a:solidFill>
                <a:latin typeface="Arimo" pitchFamily="34" charset="0"/>
                <a:ea typeface="Arimo" pitchFamily="34" charset="-122"/>
                <a:cs typeface="Arimo" pitchFamily="34" charset="-120"/>
              </a:rPr>
              <a:t>AR  •  579 listings</a:t>
            </a:r>
            <a:endParaRPr lang="en-US" sz="950" dirty="0"/>
          </a:p>
        </p:txBody>
      </p:sp>
      <p:sp>
        <p:nvSpPr>
          <p:cNvPr id="37" name="Shape 35"/>
          <p:cNvSpPr/>
          <p:nvPr/>
        </p:nvSpPr>
        <p:spPr>
          <a:xfrm>
            <a:off x="9189720" y="3675888"/>
            <a:ext cx="1874520" cy="274320"/>
          </a:xfrm>
          <a:prstGeom prst="roundRect">
            <a:avLst>
              <a:gd name="adj" fmla="val 50000"/>
            </a:avLst>
          </a:prstGeom>
          <a:solidFill>
            <a:srgbClr val="E8F8FA"/>
          </a:solidFill>
          <a:ln w="12700">
            <a:solidFill>
              <a:srgbClr val="E8F8FA"/>
            </a:solidFill>
            <a:prstDash val="solid"/>
          </a:ln>
        </p:spPr>
      </p:sp>
      <p:sp>
        <p:nvSpPr>
          <p:cNvPr id="38" name="Text 36"/>
          <p:cNvSpPr/>
          <p:nvPr/>
        </p:nvSpPr>
        <p:spPr>
          <a:xfrm>
            <a:off x="9189720" y="3685032"/>
            <a:ext cx="1874520" cy="256032"/>
          </a:xfrm>
          <a:prstGeom prst="rect">
            <a:avLst/>
          </a:prstGeom>
          <a:noFill/>
          <a:ln/>
        </p:spPr>
        <p:txBody>
          <a:bodyPr wrap="square" lIns="0" tIns="0" rIns="0" bIns="0" rtlCol="0" anchor="ctr">
            <a:normAutofit/>
          </a:bodyPr>
          <a:lstStyle/>
          <a:p>
            <a:pPr algn="ctr" indent="0" marL="0">
              <a:buNone/>
            </a:pPr>
            <a:r>
              <a:rPr lang="en-US" sz="950" b="1" dirty="0">
                <a:solidFill>
                  <a:srgbClr val="16826C"/>
                </a:solidFill>
                <a:latin typeface="Arimo" pitchFamily="34" charset="0"/>
                <a:ea typeface="Arimo" pitchFamily="34" charset="-122"/>
                <a:cs typeface="Arimo" pitchFamily="34" charset="-120"/>
              </a:rPr>
              <a:t>UY  •  1,110 listings</a:t>
            </a:r>
            <a:endParaRPr lang="en-US" sz="950" dirty="0"/>
          </a:p>
        </p:txBody>
      </p:sp>
      <p:sp>
        <p:nvSpPr>
          <p:cNvPr id="39" name="Shape 37"/>
          <p:cNvSpPr/>
          <p:nvPr/>
        </p:nvSpPr>
        <p:spPr>
          <a:xfrm>
            <a:off x="7205472" y="4233672"/>
            <a:ext cx="3657600" cy="0"/>
          </a:xfrm>
          <a:prstGeom prst="line">
            <a:avLst/>
          </a:prstGeom>
          <a:noFill/>
          <a:ln w="12700">
            <a:solidFill>
              <a:srgbClr val="29445D"/>
            </a:solidFill>
            <a:prstDash val="solid"/>
            <a:headEnd type="none"/>
            <a:tailEnd type="none"/>
          </a:ln>
        </p:spPr>
      </p:sp>
      <p:sp>
        <p:nvSpPr>
          <p:cNvPr id="40" name="Text 38"/>
          <p:cNvSpPr/>
          <p:nvPr/>
        </p:nvSpPr>
        <p:spPr>
          <a:xfrm>
            <a:off x="7068312" y="4498848"/>
            <a:ext cx="960120" cy="36576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mo" pitchFamily="34" charset="0"/>
                <a:ea typeface="Arimo" pitchFamily="34" charset="-122"/>
                <a:cs typeface="Arimo" pitchFamily="34" charset="-120"/>
              </a:rPr>
              <a:t>1,689</a:t>
            </a:r>
            <a:endParaRPr lang="en-US" sz="2200" dirty="0"/>
          </a:p>
        </p:txBody>
      </p:sp>
      <p:sp>
        <p:nvSpPr>
          <p:cNvPr id="41" name="Text 39"/>
          <p:cNvSpPr/>
          <p:nvPr/>
        </p:nvSpPr>
        <p:spPr>
          <a:xfrm>
            <a:off x="7068312" y="4892040"/>
            <a:ext cx="960120" cy="274320"/>
          </a:xfrm>
          <a:prstGeom prst="rect">
            <a:avLst/>
          </a:prstGeom>
          <a:noFill/>
          <a:ln/>
        </p:spPr>
        <p:txBody>
          <a:bodyPr wrap="square" lIns="0" tIns="0" rIns="0" bIns="0" rtlCol="0" anchor="ctr">
            <a:normAutofit/>
          </a:bodyPr>
          <a:lstStyle/>
          <a:p>
            <a:pPr algn="ctr" indent="0" marL="0">
              <a:buNone/>
            </a:pPr>
            <a:r>
              <a:rPr lang="en-US" sz="840" dirty="0">
                <a:solidFill>
                  <a:srgbClr val="93A7BA"/>
                </a:solidFill>
                <a:latin typeface="Arimo" pitchFamily="34" charset="0"/>
                <a:ea typeface="Arimo" pitchFamily="34" charset="-122"/>
                <a:cs typeface="Arimo" pitchFamily="34" charset="-120"/>
              </a:rPr>
              <a:t>model rows</a:t>
            </a:r>
            <a:endParaRPr lang="en-US" sz="840" dirty="0"/>
          </a:p>
        </p:txBody>
      </p:sp>
      <p:sp>
        <p:nvSpPr>
          <p:cNvPr id="42" name="Text 40"/>
          <p:cNvSpPr/>
          <p:nvPr/>
        </p:nvSpPr>
        <p:spPr>
          <a:xfrm>
            <a:off x="8101584" y="4498848"/>
            <a:ext cx="960120" cy="36576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mo" pitchFamily="34" charset="0"/>
                <a:ea typeface="Arimo" pitchFamily="34" charset="-122"/>
                <a:cs typeface="Arimo" pitchFamily="34" charset="-120"/>
              </a:rPr>
              <a:t>63</a:t>
            </a:r>
            <a:endParaRPr lang="en-US" sz="2200" dirty="0"/>
          </a:p>
        </p:txBody>
      </p:sp>
      <p:sp>
        <p:nvSpPr>
          <p:cNvPr id="43" name="Text 41"/>
          <p:cNvSpPr/>
          <p:nvPr/>
        </p:nvSpPr>
        <p:spPr>
          <a:xfrm>
            <a:off x="8101584" y="4892040"/>
            <a:ext cx="960120" cy="274320"/>
          </a:xfrm>
          <a:prstGeom prst="rect">
            <a:avLst/>
          </a:prstGeom>
          <a:noFill/>
          <a:ln/>
        </p:spPr>
        <p:txBody>
          <a:bodyPr wrap="square" lIns="0" tIns="0" rIns="0" bIns="0" rtlCol="0" anchor="ctr">
            <a:normAutofit/>
          </a:bodyPr>
          <a:lstStyle/>
          <a:p>
            <a:pPr algn="ctr" indent="0" marL="0">
              <a:buNone/>
            </a:pPr>
            <a:r>
              <a:rPr lang="en-US" sz="840" dirty="0">
                <a:solidFill>
                  <a:srgbClr val="93A7BA"/>
                </a:solidFill>
                <a:latin typeface="Arimo" pitchFamily="34" charset="0"/>
                <a:ea typeface="Arimo" pitchFamily="34" charset="-122"/>
                <a:cs typeface="Arimo" pitchFamily="34" charset="-120"/>
              </a:rPr>
              <a:t>columns</a:t>
            </a:r>
            <a:endParaRPr lang="en-US" sz="840" dirty="0"/>
          </a:p>
        </p:txBody>
      </p:sp>
      <p:sp>
        <p:nvSpPr>
          <p:cNvPr id="44" name="Text 42"/>
          <p:cNvSpPr/>
          <p:nvPr/>
        </p:nvSpPr>
        <p:spPr>
          <a:xfrm>
            <a:off x="9134856" y="4498848"/>
            <a:ext cx="960120" cy="36576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mo" pitchFamily="34" charset="0"/>
                <a:ea typeface="Arimo" pitchFamily="34" charset="-122"/>
                <a:cs typeface="Arimo" pitchFamily="34" charset="-120"/>
              </a:rPr>
              <a:t>48</a:t>
            </a:r>
            <a:endParaRPr lang="en-US" sz="2200" dirty="0"/>
          </a:p>
        </p:txBody>
      </p:sp>
      <p:sp>
        <p:nvSpPr>
          <p:cNvPr id="45" name="Text 43"/>
          <p:cNvSpPr/>
          <p:nvPr/>
        </p:nvSpPr>
        <p:spPr>
          <a:xfrm>
            <a:off x="9134856" y="4892040"/>
            <a:ext cx="960120" cy="274320"/>
          </a:xfrm>
          <a:prstGeom prst="rect">
            <a:avLst/>
          </a:prstGeom>
          <a:noFill/>
          <a:ln/>
        </p:spPr>
        <p:txBody>
          <a:bodyPr wrap="square" lIns="0" tIns="0" rIns="0" bIns="0" rtlCol="0" anchor="ctr">
            <a:normAutofit/>
          </a:bodyPr>
          <a:lstStyle/>
          <a:p>
            <a:pPr algn="ctr" indent="0" marL="0">
              <a:buNone/>
            </a:pPr>
            <a:r>
              <a:rPr lang="en-US" sz="840" dirty="0">
                <a:solidFill>
                  <a:srgbClr val="93A7BA"/>
                </a:solidFill>
                <a:latin typeface="Arimo" pitchFamily="34" charset="0"/>
                <a:ea typeface="Arimo" pitchFamily="34" charset="-122"/>
                <a:cs typeface="Arimo" pitchFamily="34" charset="-120"/>
              </a:rPr>
              <a:t>model features</a:t>
            </a:r>
            <a:endParaRPr lang="en-US" sz="840" dirty="0"/>
          </a:p>
        </p:txBody>
      </p:sp>
      <p:sp>
        <p:nvSpPr>
          <p:cNvPr id="46" name="Text 44"/>
          <p:cNvSpPr/>
          <p:nvPr/>
        </p:nvSpPr>
        <p:spPr>
          <a:xfrm>
            <a:off x="10168128" y="4498848"/>
            <a:ext cx="960120" cy="36576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mo" pitchFamily="34" charset="0"/>
                <a:ea typeface="Arimo" pitchFamily="34" charset="-122"/>
                <a:cs typeface="Arimo" pitchFamily="34" charset="-120"/>
              </a:rPr>
              <a:t>Ridge</a:t>
            </a:r>
            <a:endParaRPr lang="en-US" sz="1800" dirty="0"/>
          </a:p>
        </p:txBody>
      </p:sp>
      <p:sp>
        <p:nvSpPr>
          <p:cNvPr id="47" name="Text 45"/>
          <p:cNvSpPr/>
          <p:nvPr/>
        </p:nvSpPr>
        <p:spPr>
          <a:xfrm>
            <a:off x="10168128" y="4892040"/>
            <a:ext cx="960120" cy="274320"/>
          </a:xfrm>
          <a:prstGeom prst="rect">
            <a:avLst/>
          </a:prstGeom>
          <a:noFill/>
          <a:ln/>
        </p:spPr>
        <p:txBody>
          <a:bodyPr wrap="square" lIns="0" tIns="0" rIns="0" bIns="0" rtlCol="0" anchor="ctr">
            <a:normAutofit/>
          </a:bodyPr>
          <a:lstStyle/>
          <a:p>
            <a:pPr algn="ctr" indent="0" marL="0">
              <a:buNone/>
            </a:pPr>
            <a:r>
              <a:rPr lang="en-US" sz="840" dirty="0">
                <a:solidFill>
                  <a:srgbClr val="93A7BA"/>
                </a:solidFill>
                <a:latin typeface="Arimo" pitchFamily="34" charset="0"/>
                <a:ea typeface="Arimo" pitchFamily="34" charset="-122"/>
                <a:cs typeface="Arimo" pitchFamily="34" charset="-120"/>
              </a:rPr>
              <a:t>selected model</a:t>
            </a:r>
            <a:endParaRPr lang="en-US" sz="840" dirty="0"/>
          </a:p>
        </p:txBody>
      </p:sp>
      <p:sp>
        <p:nvSpPr>
          <p:cNvPr id="48" name="Text 46"/>
          <p:cNvSpPr/>
          <p:nvPr/>
        </p:nvSpPr>
        <p:spPr>
          <a:xfrm>
            <a:off x="566928" y="6199632"/>
            <a:ext cx="5303520" cy="274320"/>
          </a:xfrm>
          <a:prstGeom prst="rect">
            <a:avLst/>
          </a:prstGeom>
          <a:noFill/>
          <a:ln/>
        </p:spPr>
        <p:txBody>
          <a:bodyPr wrap="square" lIns="0" tIns="0" rIns="0" bIns="0" rtlCol="0" anchor="ctr">
            <a:normAutofit/>
          </a:bodyPr>
          <a:lstStyle/>
          <a:p>
            <a:pPr algn="l" indent="0" marL="0">
              <a:buNone/>
            </a:pPr>
            <a:r>
              <a:rPr lang="en-US" sz="1050" dirty="0">
                <a:solidFill>
                  <a:srgbClr val="91A6BA"/>
                </a:solidFill>
                <a:latin typeface="Arimo" pitchFamily="34" charset="0"/>
                <a:ea typeface="Arimo" pitchFamily="34" charset="-122"/>
                <a:cs typeface="Arimo" pitchFamily="34" charset="-120"/>
              </a:rPr>
              <a:t>Daniel Lankry  •  Computer Science, HIT</a:t>
            </a:r>
            <a:endParaRPr lang="en-US" sz="1050" dirty="0"/>
          </a:p>
        </p:txBody>
      </p:sp>
      <p:sp>
        <p:nvSpPr>
          <p:cNvPr id="49" name="Text 47"/>
          <p:cNvSpPr/>
          <p:nvPr/>
        </p:nvSpPr>
        <p:spPr>
          <a:xfrm>
            <a:off x="9363456" y="6199632"/>
            <a:ext cx="2148840" cy="274320"/>
          </a:xfrm>
          <a:prstGeom prst="rect">
            <a:avLst/>
          </a:prstGeom>
          <a:noFill/>
          <a:ln/>
        </p:spPr>
        <p:txBody>
          <a:bodyPr wrap="square" lIns="0" tIns="0" rIns="0" bIns="0" rtlCol="0" anchor="ctr">
            <a:normAutofit/>
          </a:bodyPr>
          <a:lstStyle/>
          <a:p>
            <a:pPr algn="r" indent="0" marL="0">
              <a:buNone/>
            </a:pPr>
            <a:r>
              <a:rPr lang="en-US" sz="1050" dirty="0">
                <a:solidFill>
                  <a:srgbClr val="91A6BA"/>
                </a:solidFill>
                <a:latin typeface="Arimo" pitchFamily="34" charset="0"/>
                <a:ea typeface="Arimo" pitchFamily="34" charset="-122"/>
                <a:cs typeface="Arimo" pitchFamily="34" charset="-120"/>
              </a:rPr>
              <a:t>5-slide presentation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47472"/>
            <a:ext cx="3474720"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2F6BFF"/>
                </a:solidFill>
                <a:latin typeface="Arimo" pitchFamily="34" charset="0"/>
                <a:ea typeface="Arimo" pitchFamily="34" charset="-122"/>
                <a:cs typeface="Arimo" pitchFamily="34" charset="-120"/>
              </a:rPr>
              <a:t>01 • DATA PIPELINE</a:t>
            </a:r>
            <a:endParaRPr lang="en-US" sz="1000" dirty="0"/>
          </a:p>
        </p:txBody>
      </p:sp>
      <p:sp>
        <p:nvSpPr>
          <p:cNvPr id="3" name="Text 1"/>
          <p:cNvSpPr/>
          <p:nvPr/>
        </p:nvSpPr>
        <p:spPr>
          <a:xfrm>
            <a:off x="530352" y="658368"/>
            <a:ext cx="10972800" cy="566928"/>
          </a:xfrm>
          <a:prstGeom prst="rect">
            <a:avLst/>
          </a:prstGeom>
          <a:noFill/>
          <a:ln/>
        </p:spPr>
        <p:txBody>
          <a:bodyPr wrap="square" lIns="0" tIns="0" rIns="0" bIns="0" rtlCol="0" anchor="ctr">
            <a:normAutofit/>
          </a:bodyPr>
          <a:lstStyle/>
          <a:p>
            <a:pPr algn="l" indent="0" marL="0">
              <a:buNone/>
            </a:pPr>
            <a:r>
              <a:rPr lang="en-US" sz="2700" b="1" dirty="0">
                <a:solidFill>
                  <a:srgbClr val="071A2B"/>
                </a:solidFill>
                <a:latin typeface="Arimo" pitchFamily="34" charset="0"/>
                <a:ea typeface="Arimo" pitchFamily="34" charset="-122"/>
                <a:cs typeface="Arimo" pitchFamily="34" charset="-120"/>
              </a:rPr>
              <a:t>From websites to model-ready data</a:t>
            </a:r>
            <a:endParaRPr lang="en-US" sz="2700" dirty="0"/>
          </a:p>
        </p:txBody>
      </p:sp>
      <p:sp>
        <p:nvSpPr>
          <p:cNvPr id="4" name="Text 2"/>
          <p:cNvSpPr/>
          <p:nvPr/>
        </p:nvSpPr>
        <p:spPr>
          <a:xfrm>
            <a:off x="530352" y="1234440"/>
            <a:ext cx="10881360" cy="347472"/>
          </a:xfrm>
          <a:prstGeom prst="rect">
            <a:avLst/>
          </a:prstGeom>
          <a:noFill/>
          <a:ln/>
        </p:spPr>
        <p:txBody>
          <a:bodyPr wrap="square" lIns="0" tIns="0" rIns="0" bIns="0" rtlCol="0" anchor="ctr">
            <a:normAutofit/>
          </a:bodyPr>
          <a:lstStyle/>
          <a:p>
            <a:pPr algn="l" indent="0" marL="0">
              <a:buNone/>
            </a:pPr>
            <a:r>
              <a:rPr lang="en-US" sz="1280" dirty="0">
                <a:solidFill>
                  <a:srgbClr val="657383"/>
                </a:solidFill>
                <a:latin typeface="Arimo" pitchFamily="34" charset="0"/>
                <a:ea typeface="Arimo" pitchFamily="34" charset="-122"/>
                <a:cs typeface="Arimo" pitchFamily="34" charset="-120"/>
              </a:rPr>
              <a:t>The project builds its own dataset, keeps scraping evidence, then creates a compact table for analysis and modeling.</a:t>
            </a:r>
            <a:endParaRPr lang="en-US" sz="1280" dirty="0"/>
          </a:p>
        </p:txBody>
      </p:sp>
      <p:sp>
        <p:nvSpPr>
          <p:cNvPr id="5" name="Text 3"/>
          <p:cNvSpPr/>
          <p:nvPr/>
        </p:nvSpPr>
        <p:spPr>
          <a:xfrm>
            <a:off x="566928" y="1719072"/>
            <a:ext cx="1828800" cy="256032"/>
          </a:xfrm>
          <a:prstGeom prst="rect">
            <a:avLst/>
          </a:prstGeom>
          <a:noFill/>
          <a:ln/>
        </p:spPr>
        <p:txBody>
          <a:bodyPr wrap="square" lIns="0" tIns="0" rIns="0" bIns="0" rtlCol="0" anchor="ctr">
            <a:normAutofit/>
          </a:bodyPr>
          <a:lstStyle/>
          <a:p>
            <a:pPr algn="l" indent="0" marL="0">
              <a:buNone/>
            </a:pPr>
            <a:r>
              <a:rPr lang="en-US" sz="950" b="1" spc="110" kern="0" dirty="0">
                <a:solidFill>
                  <a:srgbClr val="657383"/>
                </a:solidFill>
                <a:latin typeface="Arimo" pitchFamily="34" charset="0"/>
                <a:ea typeface="Arimo" pitchFamily="34" charset="-122"/>
                <a:cs typeface="Arimo" pitchFamily="34" charset="-120"/>
              </a:rPr>
              <a:t>APPROVED SOURCES</a:t>
            </a:r>
            <a:endParaRPr lang="en-US" sz="950" dirty="0"/>
          </a:p>
        </p:txBody>
      </p:sp>
      <p:sp>
        <p:nvSpPr>
          <p:cNvPr id="6" name="Shape 4"/>
          <p:cNvSpPr/>
          <p:nvPr/>
        </p:nvSpPr>
        <p:spPr>
          <a:xfrm>
            <a:off x="566928" y="2057400"/>
            <a:ext cx="1965960" cy="566928"/>
          </a:xfrm>
          <a:prstGeom prst="roundRect">
            <a:avLst>
              <a:gd name="adj" fmla="val 14516"/>
            </a:avLst>
          </a:prstGeom>
          <a:solidFill>
            <a:srgbClr val="E8F8FA"/>
          </a:solidFill>
          <a:ln w="12700">
            <a:solidFill>
              <a:srgbClr val="E8F8FA"/>
            </a:solidFill>
            <a:prstDash val="solid"/>
          </a:ln>
        </p:spPr>
      </p:sp>
      <p:sp>
        <p:nvSpPr>
          <p:cNvPr id="7" name="Shape 5"/>
          <p:cNvSpPr/>
          <p:nvPr/>
        </p:nvSpPr>
        <p:spPr>
          <a:xfrm>
            <a:off x="731520" y="2212848"/>
            <a:ext cx="256032" cy="256032"/>
          </a:xfrm>
          <a:prstGeom prst="ellipse">
            <a:avLst/>
          </a:prstGeom>
          <a:solidFill>
            <a:srgbClr val="16826C"/>
          </a:solidFill>
          <a:ln w="12700">
            <a:solidFill>
              <a:srgbClr val="16826C">
                <a:alpha val="0"/>
              </a:srgbClr>
            </a:solidFill>
            <a:prstDash val="solid"/>
          </a:ln>
        </p:spPr>
      </p:sp>
      <p:sp>
        <p:nvSpPr>
          <p:cNvPr id="8" name="Text 6"/>
          <p:cNvSpPr/>
          <p:nvPr/>
        </p:nvSpPr>
        <p:spPr>
          <a:xfrm>
            <a:off x="1078992" y="2121408"/>
            <a:ext cx="868680" cy="219456"/>
          </a:xfrm>
          <a:prstGeom prst="rect">
            <a:avLst/>
          </a:prstGeom>
          <a:noFill/>
          <a:ln/>
        </p:spPr>
        <p:txBody>
          <a:bodyPr wrap="square" lIns="0" tIns="0" rIns="0" bIns="0" rtlCol="0" anchor="ctr">
            <a:normAutofit/>
          </a:bodyPr>
          <a:lstStyle/>
          <a:p>
            <a:pPr algn="l" indent="0" marL="0">
              <a:buNone/>
            </a:pPr>
            <a:r>
              <a:rPr lang="en-US" sz="1120" b="1" dirty="0">
                <a:solidFill>
                  <a:srgbClr val="15202B"/>
                </a:solidFill>
                <a:latin typeface="Arimo" pitchFamily="34" charset="0"/>
                <a:ea typeface="Arimo" pitchFamily="34" charset="-122"/>
                <a:cs typeface="Arimo" pitchFamily="34" charset="-120"/>
              </a:rPr>
              <a:t>InfoCasas</a:t>
            </a:r>
            <a:endParaRPr lang="en-US" sz="1120" dirty="0"/>
          </a:p>
        </p:txBody>
      </p:sp>
      <p:sp>
        <p:nvSpPr>
          <p:cNvPr id="9" name="Text 7"/>
          <p:cNvSpPr/>
          <p:nvPr/>
        </p:nvSpPr>
        <p:spPr>
          <a:xfrm>
            <a:off x="1078992" y="2340864"/>
            <a:ext cx="1124712" cy="164592"/>
          </a:xfrm>
          <a:prstGeom prst="rect">
            <a:avLst/>
          </a:prstGeom>
          <a:noFill/>
          <a:ln/>
        </p:spPr>
        <p:txBody>
          <a:bodyPr wrap="square" lIns="0" tIns="0" rIns="0" bIns="0" rtlCol="0" anchor="ctr">
            <a:normAutofit/>
          </a:bodyPr>
          <a:lstStyle/>
          <a:p>
            <a:pPr algn="l" indent="0" marL="0">
              <a:buNone/>
            </a:pPr>
            <a:r>
              <a:rPr lang="en-US" sz="840" dirty="0">
                <a:solidFill>
                  <a:srgbClr val="657383"/>
                </a:solidFill>
                <a:latin typeface="Arimo" pitchFamily="34" charset="0"/>
                <a:ea typeface="Arimo" pitchFamily="34" charset="-122"/>
                <a:cs typeface="Arimo" pitchFamily="34" charset="-120"/>
              </a:rPr>
              <a:t>Uruguay</a:t>
            </a:r>
            <a:endParaRPr lang="en-US" sz="840" dirty="0"/>
          </a:p>
        </p:txBody>
      </p:sp>
      <p:sp>
        <p:nvSpPr>
          <p:cNvPr id="10" name="Text 8"/>
          <p:cNvSpPr/>
          <p:nvPr/>
        </p:nvSpPr>
        <p:spPr>
          <a:xfrm>
            <a:off x="1984248" y="2139696"/>
            <a:ext cx="393192" cy="274320"/>
          </a:xfrm>
          <a:prstGeom prst="rect">
            <a:avLst/>
          </a:prstGeom>
          <a:noFill/>
          <a:ln/>
        </p:spPr>
        <p:txBody>
          <a:bodyPr wrap="square" lIns="0" tIns="0" rIns="0" bIns="0" rtlCol="0" anchor="ctr">
            <a:normAutofit/>
          </a:bodyPr>
          <a:lstStyle/>
          <a:p>
            <a:pPr algn="r" indent="0" marL="0">
              <a:buNone/>
            </a:pPr>
            <a:r>
              <a:rPr lang="en-US" sz="1220" b="1" dirty="0">
                <a:solidFill>
                  <a:srgbClr val="16826C"/>
                </a:solidFill>
                <a:latin typeface="Arimo" pitchFamily="34" charset="0"/>
                <a:ea typeface="Arimo" pitchFamily="34" charset="-122"/>
                <a:cs typeface="Arimo" pitchFamily="34" charset="-120"/>
              </a:rPr>
              <a:t>1,185</a:t>
            </a:r>
            <a:endParaRPr lang="en-US" sz="1220" dirty="0"/>
          </a:p>
        </p:txBody>
      </p:sp>
      <p:sp>
        <p:nvSpPr>
          <p:cNvPr id="11" name="Shape 9"/>
          <p:cNvSpPr/>
          <p:nvPr/>
        </p:nvSpPr>
        <p:spPr>
          <a:xfrm>
            <a:off x="566928" y="2779776"/>
            <a:ext cx="1965960" cy="566928"/>
          </a:xfrm>
          <a:prstGeom prst="roundRect">
            <a:avLst>
              <a:gd name="adj" fmla="val 14516"/>
            </a:avLst>
          </a:prstGeom>
          <a:solidFill>
            <a:srgbClr val="E8F0FF"/>
          </a:solidFill>
          <a:ln w="12700">
            <a:solidFill>
              <a:srgbClr val="E8F0FF"/>
            </a:solidFill>
            <a:prstDash val="solid"/>
          </a:ln>
        </p:spPr>
      </p:sp>
      <p:sp>
        <p:nvSpPr>
          <p:cNvPr id="12" name="Shape 10"/>
          <p:cNvSpPr/>
          <p:nvPr/>
        </p:nvSpPr>
        <p:spPr>
          <a:xfrm>
            <a:off x="731520" y="2935224"/>
            <a:ext cx="256032" cy="256032"/>
          </a:xfrm>
          <a:prstGeom prst="ellipse">
            <a:avLst/>
          </a:prstGeom>
          <a:solidFill>
            <a:srgbClr val="2F6BFF"/>
          </a:solidFill>
          <a:ln w="12700">
            <a:solidFill>
              <a:srgbClr val="2F6BFF">
                <a:alpha val="0"/>
              </a:srgbClr>
            </a:solidFill>
            <a:prstDash val="solid"/>
          </a:ln>
        </p:spPr>
      </p:sp>
      <p:sp>
        <p:nvSpPr>
          <p:cNvPr id="13" name="Text 11"/>
          <p:cNvSpPr/>
          <p:nvPr/>
        </p:nvSpPr>
        <p:spPr>
          <a:xfrm>
            <a:off x="1078992" y="2843784"/>
            <a:ext cx="868680" cy="219456"/>
          </a:xfrm>
          <a:prstGeom prst="rect">
            <a:avLst/>
          </a:prstGeom>
          <a:noFill/>
          <a:ln/>
        </p:spPr>
        <p:txBody>
          <a:bodyPr wrap="square" lIns="0" tIns="0" rIns="0" bIns="0" rtlCol="0" anchor="ctr">
            <a:normAutofit/>
          </a:bodyPr>
          <a:lstStyle/>
          <a:p>
            <a:pPr algn="l" indent="0" marL="0">
              <a:buNone/>
            </a:pPr>
            <a:r>
              <a:rPr lang="en-US" sz="1120" b="1" dirty="0">
                <a:solidFill>
                  <a:srgbClr val="15202B"/>
                </a:solidFill>
                <a:latin typeface="Arimo" pitchFamily="34" charset="0"/>
                <a:ea typeface="Arimo" pitchFamily="34" charset="-122"/>
                <a:cs typeface="Arimo" pitchFamily="34" charset="-120"/>
              </a:rPr>
              <a:t>ZonaProp</a:t>
            </a:r>
            <a:endParaRPr lang="en-US" sz="1120" dirty="0"/>
          </a:p>
        </p:txBody>
      </p:sp>
      <p:sp>
        <p:nvSpPr>
          <p:cNvPr id="14" name="Text 12"/>
          <p:cNvSpPr/>
          <p:nvPr/>
        </p:nvSpPr>
        <p:spPr>
          <a:xfrm>
            <a:off x="1078992" y="3063240"/>
            <a:ext cx="1124712" cy="164592"/>
          </a:xfrm>
          <a:prstGeom prst="rect">
            <a:avLst/>
          </a:prstGeom>
          <a:noFill/>
          <a:ln/>
        </p:spPr>
        <p:txBody>
          <a:bodyPr wrap="square" lIns="0" tIns="0" rIns="0" bIns="0" rtlCol="0" anchor="ctr">
            <a:normAutofit/>
          </a:bodyPr>
          <a:lstStyle/>
          <a:p>
            <a:pPr algn="l" indent="0" marL="0">
              <a:buNone/>
            </a:pPr>
            <a:r>
              <a:rPr lang="en-US" sz="840" dirty="0">
                <a:solidFill>
                  <a:srgbClr val="657383"/>
                </a:solidFill>
                <a:latin typeface="Arimo" pitchFamily="34" charset="0"/>
                <a:ea typeface="Arimo" pitchFamily="34" charset="-122"/>
                <a:cs typeface="Arimo" pitchFamily="34" charset="-120"/>
              </a:rPr>
              <a:t>Argentina</a:t>
            </a:r>
            <a:endParaRPr lang="en-US" sz="840" dirty="0"/>
          </a:p>
        </p:txBody>
      </p:sp>
      <p:sp>
        <p:nvSpPr>
          <p:cNvPr id="15" name="Text 13"/>
          <p:cNvSpPr/>
          <p:nvPr/>
        </p:nvSpPr>
        <p:spPr>
          <a:xfrm>
            <a:off x="1984248" y="2862072"/>
            <a:ext cx="393192" cy="274320"/>
          </a:xfrm>
          <a:prstGeom prst="rect">
            <a:avLst/>
          </a:prstGeom>
          <a:noFill/>
          <a:ln/>
        </p:spPr>
        <p:txBody>
          <a:bodyPr wrap="square" lIns="0" tIns="0" rIns="0" bIns="0" rtlCol="0" anchor="ctr">
            <a:normAutofit/>
          </a:bodyPr>
          <a:lstStyle/>
          <a:p>
            <a:pPr algn="r" indent="0" marL="0">
              <a:buNone/>
            </a:pPr>
            <a:r>
              <a:rPr lang="en-US" sz="1220" b="1" dirty="0">
                <a:solidFill>
                  <a:srgbClr val="2F6BFF"/>
                </a:solidFill>
                <a:latin typeface="Arimo" pitchFamily="34" charset="0"/>
                <a:ea typeface="Arimo" pitchFamily="34" charset="-122"/>
                <a:cs typeface="Arimo" pitchFamily="34" charset="-120"/>
              </a:rPr>
              <a:t>581</a:t>
            </a:r>
            <a:endParaRPr lang="en-US" sz="1220" dirty="0"/>
          </a:p>
        </p:txBody>
      </p:sp>
      <p:sp>
        <p:nvSpPr>
          <p:cNvPr id="16" name="Shape 14"/>
          <p:cNvSpPr/>
          <p:nvPr/>
        </p:nvSpPr>
        <p:spPr>
          <a:xfrm>
            <a:off x="566928" y="3502152"/>
            <a:ext cx="1965960" cy="566928"/>
          </a:xfrm>
          <a:prstGeom prst="roundRect">
            <a:avLst>
              <a:gd name="adj" fmla="val 14516"/>
            </a:avLst>
          </a:prstGeom>
          <a:solidFill>
            <a:srgbClr val="FFF4E2"/>
          </a:solidFill>
          <a:ln w="12700">
            <a:solidFill>
              <a:srgbClr val="FFF4E2"/>
            </a:solidFill>
            <a:prstDash val="solid"/>
          </a:ln>
        </p:spPr>
      </p:sp>
      <p:sp>
        <p:nvSpPr>
          <p:cNvPr id="17" name="Shape 15"/>
          <p:cNvSpPr/>
          <p:nvPr/>
        </p:nvSpPr>
        <p:spPr>
          <a:xfrm>
            <a:off x="731520" y="3657600"/>
            <a:ext cx="256032" cy="256032"/>
          </a:xfrm>
          <a:prstGeom prst="ellipse">
            <a:avLst/>
          </a:prstGeom>
          <a:solidFill>
            <a:srgbClr val="F1A73C"/>
          </a:solidFill>
          <a:ln w="12700">
            <a:solidFill>
              <a:srgbClr val="F1A73C">
                <a:alpha val="0"/>
              </a:srgbClr>
            </a:solidFill>
            <a:prstDash val="solid"/>
          </a:ln>
        </p:spPr>
      </p:sp>
      <p:sp>
        <p:nvSpPr>
          <p:cNvPr id="18" name="Text 16"/>
          <p:cNvSpPr/>
          <p:nvPr/>
        </p:nvSpPr>
        <p:spPr>
          <a:xfrm>
            <a:off x="1078992" y="3566160"/>
            <a:ext cx="868680" cy="219456"/>
          </a:xfrm>
          <a:prstGeom prst="rect">
            <a:avLst/>
          </a:prstGeom>
          <a:noFill/>
          <a:ln/>
        </p:spPr>
        <p:txBody>
          <a:bodyPr wrap="square" lIns="0" tIns="0" rIns="0" bIns="0" rtlCol="0" anchor="ctr">
            <a:normAutofit/>
          </a:bodyPr>
          <a:lstStyle/>
          <a:p>
            <a:pPr algn="l" indent="0" marL="0">
              <a:buNone/>
            </a:pPr>
            <a:r>
              <a:rPr lang="en-US" sz="1120" b="1" dirty="0">
                <a:solidFill>
                  <a:srgbClr val="15202B"/>
                </a:solidFill>
                <a:latin typeface="Arimo" pitchFamily="34" charset="0"/>
                <a:ea typeface="Arimo" pitchFamily="34" charset="-122"/>
                <a:cs typeface="Arimo" pitchFamily="34" charset="-120"/>
              </a:rPr>
              <a:t>ArgenProp</a:t>
            </a:r>
            <a:endParaRPr lang="en-US" sz="1120" dirty="0"/>
          </a:p>
        </p:txBody>
      </p:sp>
      <p:sp>
        <p:nvSpPr>
          <p:cNvPr id="19" name="Text 17"/>
          <p:cNvSpPr/>
          <p:nvPr/>
        </p:nvSpPr>
        <p:spPr>
          <a:xfrm>
            <a:off x="1078992" y="3785616"/>
            <a:ext cx="1124712" cy="164592"/>
          </a:xfrm>
          <a:prstGeom prst="rect">
            <a:avLst/>
          </a:prstGeom>
          <a:noFill/>
          <a:ln/>
        </p:spPr>
        <p:txBody>
          <a:bodyPr wrap="square" lIns="0" tIns="0" rIns="0" bIns="0" rtlCol="0" anchor="ctr">
            <a:normAutofit/>
          </a:bodyPr>
          <a:lstStyle/>
          <a:p>
            <a:pPr algn="l" indent="0" marL="0">
              <a:buNone/>
            </a:pPr>
            <a:r>
              <a:rPr lang="en-US" sz="840" dirty="0">
                <a:solidFill>
                  <a:srgbClr val="657383"/>
                </a:solidFill>
                <a:latin typeface="Arimo" pitchFamily="34" charset="0"/>
                <a:ea typeface="Arimo" pitchFamily="34" charset="-122"/>
                <a:cs typeface="Arimo" pitchFamily="34" charset="-120"/>
              </a:rPr>
              <a:t>Argentina</a:t>
            </a:r>
            <a:endParaRPr lang="en-US" sz="840" dirty="0"/>
          </a:p>
        </p:txBody>
      </p:sp>
      <p:sp>
        <p:nvSpPr>
          <p:cNvPr id="20" name="Text 18"/>
          <p:cNvSpPr/>
          <p:nvPr/>
        </p:nvSpPr>
        <p:spPr>
          <a:xfrm>
            <a:off x="1984248" y="3584448"/>
            <a:ext cx="393192" cy="274320"/>
          </a:xfrm>
          <a:prstGeom prst="rect">
            <a:avLst/>
          </a:prstGeom>
          <a:noFill/>
          <a:ln/>
        </p:spPr>
        <p:txBody>
          <a:bodyPr wrap="square" lIns="0" tIns="0" rIns="0" bIns="0" rtlCol="0" anchor="ctr">
            <a:normAutofit/>
          </a:bodyPr>
          <a:lstStyle/>
          <a:p>
            <a:pPr algn="r" indent="0" marL="0">
              <a:buNone/>
            </a:pPr>
            <a:r>
              <a:rPr lang="en-US" sz="1220" b="1" dirty="0">
                <a:solidFill>
                  <a:srgbClr val="F1A73C"/>
                </a:solidFill>
                <a:latin typeface="Arimo" pitchFamily="34" charset="0"/>
                <a:ea typeface="Arimo" pitchFamily="34" charset="-122"/>
                <a:cs typeface="Arimo" pitchFamily="34" charset="-120"/>
              </a:rPr>
              <a:t>11</a:t>
            </a:r>
            <a:endParaRPr lang="en-US" sz="1220" dirty="0"/>
          </a:p>
        </p:txBody>
      </p:sp>
      <p:sp>
        <p:nvSpPr>
          <p:cNvPr id="21" name="Shape 19"/>
          <p:cNvSpPr/>
          <p:nvPr/>
        </p:nvSpPr>
        <p:spPr>
          <a:xfrm>
            <a:off x="566928" y="4224528"/>
            <a:ext cx="1965960" cy="566928"/>
          </a:xfrm>
          <a:prstGeom prst="roundRect">
            <a:avLst>
              <a:gd name="adj" fmla="val 14516"/>
            </a:avLst>
          </a:prstGeom>
          <a:solidFill>
            <a:srgbClr val="FCEAEA"/>
          </a:solidFill>
          <a:ln w="12700">
            <a:solidFill>
              <a:srgbClr val="FCEAEA"/>
            </a:solidFill>
            <a:prstDash val="solid"/>
          </a:ln>
        </p:spPr>
      </p:sp>
      <p:sp>
        <p:nvSpPr>
          <p:cNvPr id="22" name="Shape 20"/>
          <p:cNvSpPr/>
          <p:nvPr/>
        </p:nvSpPr>
        <p:spPr>
          <a:xfrm>
            <a:off x="731520" y="4379976"/>
            <a:ext cx="256032" cy="256032"/>
          </a:xfrm>
          <a:prstGeom prst="ellipse">
            <a:avLst/>
          </a:prstGeom>
          <a:solidFill>
            <a:srgbClr val="D75A5A"/>
          </a:solidFill>
          <a:ln w="12700">
            <a:solidFill>
              <a:srgbClr val="D75A5A">
                <a:alpha val="0"/>
              </a:srgbClr>
            </a:solidFill>
            <a:prstDash val="solid"/>
          </a:ln>
        </p:spPr>
      </p:sp>
      <p:sp>
        <p:nvSpPr>
          <p:cNvPr id="23" name="Text 21"/>
          <p:cNvSpPr/>
          <p:nvPr/>
        </p:nvSpPr>
        <p:spPr>
          <a:xfrm>
            <a:off x="1078992" y="4288536"/>
            <a:ext cx="868680" cy="219456"/>
          </a:xfrm>
          <a:prstGeom prst="rect">
            <a:avLst/>
          </a:prstGeom>
          <a:noFill/>
          <a:ln/>
        </p:spPr>
        <p:txBody>
          <a:bodyPr wrap="square" lIns="0" tIns="0" rIns="0" bIns="0" rtlCol="0" anchor="ctr">
            <a:normAutofit/>
          </a:bodyPr>
          <a:lstStyle/>
          <a:p>
            <a:pPr algn="l" indent="0" marL="0">
              <a:buNone/>
            </a:pPr>
            <a:r>
              <a:rPr lang="en-US" sz="1120" b="1" dirty="0">
                <a:solidFill>
                  <a:srgbClr val="15202B"/>
                </a:solidFill>
                <a:latin typeface="Arimo" pitchFamily="34" charset="0"/>
                <a:ea typeface="Arimo" pitchFamily="34" charset="-122"/>
                <a:cs typeface="Arimo" pitchFamily="34" charset="-120"/>
              </a:rPr>
              <a:t>Gallito</a:t>
            </a:r>
            <a:endParaRPr lang="en-US" sz="1120" dirty="0"/>
          </a:p>
        </p:txBody>
      </p:sp>
      <p:sp>
        <p:nvSpPr>
          <p:cNvPr id="24" name="Text 22"/>
          <p:cNvSpPr/>
          <p:nvPr/>
        </p:nvSpPr>
        <p:spPr>
          <a:xfrm>
            <a:off x="1078992" y="4507992"/>
            <a:ext cx="1124712" cy="164592"/>
          </a:xfrm>
          <a:prstGeom prst="rect">
            <a:avLst/>
          </a:prstGeom>
          <a:noFill/>
          <a:ln/>
        </p:spPr>
        <p:txBody>
          <a:bodyPr wrap="square" lIns="0" tIns="0" rIns="0" bIns="0" rtlCol="0" anchor="ctr">
            <a:normAutofit/>
          </a:bodyPr>
          <a:lstStyle/>
          <a:p>
            <a:pPr algn="l" indent="0" marL="0">
              <a:buNone/>
            </a:pPr>
            <a:r>
              <a:rPr lang="en-US" sz="840" dirty="0">
                <a:solidFill>
                  <a:srgbClr val="657383"/>
                </a:solidFill>
                <a:latin typeface="Arimo" pitchFamily="34" charset="0"/>
                <a:ea typeface="Arimo" pitchFamily="34" charset="-122"/>
                <a:cs typeface="Arimo" pitchFamily="34" charset="-120"/>
              </a:rPr>
              <a:t>Cloudflare blocked</a:t>
            </a:r>
            <a:endParaRPr lang="en-US" sz="840" dirty="0"/>
          </a:p>
        </p:txBody>
      </p:sp>
      <p:sp>
        <p:nvSpPr>
          <p:cNvPr id="25" name="Text 23"/>
          <p:cNvSpPr/>
          <p:nvPr/>
        </p:nvSpPr>
        <p:spPr>
          <a:xfrm>
            <a:off x="1984248" y="4306824"/>
            <a:ext cx="393192" cy="274320"/>
          </a:xfrm>
          <a:prstGeom prst="rect">
            <a:avLst/>
          </a:prstGeom>
          <a:noFill/>
          <a:ln/>
        </p:spPr>
        <p:txBody>
          <a:bodyPr wrap="square" lIns="0" tIns="0" rIns="0" bIns="0" rtlCol="0" anchor="ctr">
            <a:normAutofit/>
          </a:bodyPr>
          <a:lstStyle/>
          <a:p>
            <a:pPr algn="r" indent="0" marL="0">
              <a:buNone/>
            </a:pPr>
            <a:r>
              <a:rPr lang="en-US" sz="1220" b="1" dirty="0">
                <a:solidFill>
                  <a:srgbClr val="D75A5A"/>
                </a:solidFill>
                <a:latin typeface="Arimo" pitchFamily="34" charset="0"/>
                <a:ea typeface="Arimo" pitchFamily="34" charset="-122"/>
                <a:cs typeface="Arimo" pitchFamily="34" charset="-120"/>
              </a:rPr>
              <a:t>0</a:t>
            </a:r>
            <a:endParaRPr lang="en-US" sz="1220" dirty="0"/>
          </a:p>
        </p:txBody>
      </p:sp>
      <p:sp>
        <p:nvSpPr>
          <p:cNvPr id="26" name="Shape 24"/>
          <p:cNvSpPr/>
          <p:nvPr/>
        </p:nvSpPr>
        <p:spPr>
          <a:xfrm>
            <a:off x="2651760" y="3246120"/>
            <a:ext cx="548640" cy="0"/>
          </a:xfrm>
          <a:prstGeom prst="line">
            <a:avLst/>
          </a:prstGeom>
          <a:noFill/>
          <a:ln w="25400">
            <a:solidFill>
              <a:srgbClr val="2F6BFF"/>
            </a:solidFill>
            <a:prstDash val="solid"/>
            <a:headEnd type="none"/>
            <a:tailEnd type="triangle"/>
          </a:ln>
        </p:spPr>
      </p:sp>
      <p:sp>
        <p:nvSpPr>
          <p:cNvPr id="27" name="Shape 25"/>
          <p:cNvSpPr/>
          <p:nvPr/>
        </p:nvSpPr>
        <p:spPr>
          <a:xfrm>
            <a:off x="3310128" y="2075688"/>
            <a:ext cx="2011680" cy="2322576"/>
          </a:xfrm>
          <a:prstGeom prst="roundRect">
            <a:avLst>
              <a:gd name="adj" fmla="val 5455"/>
            </a:avLst>
          </a:prstGeom>
          <a:solidFill>
            <a:srgbClr val="FFFFFF"/>
          </a:solidFill>
          <a:ln w="12700">
            <a:solidFill>
              <a:srgbClr val="DDE4EC"/>
            </a:solidFill>
            <a:prstDash val="solid"/>
          </a:ln>
        </p:spPr>
      </p:sp>
      <p:sp>
        <p:nvSpPr>
          <p:cNvPr id="28" name="Text 26"/>
          <p:cNvSpPr/>
          <p:nvPr/>
        </p:nvSpPr>
        <p:spPr>
          <a:xfrm>
            <a:off x="3520440" y="2304288"/>
            <a:ext cx="1591056" cy="320040"/>
          </a:xfrm>
          <a:prstGeom prst="rect">
            <a:avLst/>
          </a:prstGeom>
          <a:noFill/>
          <a:ln/>
        </p:spPr>
        <p:txBody>
          <a:bodyPr wrap="square" lIns="0" tIns="0" rIns="0" bIns="0" rtlCol="0" anchor="ctr">
            <a:normAutofit/>
          </a:bodyPr>
          <a:lstStyle/>
          <a:p>
            <a:pPr algn="ctr" indent="0" marL="0">
              <a:buNone/>
            </a:pPr>
            <a:r>
              <a:rPr lang="en-US" sz="1300" b="1" dirty="0">
                <a:solidFill>
                  <a:srgbClr val="071A2B"/>
                </a:solidFill>
                <a:latin typeface="Arimo" pitchFamily="34" charset="0"/>
                <a:ea typeface="Arimo" pitchFamily="34" charset="-122"/>
                <a:cs typeface="Arimo" pitchFamily="34" charset="-120"/>
              </a:rPr>
              <a:t>SCRAPE + CLEAN</a:t>
            </a:r>
            <a:endParaRPr lang="en-US" sz="1300" dirty="0"/>
          </a:p>
        </p:txBody>
      </p:sp>
      <p:sp>
        <p:nvSpPr>
          <p:cNvPr id="29" name="Text 27"/>
          <p:cNvSpPr/>
          <p:nvPr/>
        </p:nvSpPr>
        <p:spPr>
          <a:xfrm>
            <a:off x="3584448" y="2743200"/>
            <a:ext cx="1463040" cy="1051560"/>
          </a:xfrm>
          <a:prstGeom prst="rect">
            <a:avLst/>
          </a:prstGeom>
          <a:noFill/>
          <a:ln/>
        </p:spPr>
        <p:txBody>
          <a:bodyPr wrap="square" lIns="0" tIns="0" rIns="0" bIns="0" rtlCol="0" anchor="t">
            <a:normAutofit/>
          </a:bodyPr>
          <a:lstStyle/>
          <a:p>
            <a:pPr algn="l" indent="0" marL="0">
              <a:buNone/>
            </a:pPr>
            <a:r>
              <a:rPr lang="en-US" sz="1040" dirty="0">
                <a:solidFill>
                  <a:srgbClr val="657383"/>
                </a:solidFill>
                <a:latin typeface="Arimo" pitchFamily="34" charset="0"/>
                <a:ea typeface="Arimo" pitchFamily="34" charset="-122"/>
                <a:cs typeface="Arimo" pitchFamily="34" charset="-120"/>
              </a:rPr>
              <a:t>• crawl allowed sites</a:t>
            </a:r>
            <a:endParaRPr lang="en-US" sz="1040" dirty="0"/>
          </a:p>
          <a:p>
            <a:pPr algn="l" indent="0" marL="0">
              <a:buNone/>
            </a:pPr>
            <a:r>
              <a:rPr lang="en-US" sz="1040" dirty="0">
                <a:solidFill>
                  <a:srgbClr val="657383"/>
                </a:solidFill>
                <a:latin typeface="Arimo" pitchFamily="34" charset="0"/>
                <a:ea typeface="Arimo" pitchFamily="34" charset="-122"/>
                <a:cs typeface="Arimo" pitchFamily="34" charset="-120"/>
              </a:rPr>
              <a:t>• normalize fields</a:t>
            </a:r>
            <a:endParaRPr lang="en-US" sz="1040" dirty="0"/>
          </a:p>
          <a:p>
            <a:pPr algn="l" indent="0" marL="0">
              <a:buNone/>
            </a:pPr>
            <a:r>
              <a:rPr lang="en-US" sz="1040" dirty="0">
                <a:solidFill>
                  <a:srgbClr val="657383"/>
                </a:solidFill>
                <a:latin typeface="Arimo" pitchFamily="34" charset="0"/>
                <a:ea typeface="Arimo" pitchFamily="34" charset="-122"/>
                <a:cs typeface="Arimo" pitchFamily="34" charset="-120"/>
              </a:rPr>
              <a:t>• remove duplicates</a:t>
            </a:r>
            <a:endParaRPr lang="en-US" sz="1040" dirty="0"/>
          </a:p>
          <a:p>
            <a:pPr algn="l" indent="0" marL="0">
              <a:buNone/>
            </a:pPr>
            <a:r>
              <a:rPr lang="en-US" sz="1040" dirty="0">
                <a:solidFill>
                  <a:srgbClr val="657383"/>
                </a:solidFill>
                <a:latin typeface="Arimo" pitchFamily="34" charset="0"/>
                <a:ea typeface="Arimo" pitchFamily="34" charset="-122"/>
                <a:cs typeface="Arimo" pitchFamily="34" charset="-120"/>
              </a:rPr>
              <a:t>• preserve source evidence</a:t>
            </a:r>
            <a:endParaRPr lang="en-US" sz="1040" dirty="0"/>
          </a:p>
        </p:txBody>
      </p:sp>
      <p:sp>
        <p:nvSpPr>
          <p:cNvPr id="30" name="Shape 28"/>
          <p:cNvSpPr/>
          <p:nvPr/>
        </p:nvSpPr>
        <p:spPr>
          <a:xfrm>
            <a:off x="3749040" y="3895344"/>
            <a:ext cx="658368" cy="274320"/>
          </a:xfrm>
          <a:prstGeom prst="roundRect">
            <a:avLst>
              <a:gd name="adj" fmla="val 50000"/>
            </a:avLst>
          </a:prstGeom>
          <a:solidFill>
            <a:srgbClr val="EDF1F5"/>
          </a:solidFill>
          <a:ln w="12700">
            <a:solidFill>
              <a:srgbClr val="EDF1F5"/>
            </a:solidFill>
            <a:prstDash val="solid"/>
          </a:ln>
        </p:spPr>
      </p:sp>
      <p:sp>
        <p:nvSpPr>
          <p:cNvPr id="31" name="Text 29"/>
          <p:cNvSpPr/>
          <p:nvPr/>
        </p:nvSpPr>
        <p:spPr>
          <a:xfrm>
            <a:off x="3749040" y="3904488"/>
            <a:ext cx="658368" cy="256032"/>
          </a:xfrm>
          <a:prstGeom prst="rect">
            <a:avLst/>
          </a:prstGeom>
          <a:noFill/>
          <a:ln/>
        </p:spPr>
        <p:txBody>
          <a:bodyPr wrap="square" lIns="0" tIns="0" rIns="0" bIns="0" rtlCol="0" anchor="ctr">
            <a:normAutofit/>
          </a:bodyPr>
          <a:lstStyle/>
          <a:p>
            <a:pPr algn="ctr" indent="0" marL="0">
              <a:buNone/>
            </a:pPr>
            <a:r>
              <a:rPr lang="en-US" sz="950" b="1" dirty="0">
                <a:solidFill>
                  <a:srgbClr val="15202B"/>
                </a:solidFill>
                <a:latin typeface="Arimo" pitchFamily="34" charset="0"/>
                <a:ea typeface="Arimo" pitchFamily="34" charset="-122"/>
                <a:cs typeface="Arimo" pitchFamily="34" charset="-120"/>
              </a:rPr>
              <a:t>Python</a:t>
            </a:r>
            <a:endParaRPr lang="en-US" sz="950" dirty="0"/>
          </a:p>
        </p:txBody>
      </p:sp>
      <p:sp>
        <p:nvSpPr>
          <p:cNvPr id="32" name="Shape 30"/>
          <p:cNvSpPr/>
          <p:nvPr/>
        </p:nvSpPr>
        <p:spPr>
          <a:xfrm>
            <a:off x="4480560" y="3895344"/>
            <a:ext cx="658368" cy="274320"/>
          </a:xfrm>
          <a:prstGeom prst="roundRect">
            <a:avLst>
              <a:gd name="adj" fmla="val 50000"/>
            </a:avLst>
          </a:prstGeom>
          <a:solidFill>
            <a:srgbClr val="EDF1F5"/>
          </a:solidFill>
          <a:ln w="12700">
            <a:solidFill>
              <a:srgbClr val="EDF1F5"/>
            </a:solidFill>
            <a:prstDash val="solid"/>
          </a:ln>
        </p:spPr>
      </p:sp>
      <p:sp>
        <p:nvSpPr>
          <p:cNvPr id="33" name="Text 31"/>
          <p:cNvSpPr/>
          <p:nvPr/>
        </p:nvSpPr>
        <p:spPr>
          <a:xfrm>
            <a:off x="4480560" y="3904488"/>
            <a:ext cx="658368" cy="256032"/>
          </a:xfrm>
          <a:prstGeom prst="rect">
            <a:avLst/>
          </a:prstGeom>
          <a:noFill/>
          <a:ln/>
        </p:spPr>
        <p:txBody>
          <a:bodyPr wrap="square" lIns="0" tIns="0" rIns="0" bIns="0" rtlCol="0" anchor="ctr">
            <a:normAutofit/>
          </a:bodyPr>
          <a:lstStyle/>
          <a:p>
            <a:pPr algn="ctr" indent="0" marL="0">
              <a:buNone/>
            </a:pPr>
            <a:r>
              <a:rPr lang="en-US" sz="950" b="1" dirty="0">
                <a:solidFill>
                  <a:srgbClr val="15202B"/>
                </a:solidFill>
                <a:latin typeface="Arimo" pitchFamily="34" charset="0"/>
                <a:ea typeface="Arimo" pitchFamily="34" charset="-122"/>
                <a:cs typeface="Arimo" pitchFamily="34" charset="-120"/>
              </a:rPr>
              <a:t>JSONL</a:t>
            </a:r>
            <a:endParaRPr lang="en-US" sz="950" dirty="0"/>
          </a:p>
        </p:txBody>
      </p:sp>
      <p:sp>
        <p:nvSpPr>
          <p:cNvPr id="34" name="Shape 32"/>
          <p:cNvSpPr/>
          <p:nvPr/>
        </p:nvSpPr>
        <p:spPr>
          <a:xfrm>
            <a:off x="5449824" y="3246120"/>
            <a:ext cx="512064" cy="0"/>
          </a:xfrm>
          <a:prstGeom prst="line">
            <a:avLst/>
          </a:prstGeom>
          <a:noFill/>
          <a:ln w="25400">
            <a:solidFill>
              <a:srgbClr val="2F6BFF"/>
            </a:solidFill>
            <a:prstDash val="solid"/>
            <a:headEnd type="none"/>
            <a:tailEnd type="triangle"/>
          </a:ln>
        </p:spPr>
      </p:sp>
      <p:sp>
        <p:nvSpPr>
          <p:cNvPr id="35" name="Shape 33"/>
          <p:cNvSpPr/>
          <p:nvPr/>
        </p:nvSpPr>
        <p:spPr>
          <a:xfrm>
            <a:off x="6053328" y="1993392"/>
            <a:ext cx="2011680" cy="2487168"/>
          </a:xfrm>
          <a:prstGeom prst="roundRect">
            <a:avLst>
              <a:gd name="adj" fmla="val 5455"/>
            </a:avLst>
          </a:prstGeom>
          <a:solidFill>
            <a:srgbClr val="FFFFFF"/>
          </a:solidFill>
          <a:ln w="12700">
            <a:solidFill>
              <a:srgbClr val="DDE4EC"/>
            </a:solidFill>
            <a:prstDash val="solid"/>
          </a:ln>
        </p:spPr>
      </p:sp>
      <p:sp>
        <p:nvSpPr>
          <p:cNvPr id="36" name="Text 34"/>
          <p:cNvSpPr/>
          <p:nvPr/>
        </p:nvSpPr>
        <p:spPr>
          <a:xfrm>
            <a:off x="6309360" y="2267712"/>
            <a:ext cx="1499616" cy="301752"/>
          </a:xfrm>
          <a:prstGeom prst="rect">
            <a:avLst/>
          </a:prstGeom>
          <a:noFill/>
          <a:ln/>
        </p:spPr>
        <p:txBody>
          <a:bodyPr wrap="square" lIns="0" tIns="0" rIns="0" bIns="0" rtlCol="0" anchor="ctr">
            <a:normAutofit/>
          </a:bodyPr>
          <a:lstStyle/>
          <a:p>
            <a:pPr algn="ctr" indent="0" marL="0">
              <a:buNone/>
            </a:pPr>
            <a:r>
              <a:rPr lang="en-US" sz="1280" b="1" dirty="0">
                <a:solidFill>
                  <a:srgbClr val="071A2B"/>
                </a:solidFill>
                <a:latin typeface="Arimo" pitchFamily="34" charset="0"/>
                <a:ea typeface="Arimo" pitchFamily="34" charset="-122"/>
                <a:cs typeface="Arimo" pitchFamily="34" charset="-120"/>
              </a:rPr>
              <a:t>FULL DATASET</a:t>
            </a:r>
            <a:endParaRPr lang="en-US" sz="1280" dirty="0"/>
          </a:p>
        </p:txBody>
      </p:sp>
      <p:sp>
        <p:nvSpPr>
          <p:cNvPr id="37" name="Text 35"/>
          <p:cNvSpPr/>
          <p:nvPr/>
        </p:nvSpPr>
        <p:spPr>
          <a:xfrm>
            <a:off x="6309360" y="2688336"/>
            <a:ext cx="1499616" cy="502920"/>
          </a:xfrm>
          <a:prstGeom prst="rect">
            <a:avLst/>
          </a:prstGeom>
          <a:noFill/>
          <a:ln/>
        </p:spPr>
        <p:txBody>
          <a:bodyPr wrap="square" lIns="0" tIns="0" rIns="0" bIns="0" rtlCol="0" anchor="ctr">
            <a:normAutofit/>
          </a:bodyPr>
          <a:lstStyle/>
          <a:p>
            <a:pPr algn="ctr" indent="0" marL="0">
              <a:buNone/>
            </a:pPr>
            <a:r>
              <a:rPr lang="en-US" sz="2800" b="1" dirty="0">
                <a:solidFill>
                  <a:srgbClr val="2F6BFF"/>
                </a:solidFill>
                <a:latin typeface="Arimo" pitchFamily="34" charset="0"/>
                <a:ea typeface="Arimo" pitchFamily="34" charset="-122"/>
                <a:cs typeface="Arimo" pitchFamily="34" charset="-120"/>
              </a:rPr>
              <a:t>1,777</a:t>
            </a:r>
            <a:endParaRPr lang="en-US" sz="2800" dirty="0"/>
          </a:p>
        </p:txBody>
      </p:sp>
      <p:sp>
        <p:nvSpPr>
          <p:cNvPr id="38" name="Text 36"/>
          <p:cNvSpPr/>
          <p:nvPr/>
        </p:nvSpPr>
        <p:spPr>
          <a:xfrm>
            <a:off x="6309360" y="3182112"/>
            <a:ext cx="1499616" cy="201168"/>
          </a:xfrm>
          <a:prstGeom prst="rect">
            <a:avLst/>
          </a:prstGeom>
          <a:noFill/>
          <a:ln/>
        </p:spPr>
        <p:txBody>
          <a:bodyPr wrap="square" lIns="0" tIns="0" rIns="0" bIns="0" rtlCol="0" anchor="ctr">
            <a:normAutofit/>
          </a:bodyPr>
          <a:lstStyle/>
          <a:p>
            <a:pPr algn="ctr" indent="0" marL="0">
              <a:buNone/>
            </a:pPr>
            <a:r>
              <a:rPr lang="en-US" sz="950" dirty="0">
                <a:solidFill>
                  <a:srgbClr val="657383"/>
                </a:solidFill>
                <a:latin typeface="Arimo" pitchFamily="34" charset="0"/>
                <a:ea typeface="Arimo" pitchFamily="34" charset="-122"/>
                <a:cs typeface="Arimo" pitchFamily="34" charset="-120"/>
              </a:rPr>
              <a:t>rows</a:t>
            </a:r>
            <a:endParaRPr lang="en-US" sz="950" dirty="0"/>
          </a:p>
        </p:txBody>
      </p:sp>
      <p:sp>
        <p:nvSpPr>
          <p:cNvPr id="39" name="Text 37"/>
          <p:cNvSpPr/>
          <p:nvPr/>
        </p:nvSpPr>
        <p:spPr>
          <a:xfrm>
            <a:off x="6309360" y="3584448"/>
            <a:ext cx="1499616" cy="256032"/>
          </a:xfrm>
          <a:prstGeom prst="rect">
            <a:avLst/>
          </a:prstGeom>
          <a:noFill/>
          <a:ln/>
        </p:spPr>
        <p:txBody>
          <a:bodyPr wrap="square" lIns="0" tIns="0" rIns="0" bIns="0" rtlCol="0" anchor="ctr">
            <a:normAutofit/>
          </a:bodyPr>
          <a:lstStyle/>
          <a:p>
            <a:pPr algn="ctr" indent="0" marL="0">
              <a:buNone/>
            </a:pPr>
            <a:r>
              <a:rPr lang="en-US" sz="1200" b="1" dirty="0">
                <a:solidFill>
                  <a:srgbClr val="15202B"/>
                </a:solidFill>
                <a:latin typeface="Arimo" pitchFamily="34" charset="0"/>
                <a:ea typeface="Arimo" pitchFamily="34" charset="-122"/>
                <a:cs typeface="Arimo" pitchFamily="34" charset="-120"/>
              </a:rPr>
              <a:t>161 columns</a:t>
            </a:r>
            <a:endParaRPr lang="en-US" sz="1200" dirty="0"/>
          </a:p>
        </p:txBody>
      </p:sp>
      <p:sp>
        <p:nvSpPr>
          <p:cNvPr id="40" name="Text 38"/>
          <p:cNvSpPr/>
          <p:nvPr/>
        </p:nvSpPr>
        <p:spPr>
          <a:xfrm>
            <a:off x="6318504" y="3913632"/>
            <a:ext cx="1472184" cy="338328"/>
          </a:xfrm>
          <a:prstGeom prst="rect">
            <a:avLst/>
          </a:prstGeom>
          <a:noFill/>
          <a:ln/>
        </p:spPr>
        <p:txBody>
          <a:bodyPr wrap="square" lIns="0" tIns="0" rIns="0" bIns="0" rtlCol="0" anchor="ctr">
            <a:normAutofit/>
          </a:bodyPr>
          <a:lstStyle/>
          <a:p>
            <a:pPr algn="ctr" indent="0" marL="0">
              <a:buNone/>
            </a:pPr>
            <a:r>
              <a:rPr lang="en-US" sz="860" dirty="0">
                <a:solidFill>
                  <a:srgbClr val="657383"/>
                </a:solidFill>
                <a:latin typeface="Arimo" pitchFamily="34" charset="0"/>
                <a:ea typeface="Arimo" pitchFamily="34" charset="-122"/>
                <a:cs typeface="Arimo" pitchFamily="34" charset="-120"/>
              </a:rPr>
              <a:t>scraping evidence + detailed fields</a:t>
            </a:r>
            <a:endParaRPr lang="en-US" sz="860" dirty="0"/>
          </a:p>
        </p:txBody>
      </p:sp>
      <p:sp>
        <p:nvSpPr>
          <p:cNvPr id="41" name="Shape 39"/>
          <p:cNvSpPr/>
          <p:nvPr/>
        </p:nvSpPr>
        <p:spPr>
          <a:xfrm>
            <a:off x="8193024" y="3246120"/>
            <a:ext cx="493776" cy="0"/>
          </a:xfrm>
          <a:prstGeom prst="line">
            <a:avLst/>
          </a:prstGeom>
          <a:noFill/>
          <a:ln w="25400">
            <a:solidFill>
              <a:srgbClr val="2F6BFF"/>
            </a:solidFill>
            <a:prstDash val="solid"/>
            <a:headEnd type="none"/>
            <a:tailEnd type="triangle"/>
          </a:ln>
        </p:spPr>
      </p:sp>
      <p:sp>
        <p:nvSpPr>
          <p:cNvPr id="42" name="Shape 40"/>
          <p:cNvSpPr/>
          <p:nvPr/>
        </p:nvSpPr>
        <p:spPr>
          <a:xfrm>
            <a:off x="8796528" y="1993392"/>
            <a:ext cx="2432304" cy="2487168"/>
          </a:xfrm>
          <a:prstGeom prst="roundRect">
            <a:avLst>
              <a:gd name="adj" fmla="val 4511"/>
            </a:avLst>
          </a:prstGeom>
          <a:solidFill>
            <a:srgbClr val="071A2B"/>
          </a:solidFill>
          <a:ln w="12700">
            <a:solidFill>
              <a:srgbClr val="071A2B"/>
            </a:solidFill>
            <a:prstDash val="solid"/>
          </a:ln>
        </p:spPr>
      </p:sp>
      <p:sp>
        <p:nvSpPr>
          <p:cNvPr id="43" name="Text 41"/>
          <p:cNvSpPr/>
          <p:nvPr/>
        </p:nvSpPr>
        <p:spPr>
          <a:xfrm>
            <a:off x="9107424" y="2267712"/>
            <a:ext cx="1792224" cy="301752"/>
          </a:xfrm>
          <a:prstGeom prst="rect">
            <a:avLst/>
          </a:prstGeom>
          <a:noFill/>
          <a:ln/>
        </p:spPr>
        <p:txBody>
          <a:bodyPr wrap="square" lIns="0" tIns="0" rIns="0" bIns="0" rtlCol="0" anchor="ctr">
            <a:normAutofit/>
          </a:bodyPr>
          <a:lstStyle/>
          <a:p>
            <a:pPr algn="ctr" indent="0" marL="0">
              <a:buNone/>
            </a:pPr>
            <a:r>
              <a:rPr lang="en-US" sz="1280" b="1" dirty="0">
                <a:solidFill>
                  <a:srgbClr val="BBD0FF"/>
                </a:solidFill>
                <a:latin typeface="Arimo" pitchFamily="34" charset="0"/>
                <a:ea typeface="Arimo" pitchFamily="34" charset="-122"/>
                <a:cs typeface="Arimo" pitchFamily="34" charset="-120"/>
              </a:rPr>
              <a:t>MODEL DATA</a:t>
            </a:r>
            <a:endParaRPr lang="en-US" sz="1280" dirty="0"/>
          </a:p>
        </p:txBody>
      </p:sp>
      <p:sp>
        <p:nvSpPr>
          <p:cNvPr id="44" name="Text 42"/>
          <p:cNvSpPr/>
          <p:nvPr/>
        </p:nvSpPr>
        <p:spPr>
          <a:xfrm>
            <a:off x="9098280" y="2688336"/>
            <a:ext cx="1810512" cy="5029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Arimo" pitchFamily="34" charset="0"/>
                <a:ea typeface="Arimo" pitchFamily="34" charset="-122"/>
                <a:cs typeface="Arimo" pitchFamily="34" charset="-120"/>
              </a:rPr>
              <a:t>1,689</a:t>
            </a:r>
            <a:endParaRPr lang="en-US" sz="2800" dirty="0"/>
          </a:p>
        </p:txBody>
      </p:sp>
      <p:sp>
        <p:nvSpPr>
          <p:cNvPr id="45" name="Text 43"/>
          <p:cNvSpPr/>
          <p:nvPr/>
        </p:nvSpPr>
        <p:spPr>
          <a:xfrm>
            <a:off x="9098280" y="3182112"/>
            <a:ext cx="1810512" cy="201168"/>
          </a:xfrm>
          <a:prstGeom prst="rect">
            <a:avLst/>
          </a:prstGeom>
          <a:noFill/>
          <a:ln/>
        </p:spPr>
        <p:txBody>
          <a:bodyPr wrap="square" lIns="0" tIns="0" rIns="0" bIns="0" rtlCol="0" anchor="ctr">
            <a:normAutofit/>
          </a:bodyPr>
          <a:lstStyle/>
          <a:p>
            <a:pPr algn="ctr" indent="0" marL="0">
              <a:buNone/>
            </a:pPr>
            <a:r>
              <a:rPr lang="en-US" sz="950" dirty="0">
                <a:solidFill>
                  <a:srgbClr val="9FB2C7"/>
                </a:solidFill>
                <a:latin typeface="Arimo" pitchFamily="34" charset="0"/>
                <a:ea typeface="Arimo" pitchFamily="34" charset="-122"/>
                <a:cs typeface="Arimo" pitchFamily="34" charset="-120"/>
              </a:rPr>
              <a:t>rows</a:t>
            </a:r>
            <a:endParaRPr lang="en-US" sz="950" dirty="0"/>
          </a:p>
        </p:txBody>
      </p:sp>
      <p:sp>
        <p:nvSpPr>
          <p:cNvPr id="46" name="Text 44"/>
          <p:cNvSpPr/>
          <p:nvPr/>
        </p:nvSpPr>
        <p:spPr>
          <a:xfrm>
            <a:off x="9098280" y="3584448"/>
            <a:ext cx="181051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mo" pitchFamily="34" charset="0"/>
                <a:ea typeface="Arimo" pitchFamily="34" charset="-122"/>
                <a:cs typeface="Arimo" pitchFamily="34" charset="-120"/>
              </a:rPr>
              <a:t>63 columns</a:t>
            </a:r>
            <a:endParaRPr lang="en-US" sz="1200" dirty="0"/>
          </a:p>
        </p:txBody>
      </p:sp>
      <p:sp>
        <p:nvSpPr>
          <p:cNvPr id="47" name="Text 45"/>
          <p:cNvSpPr/>
          <p:nvPr/>
        </p:nvSpPr>
        <p:spPr>
          <a:xfrm>
            <a:off x="9098280" y="3922776"/>
            <a:ext cx="1810512" cy="310896"/>
          </a:xfrm>
          <a:prstGeom prst="rect">
            <a:avLst/>
          </a:prstGeom>
          <a:noFill/>
          <a:ln/>
        </p:spPr>
        <p:txBody>
          <a:bodyPr wrap="square" lIns="0" tIns="0" rIns="0" bIns="0" rtlCol="0" anchor="ctr">
            <a:normAutofit/>
          </a:bodyPr>
          <a:lstStyle/>
          <a:p>
            <a:pPr algn="ctr" indent="0" marL="0">
              <a:buNone/>
            </a:pPr>
            <a:r>
              <a:rPr lang="en-US" sz="880" dirty="0">
                <a:solidFill>
                  <a:srgbClr val="9FB2C7"/>
                </a:solidFill>
                <a:latin typeface="Arimo" pitchFamily="34" charset="0"/>
                <a:ea typeface="Arimo" pitchFamily="34" charset="-122"/>
                <a:cs typeface="Arimo" pitchFamily="34" charset="-120"/>
              </a:rPr>
              <a:t>EDA + price modeling</a:t>
            </a:r>
            <a:endParaRPr lang="en-US" sz="880" dirty="0"/>
          </a:p>
        </p:txBody>
      </p:sp>
      <p:sp>
        <p:nvSpPr>
          <p:cNvPr id="48" name="Text 46"/>
          <p:cNvSpPr/>
          <p:nvPr/>
        </p:nvSpPr>
        <p:spPr>
          <a:xfrm>
            <a:off x="3310128" y="4809744"/>
            <a:ext cx="2194560" cy="228600"/>
          </a:xfrm>
          <a:prstGeom prst="rect">
            <a:avLst/>
          </a:prstGeom>
          <a:noFill/>
          <a:ln/>
        </p:spPr>
        <p:txBody>
          <a:bodyPr wrap="square" lIns="0" tIns="0" rIns="0" bIns="0" rtlCol="0" anchor="ctr">
            <a:normAutofit/>
          </a:bodyPr>
          <a:lstStyle/>
          <a:p>
            <a:pPr algn="l" indent="0" marL="0">
              <a:buNone/>
            </a:pPr>
            <a:r>
              <a:rPr lang="en-US" sz="950" b="1" spc="110" kern="0" dirty="0">
                <a:solidFill>
                  <a:srgbClr val="657383"/>
                </a:solidFill>
                <a:latin typeface="Arimo" pitchFamily="34" charset="0"/>
                <a:ea typeface="Arimo" pitchFamily="34" charset="-122"/>
                <a:cs typeface="Arimo" pitchFamily="34" charset="-120"/>
              </a:rPr>
              <a:t>MODEL DATA COMPOSITION</a:t>
            </a:r>
            <a:endParaRPr lang="en-US" sz="950" dirty="0"/>
          </a:p>
        </p:txBody>
      </p:sp>
      <p:sp>
        <p:nvSpPr>
          <p:cNvPr id="49" name="Text 47"/>
          <p:cNvSpPr/>
          <p:nvPr/>
        </p:nvSpPr>
        <p:spPr>
          <a:xfrm>
            <a:off x="3310128" y="5157216"/>
            <a:ext cx="737006"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Uruguay</a:t>
            </a:r>
            <a:endParaRPr lang="en-US" sz="1040" dirty="0"/>
          </a:p>
        </p:txBody>
      </p:sp>
      <p:sp>
        <p:nvSpPr>
          <p:cNvPr id="50" name="Shape 48"/>
          <p:cNvSpPr/>
          <p:nvPr/>
        </p:nvSpPr>
        <p:spPr>
          <a:xfrm>
            <a:off x="4047134" y="5189220"/>
            <a:ext cx="1188720" cy="146304"/>
          </a:xfrm>
          <a:prstGeom prst="roundRect">
            <a:avLst>
              <a:gd name="adj" fmla="val 50000"/>
            </a:avLst>
          </a:prstGeom>
          <a:solidFill>
            <a:srgbClr val="E7ECF2"/>
          </a:solidFill>
          <a:ln w="12700">
            <a:solidFill>
              <a:srgbClr val="E7ECF2"/>
            </a:solidFill>
            <a:prstDash val="solid"/>
          </a:ln>
        </p:spPr>
      </p:sp>
      <p:sp>
        <p:nvSpPr>
          <p:cNvPr id="51" name="Shape 49"/>
          <p:cNvSpPr/>
          <p:nvPr/>
        </p:nvSpPr>
        <p:spPr>
          <a:xfrm>
            <a:off x="4047134" y="5189220"/>
            <a:ext cx="1188720" cy="146304"/>
          </a:xfrm>
          <a:prstGeom prst="roundRect">
            <a:avLst>
              <a:gd name="adj" fmla="val 50000"/>
            </a:avLst>
          </a:prstGeom>
          <a:solidFill>
            <a:srgbClr val="16826C"/>
          </a:solidFill>
          <a:ln w="12700">
            <a:solidFill>
              <a:srgbClr val="16826C"/>
            </a:solidFill>
            <a:prstDash val="solid"/>
          </a:ln>
        </p:spPr>
      </p:sp>
      <p:sp>
        <p:nvSpPr>
          <p:cNvPr id="52" name="Text 50"/>
          <p:cNvSpPr/>
          <p:nvPr/>
        </p:nvSpPr>
        <p:spPr>
          <a:xfrm>
            <a:off x="5283403" y="5157216"/>
            <a:ext cx="404165"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1,110</a:t>
            </a:r>
            <a:endParaRPr lang="en-US" sz="1000" dirty="0"/>
          </a:p>
        </p:txBody>
      </p:sp>
      <p:sp>
        <p:nvSpPr>
          <p:cNvPr id="53" name="Text 51"/>
          <p:cNvSpPr/>
          <p:nvPr/>
        </p:nvSpPr>
        <p:spPr>
          <a:xfrm>
            <a:off x="3310128" y="5468112"/>
            <a:ext cx="737006"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Argentina</a:t>
            </a:r>
            <a:endParaRPr lang="en-US" sz="1040" dirty="0"/>
          </a:p>
        </p:txBody>
      </p:sp>
      <p:sp>
        <p:nvSpPr>
          <p:cNvPr id="54" name="Shape 52"/>
          <p:cNvSpPr/>
          <p:nvPr/>
        </p:nvSpPr>
        <p:spPr>
          <a:xfrm>
            <a:off x="4047134" y="5500116"/>
            <a:ext cx="1188720" cy="146304"/>
          </a:xfrm>
          <a:prstGeom prst="roundRect">
            <a:avLst>
              <a:gd name="adj" fmla="val 50000"/>
            </a:avLst>
          </a:prstGeom>
          <a:solidFill>
            <a:srgbClr val="E7ECF2"/>
          </a:solidFill>
          <a:ln w="12700">
            <a:solidFill>
              <a:srgbClr val="E7ECF2"/>
            </a:solidFill>
            <a:prstDash val="solid"/>
          </a:ln>
        </p:spPr>
      </p:sp>
      <p:sp>
        <p:nvSpPr>
          <p:cNvPr id="55" name="Shape 53"/>
          <p:cNvSpPr/>
          <p:nvPr/>
        </p:nvSpPr>
        <p:spPr>
          <a:xfrm>
            <a:off x="4047134" y="5500116"/>
            <a:ext cx="620062" cy="146304"/>
          </a:xfrm>
          <a:prstGeom prst="roundRect">
            <a:avLst>
              <a:gd name="adj" fmla="val 50000"/>
            </a:avLst>
          </a:prstGeom>
          <a:solidFill>
            <a:srgbClr val="2F6BFF"/>
          </a:solidFill>
          <a:ln w="12700">
            <a:solidFill>
              <a:srgbClr val="2F6BFF"/>
            </a:solidFill>
            <a:prstDash val="solid"/>
          </a:ln>
        </p:spPr>
      </p:sp>
      <p:sp>
        <p:nvSpPr>
          <p:cNvPr id="56" name="Text 54"/>
          <p:cNvSpPr/>
          <p:nvPr/>
        </p:nvSpPr>
        <p:spPr>
          <a:xfrm>
            <a:off x="5283403" y="5468112"/>
            <a:ext cx="404165"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579</a:t>
            </a:r>
            <a:endParaRPr lang="en-US" sz="1000" dirty="0"/>
          </a:p>
        </p:txBody>
      </p:sp>
      <p:sp>
        <p:nvSpPr>
          <p:cNvPr id="57" name="Text 55"/>
          <p:cNvSpPr/>
          <p:nvPr/>
        </p:nvSpPr>
        <p:spPr>
          <a:xfrm>
            <a:off x="6217920" y="5157216"/>
            <a:ext cx="759684"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Apartments</a:t>
            </a:r>
            <a:endParaRPr lang="en-US" sz="1040" dirty="0"/>
          </a:p>
        </p:txBody>
      </p:sp>
      <p:sp>
        <p:nvSpPr>
          <p:cNvPr id="58" name="Shape 56"/>
          <p:cNvSpPr/>
          <p:nvPr/>
        </p:nvSpPr>
        <p:spPr>
          <a:xfrm>
            <a:off x="6977604" y="5189220"/>
            <a:ext cx="1225296" cy="146304"/>
          </a:xfrm>
          <a:prstGeom prst="roundRect">
            <a:avLst>
              <a:gd name="adj" fmla="val 50000"/>
            </a:avLst>
          </a:prstGeom>
          <a:solidFill>
            <a:srgbClr val="E7ECF2"/>
          </a:solidFill>
          <a:ln w="12700">
            <a:solidFill>
              <a:srgbClr val="E7ECF2"/>
            </a:solidFill>
            <a:prstDash val="solid"/>
          </a:ln>
        </p:spPr>
      </p:sp>
      <p:sp>
        <p:nvSpPr>
          <p:cNvPr id="59" name="Shape 57"/>
          <p:cNvSpPr/>
          <p:nvPr/>
        </p:nvSpPr>
        <p:spPr>
          <a:xfrm>
            <a:off x="6977604" y="5189220"/>
            <a:ext cx="1225296" cy="146304"/>
          </a:xfrm>
          <a:prstGeom prst="roundRect">
            <a:avLst>
              <a:gd name="adj" fmla="val 50000"/>
            </a:avLst>
          </a:prstGeom>
          <a:solidFill>
            <a:srgbClr val="2F6BFF"/>
          </a:solidFill>
          <a:ln w="12700">
            <a:solidFill>
              <a:srgbClr val="2F6BFF"/>
            </a:solidFill>
            <a:prstDash val="solid"/>
          </a:ln>
        </p:spPr>
      </p:sp>
      <p:sp>
        <p:nvSpPr>
          <p:cNvPr id="60" name="Text 58"/>
          <p:cNvSpPr/>
          <p:nvPr/>
        </p:nvSpPr>
        <p:spPr>
          <a:xfrm>
            <a:off x="8251911" y="5157216"/>
            <a:ext cx="416601"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1,261</a:t>
            </a:r>
            <a:endParaRPr lang="en-US" sz="1000" dirty="0"/>
          </a:p>
        </p:txBody>
      </p:sp>
      <p:sp>
        <p:nvSpPr>
          <p:cNvPr id="61" name="Text 59"/>
          <p:cNvSpPr/>
          <p:nvPr/>
        </p:nvSpPr>
        <p:spPr>
          <a:xfrm>
            <a:off x="6217920" y="5468112"/>
            <a:ext cx="759684"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Houses</a:t>
            </a:r>
            <a:endParaRPr lang="en-US" sz="1040" dirty="0"/>
          </a:p>
        </p:txBody>
      </p:sp>
      <p:sp>
        <p:nvSpPr>
          <p:cNvPr id="62" name="Shape 60"/>
          <p:cNvSpPr/>
          <p:nvPr/>
        </p:nvSpPr>
        <p:spPr>
          <a:xfrm>
            <a:off x="6977604" y="5500116"/>
            <a:ext cx="1225296" cy="146304"/>
          </a:xfrm>
          <a:prstGeom prst="roundRect">
            <a:avLst>
              <a:gd name="adj" fmla="val 50000"/>
            </a:avLst>
          </a:prstGeom>
          <a:solidFill>
            <a:srgbClr val="E7ECF2"/>
          </a:solidFill>
          <a:ln w="12700">
            <a:solidFill>
              <a:srgbClr val="E7ECF2"/>
            </a:solidFill>
            <a:prstDash val="solid"/>
          </a:ln>
        </p:spPr>
      </p:sp>
      <p:sp>
        <p:nvSpPr>
          <p:cNvPr id="63" name="Shape 61"/>
          <p:cNvSpPr/>
          <p:nvPr/>
        </p:nvSpPr>
        <p:spPr>
          <a:xfrm>
            <a:off x="6977604" y="5500116"/>
            <a:ext cx="414910" cy="146304"/>
          </a:xfrm>
          <a:prstGeom prst="roundRect">
            <a:avLst>
              <a:gd name="adj" fmla="val 50000"/>
            </a:avLst>
          </a:prstGeom>
          <a:solidFill>
            <a:srgbClr val="F1A73C"/>
          </a:solidFill>
          <a:ln w="12700">
            <a:solidFill>
              <a:srgbClr val="F1A73C"/>
            </a:solidFill>
            <a:prstDash val="solid"/>
          </a:ln>
        </p:spPr>
      </p:sp>
      <p:sp>
        <p:nvSpPr>
          <p:cNvPr id="64" name="Text 62"/>
          <p:cNvSpPr/>
          <p:nvPr/>
        </p:nvSpPr>
        <p:spPr>
          <a:xfrm>
            <a:off x="8251911" y="5468112"/>
            <a:ext cx="416601"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427</a:t>
            </a:r>
            <a:endParaRPr lang="en-US" sz="1000" dirty="0"/>
          </a:p>
        </p:txBody>
      </p:sp>
      <p:sp>
        <p:nvSpPr>
          <p:cNvPr id="65" name="Shape 63"/>
          <p:cNvSpPr/>
          <p:nvPr/>
        </p:nvSpPr>
        <p:spPr>
          <a:xfrm>
            <a:off x="9107424" y="5010912"/>
            <a:ext cx="2103120" cy="804672"/>
          </a:xfrm>
          <a:prstGeom prst="roundRect">
            <a:avLst>
              <a:gd name="adj" fmla="val 11364"/>
            </a:avLst>
          </a:prstGeom>
          <a:solidFill>
            <a:srgbClr val="FFF4E2"/>
          </a:solidFill>
          <a:ln w="12700">
            <a:solidFill>
              <a:srgbClr val="FFF4E2"/>
            </a:solidFill>
            <a:prstDash val="solid"/>
          </a:ln>
        </p:spPr>
      </p:sp>
      <p:sp>
        <p:nvSpPr>
          <p:cNvPr id="66" name="Text 64"/>
          <p:cNvSpPr/>
          <p:nvPr/>
        </p:nvSpPr>
        <p:spPr>
          <a:xfrm>
            <a:off x="9308592" y="5129784"/>
            <a:ext cx="1682496" cy="201168"/>
          </a:xfrm>
          <a:prstGeom prst="rect">
            <a:avLst/>
          </a:prstGeom>
          <a:noFill/>
          <a:ln/>
        </p:spPr>
        <p:txBody>
          <a:bodyPr wrap="square" lIns="0" tIns="0" rIns="0" bIns="0" rtlCol="0" anchor="ctr">
            <a:normAutofit/>
          </a:bodyPr>
          <a:lstStyle/>
          <a:p>
            <a:pPr algn="l" indent="0" marL="0">
              <a:buNone/>
            </a:pPr>
            <a:r>
              <a:rPr lang="en-US" sz="920" b="1" dirty="0">
                <a:solidFill>
                  <a:srgbClr val="8A5A16"/>
                </a:solidFill>
                <a:latin typeface="Arimo" pitchFamily="34" charset="0"/>
                <a:ea typeface="Arimo" pitchFamily="34" charset="-122"/>
                <a:cs typeface="Arimo" pitchFamily="34" charset="-120"/>
              </a:rPr>
              <a:t>Key constraint</a:t>
            </a:r>
            <a:endParaRPr lang="en-US" sz="920" dirty="0"/>
          </a:p>
        </p:txBody>
      </p:sp>
      <p:sp>
        <p:nvSpPr>
          <p:cNvPr id="67" name="Text 65"/>
          <p:cNvSpPr/>
          <p:nvPr/>
        </p:nvSpPr>
        <p:spPr>
          <a:xfrm>
            <a:off x="9308592" y="5349240"/>
            <a:ext cx="1682496" cy="347472"/>
          </a:xfrm>
          <a:prstGeom prst="rect">
            <a:avLst/>
          </a:prstGeom>
          <a:noFill/>
          <a:ln/>
        </p:spPr>
        <p:txBody>
          <a:bodyPr wrap="square" lIns="0" tIns="0" rIns="0" bIns="0" rtlCol="0" anchor="t">
            <a:normAutofit/>
          </a:bodyPr>
          <a:lstStyle/>
          <a:p>
            <a:pPr algn="l" indent="0" marL="0">
              <a:buNone/>
            </a:pPr>
            <a:r>
              <a:rPr lang="en-US" sz="920" dirty="0">
                <a:solidFill>
                  <a:srgbClr val="735624"/>
                </a:solidFill>
                <a:latin typeface="Arimo" pitchFamily="34" charset="0"/>
                <a:ea typeface="Arimo" pitchFamily="34" charset="-122"/>
                <a:cs typeface="Arimo" pitchFamily="34" charset="-120"/>
              </a:rPr>
              <a:t>Coverage is uneven by country, source and property type.</a:t>
            </a:r>
            <a:endParaRPr lang="en-US" sz="92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38091"/>
                </a:solidFill>
                <a:latin typeface="Arimo"/>
                <a:ea typeface="Arimo"/>
                <a:cs typeface="Arimo"/>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47472"/>
            <a:ext cx="3474720"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2F6BFF"/>
                </a:solidFill>
                <a:latin typeface="Arimo" pitchFamily="34" charset="0"/>
                <a:ea typeface="Arimo" pitchFamily="34" charset="-122"/>
                <a:cs typeface="Arimo" pitchFamily="34" charset="-120"/>
              </a:rPr>
              <a:t>02 • EDA</a:t>
            </a:r>
            <a:endParaRPr lang="en-US" sz="1000" dirty="0"/>
          </a:p>
        </p:txBody>
      </p:sp>
      <p:sp>
        <p:nvSpPr>
          <p:cNvPr id="3" name="Text 1"/>
          <p:cNvSpPr/>
          <p:nvPr/>
        </p:nvSpPr>
        <p:spPr>
          <a:xfrm>
            <a:off x="530352" y="658368"/>
            <a:ext cx="10972800" cy="566928"/>
          </a:xfrm>
          <a:prstGeom prst="rect">
            <a:avLst/>
          </a:prstGeom>
          <a:noFill/>
          <a:ln/>
        </p:spPr>
        <p:txBody>
          <a:bodyPr wrap="square" lIns="0" tIns="0" rIns="0" bIns="0" rtlCol="0" anchor="ctr">
            <a:normAutofit/>
          </a:bodyPr>
          <a:lstStyle/>
          <a:p>
            <a:pPr algn="l" indent="0" marL="0">
              <a:buNone/>
            </a:pPr>
            <a:r>
              <a:rPr lang="en-US" sz="2700" b="1" dirty="0">
                <a:solidFill>
                  <a:srgbClr val="071A2B"/>
                </a:solidFill>
                <a:latin typeface="Arimo" pitchFamily="34" charset="0"/>
                <a:ea typeface="Arimo" pitchFamily="34" charset="-122"/>
                <a:cs typeface="Arimo" pitchFamily="34" charset="-120"/>
              </a:rPr>
              <a:t>Clean target, uneven coverage</a:t>
            </a:r>
            <a:endParaRPr lang="en-US" sz="2700" dirty="0"/>
          </a:p>
        </p:txBody>
      </p:sp>
      <p:sp>
        <p:nvSpPr>
          <p:cNvPr id="4" name="Text 2"/>
          <p:cNvSpPr/>
          <p:nvPr/>
        </p:nvSpPr>
        <p:spPr>
          <a:xfrm>
            <a:off x="530352" y="1234440"/>
            <a:ext cx="10881360" cy="347472"/>
          </a:xfrm>
          <a:prstGeom prst="rect">
            <a:avLst/>
          </a:prstGeom>
          <a:noFill/>
          <a:ln/>
        </p:spPr>
        <p:txBody>
          <a:bodyPr wrap="square" lIns="0" tIns="0" rIns="0" bIns="0" rtlCol="0" anchor="ctr">
            <a:normAutofit/>
          </a:bodyPr>
          <a:lstStyle/>
          <a:p>
            <a:pPr algn="l" indent="0" marL="0">
              <a:buNone/>
            </a:pPr>
            <a:r>
              <a:rPr lang="en-US" sz="1280" dirty="0">
                <a:solidFill>
                  <a:srgbClr val="657383"/>
                </a:solidFill>
                <a:latin typeface="Arimo" pitchFamily="34" charset="0"/>
                <a:ea typeface="Arimo" pitchFamily="34" charset="-122"/>
                <a:cs typeface="Arimo" pitchFamily="34" charset="-120"/>
              </a:rPr>
              <a:t>EDA checks duplicates, missingness, price distributions and which property features carry useful signal.</a:t>
            </a:r>
            <a:endParaRPr lang="en-US" sz="1280" dirty="0"/>
          </a:p>
        </p:txBody>
      </p:sp>
      <p:sp>
        <p:nvSpPr>
          <p:cNvPr id="5" name="Shape 3"/>
          <p:cNvSpPr/>
          <p:nvPr/>
        </p:nvSpPr>
        <p:spPr>
          <a:xfrm>
            <a:off x="566928" y="1737360"/>
            <a:ext cx="2103120" cy="1078992"/>
          </a:xfrm>
          <a:prstGeom prst="roundRect">
            <a:avLst>
              <a:gd name="adj" fmla="val 6780"/>
            </a:avLst>
          </a:prstGeom>
          <a:solidFill>
            <a:srgbClr val="FFFFFF"/>
          </a:solidFill>
          <a:ln w="12700">
            <a:solidFill>
              <a:srgbClr val="DDE4EC"/>
            </a:solidFill>
            <a:prstDash val="solid"/>
          </a:ln>
        </p:spPr>
      </p:sp>
      <p:sp>
        <p:nvSpPr>
          <p:cNvPr id="6" name="Shape 4"/>
          <p:cNvSpPr/>
          <p:nvPr/>
        </p:nvSpPr>
        <p:spPr>
          <a:xfrm>
            <a:off x="566928" y="1737360"/>
            <a:ext cx="64008" cy="1078992"/>
          </a:xfrm>
          <a:prstGeom prst="rect">
            <a:avLst/>
          </a:prstGeom>
          <a:solidFill>
            <a:srgbClr val="16826C"/>
          </a:solidFill>
          <a:ln w="12700">
            <a:solidFill>
              <a:srgbClr val="16826C">
                <a:alpha val="0"/>
              </a:srgbClr>
            </a:solidFill>
            <a:prstDash val="solid"/>
          </a:ln>
        </p:spPr>
      </p:sp>
      <p:sp>
        <p:nvSpPr>
          <p:cNvPr id="7" name="Text 5"/>
          <p:cNvSpPr/>
          <p:nvPr/>
        </p:nvSpPr>
        <p:spPr>
          <a:xfrm>
            <a:off x="768096" y="1847088"/>
            <a:ext cx="1810512" cy="438912"/>
          </a:xfrm>
          <a:prstGeom prst="rect">
            <a:avLst/>
          </a:prstGeom>
          <a:noFill/>
          <a:ln/>
        </p:spPr>
        <p:txBody>
          <a:bodyPr wrap="square" lIns="0" tIns="0" rIns="0" bIns="0" rtlCol="0" anchor="ctr">
            <a:normAutofit/>
          </a:bodyPr>
          <a:lstStyle/>
          <a:p>
            <a:pPr algn="l" indent="0" marL="0">
              <a:buNone/>
            </a:pPr>
            <a:r>
              <a:rPr lang="en-US" sz="2400" b="1" dirty="0">
                <a:solidFill>
                  <a:srgbClr val="071A2B"/>
                </a:solidFill>
                <a:latin typeface="Arimo" pitchFamily="34" charset="0"/>
                <a:ea typeface="Arimo" pitchFamily="34" charset="-122"/>
                <a:cs typeface="Arimo" pitchFamily="34" charset="-120"/>
              </a:rPr>
              <a:t>0</a:t>
            </a:r>
            <a:endParaRPr lang="en-US" sz="2400" dirty="0"/>
          </a:p>
        </p:txBody>
      </p:sp>
      <p:sp>
        <p:nvSpPr>
          <p:cNvPr id="8" name="Text 6"/>
          <p:cNvSpPr/>
          <p:nvPr/>
        </p:nvSpPr>
        <p:spPr>
          <a:xfrm>
            <a:off x="768096" y="2276856"/>
            <a:ext cx="1810512" cy="228600"/>
          </a:xfrm>
          <a:prstGeom prst="rect">
            <a:avLst/>
          </a:prstGeom>
          <a:noFill/>
          <a:ln/>
        </p:spPr>
        <p:txBody>
          <a:bodyPr wrap="square" lIns="0" tIns="0" rIns="0" bIns="0" rtlCol="0" anchor="ctr">
            <a:normAutofit/>
          </a:bodyPr>
          <a:lstStyle/>
          <a:p>
            <a:pPr algn="l" indent="0" marL="0">
              <a:buNone/>
            </a:pPr>
            <a:r>
              <a:rPr lang="en-US" sz="1020" b="1" dirty="0">
                <a:solidFill>
                  <a:srgbClr val="657383"/>
                </a:solidFill>
                <a:latin typeface="Arimo" pitchFamily="34" charset="0"/>
                <a:ea typeface="Arimo" pitchFamily="34" charset="-122"/>
                <a:cs typeface="Arimo" pitchFamily="34" charset="-120"/>
              </a:rPr>
              <a:t>duplicate rows</a:t>
            </a:r>
            <a:endParaRPr lang="en-US" sz="1020" dirty="0"/>
          </a:p>
        </p:txBody>
      </p:sp>
      <p:sp>
        <p:nvSpPr>
          <p:cNvPr id="9" name="Text 7"/>
          <p:cNvSpPr/>
          <p:nvPr/>
        </p:nvSpPr>
        <p:spPr>
          <a:xfrm>
            <a:off x="768096" y="2523744"/>
            <a:ext cx="1810512" cy="219456"/>
          </a:xfrm>
          <a:prstGeom prst="rect">
            <a:avLst/>
          </a:prstGeom>
          <a:noFill/>
          <a:ln/>
        </p:spPr>
        <p:txBody>
          <a:bodyPr wrap="square" lIns="0" tIns="0" rIns="0" bIns="0" rtlCol="0" anchor="t">
            <a:normAutofit/>
          </a:bodyPr>
          <a:lstStyle/>
          <a:p>
            <a:pPr algn="l" indent="0" marL="0">
              <a:buNone/>
            </a:pPr>
            <a:r>
              <a:rPr lang="en-US" sz="850" dirty="0">
                <a:solidFill>
                  <a:srgbClr val="657383"/>
                </a:solidFill>
                <a:latin typeface="Arimo" pitchFamily="34" charset="0"/>
                <a:ea typeface="Arimo" pitchFamily="34" charset="-122"/>
                <a:cs typeface="Arimo" pitchFamily="34" charset="-120"/>
              </a:rPr>
              <a:t>after feature/target deduplication</a:t>
            </a:r>
            <a:endParaRPr lang="en-US" sz="850" dirty="0"/>
          </a:p>
        </p:txBody>
      </p:sp>
      <p:sp>
        <p:nvSpPr>
          <p:cNvPr id="10" name="Shape 8"/>
          <p:cNvSpPr/>
          <p:nvPr/>
        </p:nvSpPr>
        <p:spPr>
          <a:xfrm>
            <a:off x="2816352" y="1737360"/>
            <a:ext cx="2103120" cy="1078992"/>
          </a:xfrm>
          <a:prstGeom prst="roundRect">
            <a:avLst>
              <a:gd name="adj" fmla="val 6780"/>
            </a:avLst>
          </a:prstGeom>
          <a:solidFill>
            <a:srgbClr val="FFFFFF"/>
          </a:solidFill>
          <a:ln w="12700">
            <a:solidFill>
              <a:srgbClr val="DDE4EC"/>
            </a:solidFill>
            <a:prstDash val="solid"/>
          </a:ln>
        </p:spPr>
      </p:sp>
      <p:sp>
        <p:nvSpPr>
          <p:cNvPr id="11" name="Shape 9"/>
          <p:cNvSpPr/>
          <p:nvPr/>
        </p:nvSpPr>
        <p:spPr>
          <a:xfrm>
            <a:off x="2816352" y="1737360"/>
            <a:ext cx="64008" cy="1078992"/>
          </a:xfrm>
          <a:prstGeom prst="rect">
            <a:avLst/>
          </a:prstGeom>
          <a:solidFill>
            <a:srgbClr val="16826C"/>
          </a:solidFill>
          <a:ln w="12700">
            <a:solidFill>
              <a:srgbClr val="16826C">
                <a:alpha val="0"/>
              </a:srgbClr>
            </a:solidFill>
            <a:prstDash val="solid"/>
          </a:ln>
        </p:spPr>
      </p:sp>
      <p:sp>
        <p:nvSpPr>
          <p:cNvPr id="12" name="Text 10"/>
          <p:cNvSpPr/>
          <p:nvPr/>
        </p:nvSpPr>
        <p:spPr>
          <a:xfrm>
            <a:off x="3017520" y="1847088"/>
            <a:ext cx="1810512" cy="438912"/>
          </a:xfrm>
          <a:prstGeom prst="rect">
            <a:avLst/>
          </a:prstGeom>
          <a:noFill/>
          <a:ln/>
        </p:spPr>
        <p:txBody>
          <a:bodyPr wrap="square" lIns="0" tIns="0" rIns="0" bIns="0" rtlCol="0" anchor="ctr">
            <a:normAutofit/>
          </a:bodyPr>
          <a:lstStyle/>
          <a:p>
            <a:pPr algn="l" indent="0" marL="0">
              <a:buNone/>
            </a:pPr>
            <a:r>
              <a:rPr lang="en-US" sz="2400" b="1" dirty="0">
                <a:solidFill>
                  <a:srgbClr val="071A2B"/>
                </a:solidFill>
                <a:latin typeface="Arimo" pitchFamily="34" charset="0"/>
                <a:ea typeface="Arimo" pitchFamily="34" charset="-122"/>
                <a:cs typeface="Arimo" pitchFamily="34" charset="-120"/>
              </a:rPr>
              <a:t>0</a:t>
            </a:r>
            <a:endParaRPr lang="en-US" sz="2400" dirty="0"/>
          </a:p>
        </p:txBody>
      </p:sp>
      <p:sp>
        <p:nvSpPr>
          <p:cNvPr id="13" name="Text 11"/>
          <p:cNvSpPr/>
          <p:nvPr/>
        </p:nvSpPr>
        <p:spPr>
          <a:xfrm>
            <a:off x="3017520" y="2276856"/>
            <a:ext cx="1810512" cy="228600"/>
          </a:xfrm>
          <a:prstGeom prst="rect">
            <a:avLst/>
          </a:prstGeom>
          <a:noFill/>
          <a:ln/>
        </p:spPr>
        <p:txBody>
          <a:bodyPr wrap="square" lIns="0" tIns="0" rIns="0" bIns="0" rtlCol="0" anchor="ctr">
            <a:normAutofit/>
          </a:bodyPr>
          <a:lstStyle/>
          <a:p>
            <a:pPr algn="l" indent="0" marL="0">
              <a:buNone/>
            </a:pPr>
            <a:r>
              <a:rPr lang="en-US" sz="1020" b="1" dirty="0">
                <a:solidFill>
                  <a:srgbClr val="657383"/>
                </a:solidFill>
                <a:latin typeface="Arimo" pitchFamily="34" charset="0"/>
                <a:ea typeface="Arimo" pitchFamily="34" charset="-122"/>
                <a:cs typeface="Arimo" pitchFamily="34" charset="-120"/>
              </a:rPr>
              <a:t>missing target prices</a:t>
            </a:r>
            <a:endParaRPr lang="en-US" sz="1020" dirty="0"/>
          </a:p>
        </p:txBody>
      </p:sp>
      <p:sp>
        <p:nvSpPr>
          <p:cNvPr id="14" name="Text 12"/>
          <p:cNvSpPr/>
          <p:nvPr/>
        </p:nvSpPr>
        <p:spPr>
          <a:xfrm>
            <a:off x="3017520" y="2523744"/>
            <a:ext cx="1810512" cy="219456"/>
          </a:xfrm>
          <a:prstGeom prst="rect">
            <a:avLst/>
          </a:prstGeom>
          <a:noFill/>
          <a:ln/>
        </p:spPr>
        <p:txBody>
          <a:bodyPr wrap="square" lIns="0" tIns="0" rIns="0" bIns="0" rtlCol="0" anchor="t">
            <a:normAutofit/>
          </a:bodyPr>
          <a:lstStyle/>
          <a:p>
            <a:pPr algn="l" indent="0" marL="0">
              <a:buNone/>
            </a:pPr>
            <a:r>
              <a:rPr lang="en-US" sz="850" dirty="0">
                <a:solidFill>
                  <a:srgbClr val="657383"/>
                </a:solidFill>
                <a:latin typeface="Arimo" pitchFamily="34" charset="0"/>
                <a:ea typeface="Arimo" pitchFamily="34" charset="-122"/>
                <a:cs typeface="Arimo" pitchFamily="34" charset="-120"/>
              </a:rPr>
              <a:t>price_usd is complete</a:t>
            </a:r>
            <a:endParaRPr lang="en-US" sz="850" dirty="0"/>
          </a:p>
        </p:txBody>
      </p:sp>
      <p:sp>
        <p:nvSpPr>
          <p:cNvPr id="15" name="Shape 13"/>
          <p:cNvSpPr/>
          <p:nvPr/>
        </p:nvSpPr>
        <p:spPr>
          <a:xfrm>
            <a:off x="5065776" y="1737360"/>
            <a:ext cx="2103120" cy="1078992"/>
          </a:xfrm>
          <a:prstGeom prst="roundRect">
            <a:avLst>
              <a:gd name="adj" fmla="val 6780"/>
            </a:avLst>
          </a:prstGeom>
          <a:solidFill>
            <a:srgbClr val="FFFFFF"/>
          </a:solidFill>
          <a:ln w="12700">
            <a:solidFill>
              <a:srgbClr val="DDE4EC"/>
            </a:solidFill>
            <a:prstDash val="solid"/>
          </a:ln>
        </p:spPr>
      </p:sp>
      <p:sp>
        <p:nvSpPr>
          <p:cNvPr id="16" name="Shape 14"/>
          <p:cNvSpPr/>
          <p:nvPr/>
        </p:nvSpPr>
        <p:spPr>
          <a:xfrm>
            <a:off x="5065776" y="1737360"/>
            <a:ext cx="64008" cy="1078992"/>
          </a:xfrm>
          <a:prstGeom prst="rect">
            <a:avLst/>
          </a:prstGeom>
          <a:solidFill>
            <a:srgbClr val="2F6BFF"/>
          </a:solidFill>
          <a:ln w="12700">
            <a:solidFill>
              <a:srgbClr val="2F6BFF">
                <a:alpha val="0"/>
              </a:srgbClr>
            </a:solidFill>
            <a:prstDash val="solid"/>
          </a:ln>
        </p:spPr>
      </p:sp>
      <p:sp>
        <p:nvSpPr>
          <p:cNvPr id="17" name="Text 15"/>
          <p:cNvSpPr/>
          <p:nvPr/>
        </p:nvSpPr>
        <p:spPr>
          <a:xfrm>
            <a:off x="5266944" y="1847088"/>
            <a:ext cx="1810512" cy="438912"/>
          </a:xfrm>
          <a:prstGeom prst="rect">
            <a:avLst/>
          </a:prstGeom>
          <a:noFill/>
          <a:ln/>
        </p:spPr>
        <p:txBody>
          <a:bodyPr wrap="square" lIns="0" tIns="0" rIns="0" bIns="0" rtlCol="0" anchor="ctr">
            <a:normAutofit/>
          </a:bodyPr>
          <a:lstStyle/>
          <a:p>
            <a:pPr algn="l" indent="0" marL="0">
              <a:buNone/>
            </a:pPr>
            <a:r>
              <a:rPr lang="en-US" sz="2400" b="1" dirty="0">
                <a:solidFill>
                  <a:srgbClr val="071A2B"/>
                </a:solidFill>
                <a:latin typeface="Arimo" pitchFamily="34" charset="0"/>
                <a:ea typeface="Arimo" pitchFamily="34" charset="-122"/>
                <a:cs typeface="Arimo" pitchFamily="34" charset="-120"/>
              </a:rPr>
              <a:t>48</a:t>
            </a:r>
            <a:endParaRPr lang="en-US" sz="2400" dirty="0"/>
          </a:p>
        </p:txBody>
      </p:sp>
      <p:sp>
        <p:nvSpPr>
          <p:cNvPr id="18" name="Text 16"/>
          <p:cNvSpPr/>
          <p:nvPr/>
        </p:nvSpPr>
        <p:spPr>
          <a:xfrm>
            <a:off x="5266944" y="2276856"/>
            <a:ext cx="1810512" cy="228600"/>
          </a:xfrm>
          <a:prstGeom prst="rect">
            <a:avLst/>
          </a:prstGeom>
          <a:noFill/>
          <a:ln/>
        </p:spPr>
        <p:txBody>
          <a:bodyPr wrap="square" lIns="0" tIns="0" rIns="0" bIns="0" rtlCol="0" anchor="ctr">
            <a:normAutofit/>
          </a:bodyPr>
          <a:lstStyle/>
          <a:p>
            <a:pPr algn="l" indent="0" marL="0">
              <a:buNone/>
            </a:pPr>
            <a:r>
              <a:rPr lang="en-US" sz="1020" b="1" dirty="0">
                <a:solidFill>
                  <a:srgbClr val="657383"/>
                </a:solidFill>
                <a:latin typeface="Arimo" pitchFamily="34" charset="0"/>
                <a:ea typeface="Arimo" pitchFamily="34" charset="-122"/>
                <a:cs typeface="Arimo" pitchFamily="34" charset="-120"/>
              </a:rPr>
              <a:t>usable model features</a:t>
            </a:r>
            <a:endParaRPr lang="en-US" sz="1020" dirty="0"/>
          </a:p>
        </p:txBody>
      </p:sp>
      <p:sp>
        <p:nvSpPr>
          <p:cNvPr id="19" name="Text 17"/>
          <p:cNvSpPr/>
          <p:nvPr/>
        </p:nvSpPr>
        <p:spPr>
          <a:xfrm>
            <a:off x="5266944" y="2523744"/>
            <a:ext cx="1810512" cy="219456"/>
          </a:xfrm>
          <a:prstGeom prst="rect">
            <a:avLst/>
          </a:prstGeom>
          <a:noFill/>
          <a:ln/>
        </p:spPr>
        <p:txBody>
          <a:bodyPr wrap="square" lIns="0" tIns="0" rIns="0" bIns="0" rtlCol="0" anchor="t">
            <a:normAutofit/>
          </a:bodyPr>
          <a:lstStyle/>
          <a:p>
            <a:pPr algn="l" indent="0" marL="0">
              <a:buNone/>
            </a:pPr>
            <a:r>
              <a:rPr lang="en-US" sz="850" dirty="0">
                <a:solidFill>
                  <a:srgbClr val="657383"/>
                </a:solidFill>
                <a:latin typeface="Arimo" pitchFamily="34" charset="0"/>
                <a:ea typeface="Arimo" pitchFamily="34" charset="-122"/>
                <a:cs typeface="Arimo" pitchFamily="34" charset="-120"/>
              </a:rPr>
              <a:t>38 numeric + 10 categorical</a:t>
            </a:r>
            <a:endParaRPr lang="en-US" sz="850" dirty="0"/>
          </a:p>
        </p:txBody>
      </p:sp>
      <p:sp>
        <p:nvSpPr>
          <p:cNvPr id="20" name="Shape 18"/>
          <p:cNvSpPr/>
          <p:nvPr/>
        </p:nvSpPr>
        <p:spPr>
          <a:xfrm>
            <a:off x="566928" y="3072384"/>
            <a:ext cx="6601968" cy="2688336"/>
          </a:xfrm>
          <a:prstGeom prst="roundRect">
            <a:avLst>
              <a:gd name="adj" fmla="val 4082"/>
            </a:avLst>
          </a:prstGeom>
          <a:solidFill>
            <a:srgbClr val="FFFFFF"/>
          </a:solidFill>
          <a:ln w="12700">
            <a:solidFill>
              <a:srgbClr val="DDE4EC"/>
            </a:solidFill>
            <a:prstDash val="solid"/>
          </a:ln>
        </p:spPr>
      </p:sp>
      <p:sp>
        <p:nvSpPr>
          <p:cNvPr id="21" name="Text 19"/>
          <p:cNvSpPr/>
          <p:nvPr/>
        </p:nvSpPr>
        <p:spPr>
          <a:xfrm>
            <a:off x="804672" y="3264408"/>
            <a:ext cx="2103120" cy="274320"/>
          </a:xfrm>
          <a:prstGeom prst="rect">
            <a:avLst/>
          </a:prstGeom>
          <a:noFill/>
          <a:ln/>
        </p:spPr>
        <p:txBody>
          <a:bodyPr wrap="square" lIns="0" tIns="0" rIns="0" bIns="0" rtlCol="0" anchor="ctr">
            <a:normAutofit/>
          </a:bodyPr>
          <a:lstStyle/>
          <a:p>
            <a:pPr algn="l" indent="0" marL="0">
              <a:buNone/>
            </a:pPr>
            <a:r>
              <a:rPr lang="en-US" sz="1300" b="1" dirty="0">
                <a:solidFill>
                  <a:srgbClr val="071A2B"/>
                </a:solidFill>
                <a:latin typeface="Arimo" pitchFamily="34" charset="0"/>
                <a:ea typeface="Arimo" pitchFamily="34" charset="-122"/>
                <a:cs typeface="Arimo" pitchFamily="34" charset="-120"/>
              </a:rPr>
              <a:t>Coverage snapshot</a:t>
            </a:r>
            <a:endParaRPr lang="en-US" sz="1300" dirty="0"/>
          </a:p>
        </p:txBody>
      </p:sp>
      <p:sp>
        <p:nvSpPr>
          <p:cNvPr id="22" name="Text 20"/>
          <p:cNvSpPr/>
          <p:nvPr/>
        </p:nvSpPr>
        <p:spPr>
          <a:xfrm>
            <a:off x="804672" y="3694176"/>
            <a:ext cx="1417320" cy="219456"/>
          </a:xfrm>
          <a:prstGeom prst="rect">
            <a:avLst/>
          </a:prstGeom>
          <a:noFill/>
          <a:ln/>
        </p:spPr>
        <p:txBody>
          <a:bodyPr wrap="square" lIns="0" tIns="0" rIns="0" bIns="0" rtlCol="0" anchor="ctr">
            <a:normAutofit/>
          </a:bodyPr>
          <a:lstStyle/>
          <a:p>
            <a:pPr algn="l" indent="0" marL="0">
              <a:buNone/>
            </a:pPr>
            <a:r>
              <a:rPr lang="en-US" sz="980" b="1" dirty="0">
                <a:solidFill>
                  <a:srgbClr val="657383"/>
                </a:solidFill>
                <a:latin typeface="Arimo" pitchFamily="34" charset="0"/>
                <a:ea typeface="Arimo" pitchFamily="34" charset="-122"/>
                <a:cs typeface="Arimo" pitchFamily="34" charset="-120"/>
              </a:rPr>
              <a:t>Rows by source</a:t>
            </a:r>
            <a:endParaRPr lang="en-US" sz="980" dirty="0"/>
          </a:p>
        </p:txBody>
      </p:sp>
      <p:sp>
        <p:nvSpPr>
          <p:cNvPr id="23" name="Text 21"/>
          <p:cNvSpPr/>
          <p:nvPr/>
        </p:nvSpPr>
        <p:spPr>
          <a:xfrm>
            <a:off x="804672" y="4005072"/>
            <a:ext cx="858896"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InfoCasas</a:t>
            </a:r>
            <a:endParaRPr lang="en-US" sz="1040" dirty="0"/>
          </a:p>
        </p:txBody>
      </p:sp>
      <p:sp>
        <p:nvSpPr>
          <p:cNvPr id="24" name="Shape 22"/>
          <p:cNvSpPr/>
          <p:nvPr/>
        </p:nvSpPr>
        <p:spPr>
          <a:xfrm>
            <a:off x="1663568" y="4037076"/>
            <a:ext cx="1385316" cy="146304"/>
          </a:xfrm>
          <a:prstGeom prst="roundRect">
            <a:avLst>
              <a:gd name="adj" fmla="val 50000"/>
            </a:avLst>
          </a:prstGeom>
          <a:solidFill>
            <a:srgbClr val="E7ECF2"/>
          </a:solidFill>
          <a:ln w="12700">
            <a:solidFill>
              <a:srgbClr val="E7ECF2"/>
            </a:solidFill>
            <a:prstDash val="solid"/>
          </a:ln>
        </p:spPr>
      </p:sp>
      <p:sp>
        <p:nvSpPr>
          <p:cNvPr id="25" name="Shape 23"/>
          <p:cNvSpPr/>
          <p:nvPr/>
        </p:nvSpPr>
        <p:spPr>
          <a:xfrm>
            <a:off x="1663568" y="4037076"/>
            <a:ext cx="1385316" cy="146304"/>
          </a:xfrm>
          <a:prstGeom prst="roundRect">
            <a:avLst>
              <a:gd name="adj" fmla="val 50000"/>
            </a:avLst>
          </a:prstGeom>
          <a:solidFill>
            <a:srgbClr val="16826C"/>
          </a:solidFill>
          <a:ln w="12700">
            <a:solidFill>
              <a:srgbClr val="16826C"/>
            </a:solidFill>
            <a:prstDash val="solid"/>
          </a:ln>
        </p:spPr>
      </p:sp>
      <p:sp>
        <p:nvSpPr>
          <p:cNvPr id="26" name="Text 24"/>
          <p:cNvSpPr/>
          <p:nvPr/>
        </p:nvSpPr>
        <p:spPr>
          <a:xfrm>
            <a:off x="3104297" y="4005072"/>
            <a:ext cx="471007"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66.7%</a:t>
            </a:r>
            <a:endParaRPr lang="en-US" sz="1000" dirty="0"/>
          </a:p>
        </p:txBody>
      </p:sp>
      <p:sp>
        <p:nvSpPr>
          <p:cNvPr id="27" name="Text 25"/>
          <p:cNvSpPr/>
          <p:nvPr/>
        </p:nvSpPr>
        <p:spPr>
          <a:xfrm>
            <a:off x="804672" y="4325112"/>
            <a:ext cx="858896"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ZonaProp</a:t>
            </a:r>
            <a:endParaRPr lang="en-US" sz="1040" dirty="0"/>
          </a:p>
        </p:txBody>
      </p:sp>
      <p:sp>
        <p:nvSpPr>
          <p:cNvPr id="28" name="Shape 26"/>
          <p:cNvSpPr/>
          <p:nvPr/>
        </p:nvSpPr>
        <p:spPr>
          <a:xfrm>
            <a:off x="1663568" y="4357116"/>
            <a:ext cx="1385316" cy="146304"/>
          </a:xfrm>
          <a:prstGeom prst="roundRect">
            <a:avLst>
              <a:gd name="adj" fmla="val 50000"/>
            </a:avLst>
          </a:prstGeom>
          <a:solidFill>
            <a:srgbClr val="E7ECF2"/>
          </a:solidFill>
          <a:ln w="12700">
            <a:solidFill>
              <a:srgbClr val="E7ECF2"/>
            </a:solidFill>
            <a:prstDash val="solid"/>
          </a:ln>
        </p:spPr>
      </p:sp>
      <p:sp>
        <p:nvSpPr>
          <p:cNvPr id="29" name="Shape 27"/>
          <p:cNvSpPr/>
          <p:nvPr/>
        </p:nvSpPr>
        <p:spPr>
          <a:xfrm>
            <a:off x="1663568" y="4357116"/>
            <a:ext cx="679214" cy="146304"/>
          </a:xfrm>
          <a:prstGeom prst="roundRect">
            <a:avLst>
              <a:gd name="adj" fmla="val 50000"/>
            </a:avLst>
          </a:prstGeom>
          <a:solidFill>
            <a:srgbClr val="2F6BFF"/>
          </a:solidFill>
          <a:ln w="12700">
            <a:solidFill>
              <a:srgbClr val="2F6BFF"/>
            </a:solidFill>
            <a:prstDash val="solid"/>
          </a:ln>
        </p:spPr>
      </p:sp>
      <p:sp>
        <p:nvSpPr>
          <p:cNvPr id="30" name="Text 28"/>
          <p:cNvSpPr/>
          <p:nvPr/>
        </p:nvSpPr>
        <p:spPr>
          <a:xfrm>
            <a:off x="3104297" y="4325112"/>
            <a:ext cx="471007"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32.7%</a:t>
            </a:r>
            <a:endParaRPr lang="en-US" sz="1000" dirty="0"/>
          </a:p>
        </p:txBody>
      </p:sp>
      <p:sp>
        <p:nvSpPr>
          <p:cNvPr id="31" name="Text 29"/>
          <p:cNvSpPr/>
          <p:nvPr/>
        </p:nvSpPr>
        <p:spPr>
          <a:xfrm>
            <a:off x="804672" y="4645152"/>
            <a:ext cx="858896"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ArgenProp</a:t>
            </a:r>
            <a:endParaRPr lang="en-US" sz="1040" dirty="0"/>
          </a:p>
        </p:txBody>
      </p:sp>
      <p:sp>
        <p:nvSpPr>
          <p:cNvPr id="32" name="Shape 30"/>
          <p:cNvSpPr/>
          <p:nvPr/>
        </p:nvSpPr>
        <p:spPr>
          <a:xfrm>
            <a:off x="1663568" y="4677156"/>
            <a:ext cx="1385316" cy="146304"/>
          </a:xfrm>
          <a:prstGeom prst="roundRect">
            <a:avLst>
              <a:gd name="adj" fmla="val 50000"/>
            </a:avLst>
          </a:prstGeom>
          <a:solidFill>
            <a:srgbClr val="E7ECF2"/>
          </a:solidFill>
          <a:ln w="12700">
            <a:solidFill>
              <a:srgbClr val="E7ECF2"/>
            </a:solidFill>
            <a:prstDash val="solid"/>
          </a:ln>
        </p:spPr>
      </p:sp>
      <p:sp>
        <p:nvSpPr>
          <p:cNvPr id="33" name="Shape 31"/>
          <p:cNvSpPr/>
          <p:nvPr/>
        </p:nvSpPr>
        <p:spPr>
          <a:xfrm>
            <a:off x="1663568" y="4677156"/>
            <a:ext cx="12859" cy="146304"/>
          </a:xfrm>
          <a:prstGeom prst="roundRect">
            <a:avLst>
              <a:gd name="adj" fmla="val 568878"/>
            </a:avLst>
          </a:prstGeom>
          <a:solidFill>
            <a:srgbClr val="F1A73C"/>
          </a:solidFill>
          <a:ln w="12700">
            <a:solidFill>
              <a:srgbClr val="F1A73C"/>
            </a:solidFill>
            <a:prstDash val="solid"/>
          </a:ln>
        </p:spPr>
      </p:sp>
      <p:sp>
        <p:nvSpPr>
          <p:cNvPr id="34" name="Text 32"/>
          <p:cNvSpPr/>
          <p:nvPr/>
        </p:nvSpPr>
        <p:spPr>
          <a:xfrm>
            <a:off x="3104297" y="4645152"/>
            <a:ext cx="471007"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0.6%</a:t>
            </a:r>
            <a:endParaRPr lang="en-US" sz="1000" dirty="0"/>
          </a:p>
        </p:txBody>
      </p:sp>
      <p:sp>
        <p:nvSpPr>
          <p:cNvPr id="35" name="Text 33"/>
          <p:cNvSpPr/>
          <p:nvPr/>
        </p:nvSpPr>
        <p:spPr>
          <a:xfrm>
            <a:off x="3931920" y="3694176"/>
            <a:ext cx="1417320" cy="219456"/>
          </a:xfrm>
          <a:prstGeom prst="rect">
            <a:avLst/>
          </a:prstGeom>
          <a:noFill/>
          <a:ln/>
        </p:spPr>
        <p:txBody>
          <a:bodyPr wrap="square" lIns="0" tIns="0" rIns="0" bIns="0" rtlCol="0" anchor="ctr">
            <a:normAutofit/>
          </a:bodyPr>
          <a:lstStyle/>
          <a:p>
            <a:pPr algn="l" indent="0" marL="0">
              <a:buNone/>
            </a:pPr>
            <a:r>
              <a:rPr lang="en-US" sz="980" b="1" dirty="0">
                <a:solidFill>
                  <a:srgbClr val="657383"/>
                </a:solidFill>
                <a:latin typeface="Arimo" pitchFamily="34" charset="0"/>
                <a:ea typeface="Arimo" pitchFamily="34" charset="-122"/>
                <a:cs typeface="Arimo" pitchFamily="34" charset="-120"/>
              </a:rPr>
              <a:t>Property type</a:t>
            </a:r>
            <a:endParaRPr lang="en-US" sz="980" dirty="0"/>
          </a:p>
        </p:txBody>
      </p:sp>
      <p:sp>
        <p:nvSpPr>
          <p:cNvPr id="36" name="Text 34"/>
          <p:cNvSpPr/>
          <p:nvPr/>
        </p:nvSpPr>
        <p:spPr>
          <a:xfrm>
            <a:off x="3931920" y="4005072"/>
            <a:ext cx="836219"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Apartment</a:t>
            </a:r>
            <a:endParaRPr lang="en-US" sz="1040" dirty="0"/>
          </a:p>
        </p:txBody>
      </p:sp>
      <p:sp>
        <p:nvSpPr>
          <p:cNvPr id="37" name="Shape 35"/>
          <p:cNvSpPr/>
          <p:nvPr/>
        </p:nvSpPr>
        <p:spPr>
          <a:xfrm>
            <a:off x="4768139" y="4037076"/>
            <a:ext cx="1348740" cy="146304"/>
          </a:xfrm>
          <a:prstGeom prst="roundRect">
            <a:avLst>
              <a:gd name="adj" fmla="val 50000"/>
            </a:avLst>
          </a:prstGeom>
          <a:solidFill>
            <a:srgbClr val="E7ECF2"/>
          </a:solidFill>
          <a:ln w="12700">
            <a:solidFill>
              <a:srgbClr val="E7ECF2"/>
            </a:solidFill>
            <a:prstDash val="solid"/>
          </a:ln>
        </p:spPr>
      </p:sp>
      <p:sp>
        <p:nvSpPr>
          <p:cNvPr id="38" name="Shape 36"/>
          <p:cNvSpPr/>
          <p:nvPr/>
        </p:nvSpPr>
        <p:spPr>
          <a:xfrm>
            <a:off x="4768139" y="4037076"/>
            <a:ext cx="1348740" cy="146304"/>
          </a:xfrm>
          <a:prstGeom prst="roundRect">
            <a:avLst>
              <a:gd name="adj" fmla="val 50000"/>
            </a:avLst>
          </a:prstGeom>
          <a:solidFill>
            <a:srgbClr val="2F6BFF"/>
          </a:solidFill>
          <a:ln w="12700">
            <a:solidFill>
              <a:srgbClr val="2F6BFF"/>
            </a:solidFill>
            <a:prstDash val="solid"/>
          </a:ln>
        </p:spPr>
      </p:sp>
      <p:sp>
        <p:nvSpPr>
          <p:cNvPr id="39" name="Text 37"/>
          <p:cNvSpPr/>
          <p:nvPr/>
        </p:nvSpPr>
        <p:spPr>
          <a:xfrm>
            <a:off x="6170828" y="4005072"/>
            <a:ext cx="458572"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1,261</a:t>
            </a:r>
            <a:endParaRPr lang="en-US" sz="1000" dirty="0"/>
          </a:p>
        </p:txBody>
      </p:sp>
      <p:sp>
        <p:nvSpPr>
          <p:cNvPr id="40" name="Text 38"/>
          <p:cNvSpPr/>
          <p:nvPr/>
        </p:nvSpPr>
        <p:spPr>
          <a:xfrm>
            <a:off x="3931920" y="4325112"/>
            <a:ext cx="836219"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House</a:t>
            </a:r>
            <a:endParaRPr lang="en-US" sz="1040" dirty="0"/>
          </a:p>
        </p:txBody>
      </p:sp>
      <p:sp>
        <p:nvSpPr>
          <p:cNvPr id="41" name="Shape 39"/>
          <p:cNvSpPr/>
          <p:nvPr/>
        </p:nvSpPr>
        <p:spPr>
          <a:xfrm>
            <a:off x="4768139" y="4357116"/>
            <a:ext cx="1348740" cy="146304"/>
          </a:xfrm>
          <a:prstGeom prst="roundRect">
            <a:avLst>
              <a:gd name="adj" fmla="val 50000"/>
            </a:avLst>
          </a:prstGeom>
          <a:solidFill>
            <a:srgbClr val="E7ECF2"/>
          </a:solidFill>
          <a:ln w="12700">
            <a:solidFill>
              <a:srgbClr val="E7ECF2"/>
            </a:solidFill>
            <a:prstDash val="solid"/>
          </a:ln>
        </p:spPr>
      </p:sp>
      <p:sp>
        <p:nvSpPr>
          <p:cNvPr id="42" name="Shape 40"/>
          <p:cNvSpPr/>
          <p:nvPr/>
        </p:nvSpPr>
        <p:spPr>
          <a:xfrm>
            <a:off x="4768139" y="4357116"/>
            <a:ext cx="456711" cy="146304"/>
          </a:xfrm>
          <a:prstGeom prst="roundRect">
            <a:avLst>
              <a:gd name="adj" fmla="val 50000"/>
            </a:avLst>
          </a:prstGeom>
          <a:solidFill>
            <a:srgbClr val="F1A73C"/>
          </a:solidFill>
          <a:ln w="12700">
            <a:solidFill>
              <a:srgbClr val="F1A73C"/>
            </a:solidFill>
            <a:prstDash val="solid"/>
          </a:ln>
        </p:spPr>
      </p:sp>
      <p:sp>
        <p:nvSpPr>
          <p:cNvPr id="43" name="Text 41"/>
          <p:cNvSpPr/>
          <p:nvPr/>
        </p:nvSpPr>
        <p:spPr>
          <a:xfrm>
            <a:off x="6170828" y="4325112"/>
            <a:ext cx="458572"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427</a:t>
            </a:r>
            <a:endParaRPr lang="en-US" sz="1000" dirty="0"/>
          </a:p>
        </p:txBody>
      </p:sp>
      <p:sp>
        <p:nvSpPr>
          <p:cNvPr id="44" name="Text 42"/>
          <p:cNvSpPr/>
          <p:nvPr/>
        </p:nvSpPr>
        <p:spPr>
          <a:xfrm>
            <a:off x="3931920" y="4645152"/>
            <a:ext cx="836219" cy="219456"/>
          </a:xfrm>
          <a:prstGeom prst="rect">
            <a:avLst/>
          </a:prstGeom>
          <a:noFill/>
          <a:ln/>
        </p:spPr>
        <p:txBody>
          <a:bodyPr wrap="square" lIns="0" tIns="0" rIns="0" bIns="0" rtlCol="0" anchor="ctr">
            <a:normAutofit/>
          </a:bodyPr>
          <a:lstStyle/>
          <a:p>
            <a:pPr algn="l" indent="0" marL="0">
              <a:buNone/>
            </a:pPr>
            <a:r>
              <a:rPr lang="en-US" sz="1040" b="1" dirty="0">
                <a:solidFill>
                  <a:srgbClr val="15202B"/>
                </a:solidFill>
                <a:latin typeface="Arimo" pitchFamily="34" charset="0"/>
                <a:ea typeface="Arimo" pitchFamily="34" charset="-122"/>
                <a:cs typeface="Arimo" pitchFamily="34" charset="-120"/>
              </a:rPr>
              <a:t>PH</a:t>
            </a:r>
            <a:endParaRPr lang="en-US" sz="1040" dirty="0"/>
          </a:p>
        </p:txBody>
      </p:sp>
      <p:sp>
        <p:nvSpPr>
          <p:cNvPr id="45" name="Shape 43"/>
          <p:cNvSpPr/>
          <p:nvPr/>
        </p:nvSpPr>
        <p:spPr>
          <a:xfrm>
            <a:off x="4768139" y="4677156"/>
            <a:ext cx="1348740" cy="146304"/>
          </a:xfrm>
          <a:prstGeom prst="roundRect">
            <a:avLst>
              <a:gd name="adj" fmla="val 50000"/>
            </a:avLst>
          </a:prstGeom>
          <a:solidFill>
            <a:srgbClr val="E7ECF2"/>
          </a:solidFill>
          <a:ln w="12700">
            <a:solidFill>
              <a:srgbClr val="E7ECF2"/>
            </a:solidFill>
            <a:prstDash val="solid"/>
          </a:ln>
        </p:spPr>
      </p:sp>
      <p:sp>
        <p:nvSpPr>
          <p:cNvPr id="46" name="Shape 44"/>
          <p:cNvSpPr/>
          <p:nvPr/>
        </p:nvSpPr>
        <p:spPr>
          <a:xfrm>
            <a:off x="4768139" y="4677156"/>
            <a:ext cx="1070" cy="146304"/>
          </a:xfrm>
          <a:prstGeom prst="roundRect">
            <a:avLst>
              <a:gd name="adj" fmla="val 6836636"/>
            </a:avLst>
          </a:prstGeom>
          <a:solidFill>
            <a:srgbClr val="18A7B8"/>
          </a:solidFill>
          <a:ln w="12700">
            <a:solidFill>
              <a:srgbClr val="18A7B8"/>
            </a:solidFill>
            <a:prstDash val="solid"/>
          </a:ln>
        </p:spPr>
      </p:sp>
      <p:sp>
        <p:nvSpPr>
          <p:cNvPr id="47" name="Text 45"/>
          <p:cNvSpPr/>
          <p:nvPr/>
        </p:nvSpPr>
        <p:spPr>
          <a:xfrm>
            <a:off x="6170828" y="4645152"/>
            <a:ext cx="458572" cy="219456"/>
          </a:xfrm>
          <a:prstGeom prst="rect">
            <a:avLst/>
          </a:prstGeom>
          <a:noFill/>
          <a:ln/>
        </p:spPr>
        <p:txBody>
          <a:bodyPr wrap="square" lIns="0" tIns="0" rIns="0" bIns="0" rtlCol="0" anchor="ctr">
            <a:normAutofit/>
          </a:bodyPr>
          <a:lstStyle/>
          <a:p>
            <a:pPr algn="r" indent="0" marL="0">
              <a:buNone/>
            </a:pPr>
            <a:r>
              <a:rPr lang="en-US" sz="1000" dirty="0">
                <a:solidFill>
                  <a:srgbClr val="657383"/>
                </a:solidFill>
                <a:latin typeface="Arimo" pitchFamily="34" charset="0"/>
                <a:ea typeface="Arimo" pitchFamily="34" charset="-122"/>
                <a:cs typeface="Arimo" pitchFamily="34" charset="-120"/>
              </a:rPr>
              <a:t>1</a:t>
            </a:r>
            <a:endParaRPr lang="en-US" sz="1000" dirty="0"/>
          </a:p>
        </p:txBody>
      </p:sp>
      <p:sp>
        <p:nvSpPr>
          <p:cNvPr id="48" name="Text 46"/>
          <p:cNvSpPr/>
          <p:nvPr/>
        </p:nvSpPr>
        <p:spPr>
          <a:xfrm>
            <a:off x="804672" y="5148072"/>
            <a:ext cx="5961888" cy="384048"/>
          </a:xfrm>
          <a:prstGeom prst="rect">
            <a:avLst/>
          </a:prstGeom>
          <a:noFill/>
          <a:ln/>
        </p:spPr>
        <p:txBody>
          <a:bodyPr wrap="square" lIns="0" tIns="0" rIns="0" bIns="0" rtlCol="0" anchor="ctr">
            <a:normAutofit/>
          </a:bodyPr>
          <a:lstStyle/>
          <a:p>
            <a:pPr algn="l" indent="0" marL="0">
              <a:buNone/>
            </a:pPr>
            <a:r>
              <a:rPr lang="en-US" sz="970" dirty="0">
                <a:solidFill>
                  <a:srgbClr val="657383"/>
                </a:solidFill>
                <a:latin typeface="Arimo" pitchFamily="34" charset="0"/>
                <a:ea typeface="Arimo" pitchFamily="34" charset="-122"/>
                <a:cs typeface="Arimo" pitchFamily="34" charset="-120"/>
              </a:rPr>
              <a:t>The imbalance is visible before modeling — so headline metrics must be read together with segment metrics.</a:t>
            </a:r>
            <a:endParaRPr lang="en-US" sz="970" dirty="0"/>
          </a:p>
        </p:txBody>
      </p:sp>
      <p:sp>
        <p:nvSpPr>
          <p:cNvPr id="49" name="Shape 47"/>
          <p:cNvSpPr/>
          <p:nvPr/>
        </p:nvSpPr>
        <p:spPr>
          <a:xfrm>
            <a:off x="7443216" y="1737360"/>
            <a:ext cx="3767328" cy="4023360"/>
          </a:xfrm>
          <a:prstGeom prst="roundRect">
            <a:avLst>
              <a:gd name="adj" fmla="val 2913"/>
            </a:avLst>
          </a:prstGeom>
          <a:solidFill>
            <a:srgbClr val="071A2B"/>
          </a:solidFill>
          <a:ln w="12700">
            <a:solidFill>
              <a:srgbClr val="071A2B"/>
            </a:solidFill>
            <a:prstDash val="solid"/>
          </a:ln>
        </p:spPr>
      </p:sp>
      <p:sp>
        <p:nvSpPr>
          <p:cNvPr id="50" name="Text 48"/>
          <p:cNvSpPr/>
          <p:nvPr/>
        </p:nvSpPr>
        <p:spPr>
          <a:xfrm>
            <a:off x="7763256" y="1993392"/>
            <a:ext cx="3136392" cy="27432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mo" pitchFamily="34" charset="0"/>
                <a:ea typeface="Arimo" pitchFamily="34" charset="-122"/>
                <a:cs typeface="Arimo" pitchFamily="34" charset="-120"/>
              </a:rPr>
              <a:t>What carries signal</a:t>
            </a:r>
            <a:endParaRPr lang="en-US" sz="1400" dirty="0"/>
          </a:p>
        </p:txBody>
      </p:sp>
      <p:sp>
        <p:nvSpPr>
          <p:cNvPr id="51" name="Shape 49"/>
          <p:cNvSpPr/>
          <p:nvPr/>
        </p:nvSpPr>
        <p:spPr>
          <a:xfrm>
            <a:off x="7754112" y="2523744"/>
            <a:ext cx="228600" cy="228600"/>
          </a:xfrm>
          <a:prstGeom prst="ellipse">
            <a:avLst/>
          </a:prstGeom>
          <a:solidFill>
            <a:srgbClr val="2F6BFF"/>
          </a:solidFill>
          <a:ln w="12700">
            <a:solidFill>
              <a:srgbClr val="2F6BFF">
                <a:alpha val="0"/>
              </a:srgbClr>
            </a:solidFill>
            <a:prstDash val="solid"/>
          </a:ln>
        </p:spPr>
      </p:sp>
      <p:sp>
        <p:nvSpPr>
          <p:cNvPr id="52" name="Text 50"/>
          <p:cNvSpPr/>
          <p:nvPr/>
        </p:nvSpPr>
        <p:spPr>
          <a:xfrm>
            <a:off x="8101584" y="2487168"/>
            <a:ext cx="841248" cy="228600"/>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mo" pitchFamily="34" charset="0"/>
                <a:ea typeface="Arimo" pitchFamily="34" charset="-122"/>
                <a:cs typeface="Arimo" pitchFamily="34" charset="-120"/>
              </a:rPr>
              <a:t>Location</a:t>
            </a:r>
            <a:endParaRPr lang="en-US" sz="1050" dirty="0"/>
          </a:p>
        </p:txBody>
      </p:sp>
      <p:sp>
        <p:nvSpPr>
          <p:cNvPr id="53" name="Text 51"/>
          <p:cNvSpPr/>
          <p:nvPr/>
        </p:nvSpPr>
        <p:spPr>
          <a:xfrm>
            <a:off x="8906256" y="2487168"/>
            <a:ext cx="1956816" cy="237744"/>
          </a:xfrm>
          <a:prstGeom prst="rect">
            <a:avLst/>
          </a:prstGeom>
          <a:noFill/>
          <a:ln/>
        </p:spPr>
        <p:txBody>
          <a:bodyPr wrap="square" lIns="0" tIns="0" rIns="0" bIns="0" rtlCol="0" anchor="ctr">
            <a:normAutofit/>
          </a:bodyPr>
          <a:lstStyle/>
          <a:p>
            <a:pPr algn="l" indent="0" marL="0">
              <a:buNone/>
            </a:pPr>
            <a:r>
              <a:rPr lang="en-US" sz="870" dirty="0">
                <a:solidFill>
                  <a:srgbClr val="A9BED1"/>
                </a:solidFill>
                <a:latin typeface="Arimo" pitchFamily="34" charset="0"/>
                <a:ea typeface="Arimo" pitchFamily="34" charset="-122"/>
                <a:cs typeface="Arimo" pitchFamily="34" charset="-120"/>
              </a:rPr>
              <a:t>country • province • city • neighborhood</a:t>
            </a:r>
            <a:endParaRPr lang="en-US" sz="870" dirty="0"/>
          </a:p>
        </p:txBody>
      </p:sp>
      <p:sp>
        <p:nvSpPr>
          <p:cNvPr id="54" name="Shape 52"/>
          <p:cNvSpPr/>
          <p:nvPr/>
        </p:nvSpPr>
        <p:spPr>
          <a:xfrm>
            <a:off x="7754112" y="3182112"/>
            <a:ext cx="228600" cy="228600"/>
          </a:xfrm>
          <a:prstGeom prst="ellipse">
            <a:avLst/>
          </a:prstGeom>
          <a:solidFill>
            <a:srgbClr val="18A7B8"/>
          </a:solidFill>
          <a:ln w="12700">
            <a:solidFill>
              <a:srgbClr val="18A7B8">
                <a:alpha val="0"/>
              </a:srgbClr>
            </a:solidFill>
            <a:prstDash val="solid"/>
          </a:ln>
        </p:spPr>
      </p:sp>
      <p:sp>
        <p:nvSpPr>
          <p:cNvPr id="55" name="Text 53"/>
          <p:cNvSpPr/>
          <p:nvPr/>
        </p:nvSpPr>
        <p:spPr>
          <a:xfrm>
            <a:off x="8101584" y="3145536"/>
            <a:ext cx="841248" cy="228600"/>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mo" pitchFamily="34" charset="0"/>
                <a:ea typeface="Arimo" pitchFamily="34" charset="-122"/>
                <a:cs typeface="Arimo" pitchFamily="34" charset="-120"/>
              </a:rPr>
              <a:t>Size</a:t>
            </a:r>
            <a:endParaRPr lang="en-US" sz="1050" dirty="0"/>
          </a:p>
        </p:txBody>
      </p:sp>
      <p:sp>
        <p:nvSpPr>
          <p:cNvPr id="56" name="Text 54"/>
          <p:cNvSpPr/>
          <p:nvPr/>
        </p:nvSpPr>
        <p:spPr>
          <a:xfrm>
            <a:off x="8906256" y="3145536"/>
            <a:ext cx="1956816" cy="237744"/>
          </a:xfrm>
          <a:prstGeom prst="rect">
            <a:avLst/>
          </a:prstGeom>
          <a:noFill/>
          <a:ln/>
        </p:spPr>
        <p:txBody>
          <a:bodyPr wrap="square" lIns="0" tIns="0" rIns="0" bIns="0" rtlCol="0" anchor="ctr">
            <a:normAutofit/>
          </a:bodyPr>
          <a:lstStyle/>
          <a:p>
            <a:pPr algn="l" indent="0" marL="0">
              <a:buNone/>
            </a:pPr>
            <a:r>
              <a:rPr lang="en-US" sz="870" dirty="0">
                <a:solidFill>
                  <a:srgbClr val="A9BED1"/>
                </a:solidFill>
                <a:latin typeface="Arimo" pitchFamily="34" charset="0"/>
                <a:ea typeface="Arimo" pitchFamily="34" charset="-122"/>
                <a:cs typeface="Arimo" pitchFamily="34" charset="-120"/>
              </a:rPr>
              <a:t>covered / effective / total area</a:t>
            </a:r>
            <a:endParaRPr lang="en-US" sz="870" dirty="0"/>
          </a:p>
        </p:txBody>
      </p:sp>
      <p:sp>
        <p:nvSpPr>
          <p:cNvPr id="57" name="Shape 55"/>
          <p:cNvSpPr/>
          <p:nvPr/>
        </p:nvSpPr>
        <p:spPr>
          <a:xfrm>
            <a:off x="7754112" y="3840480"/>
            <a:ext cx="228600" cy="228600"/>
          </a:xfrm>
          <a:prstGeom prst="ellipse">
            <a:avLst/>
          </a:prstGeom>
          <a:solidFill>
            <a:srgbClr val="F1A73C"/>
          </a:solidFill>
          <a:ln w="12700">
            <a:solidFill>
              <a:srgbClr val="F1A73C">
                <a:alpha val="0"/>
              </a:srgbClr>
            </a:solidFill>
            <a:prstDash val="solid"/>
          </a:ln>
        </p:spPr>
      </p:sp>
      <p:sp>
        <p:nvSpPr>
          <p:cNvPr id="58" name="Text 56"/>
          <p:cNvSpPr/>
          <p:nvPr/>
        </p:nvSpPr>
        <p:spPr>
          <a:xfrm>
            <a:off x="8101584" y="3803904"/>
            <a:ext cx="841248" cy="228600"/>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mo" pitchFamily="34" charset="0"/>
                <a:ea typeface="Arimo" pitchFamily="34" charset="-122"/>
                <a:cs typeface="Arimo" pitchFamily="34" charset="-120"/>
              </a:rPr>
              <a:t>Rooms</a:t>
            </a:r>
            <a:endParaRPr lang="en-US" sz="1050" dirty="0"/>
          </a:p>
        </p:txBody>
      </p:sp>
      <p:sp>
        <p:nvSpPr>
          <p:cNvPr id="59" name="Text 57"/>
          <p:cNvSpPr/>
          <p:nvPr/>
        </p:nvSpPr>
        <p:spPr>
          <a:xfrm>
            <a:off x="8906256" y="3803904"/>
            <a:ext cx="1956816" cy="237744"/>
          </a:xfrm>
          <a:prstGeom prst="rect">
            <a:avLst/>
          </a:prstGeom>
          <a:noFill/>
          <a:ln/>
        </p:spPr>
        <p:txBody>
          <a:bodyPr wrap="square" lIns="0" tIns="0" rIns="0" bIns="0" rtlCol="0" anchor="ctr">
            <a:normAutofit/>
          </a:bodyPr>
          <a:lstStyle/>
          <a:p>
            <a:pPr algn="l" indent="0" marL="0">
              <a:buNone/>
            </a:pPr>
            <a:r>
              <a:rPr lang="en-US" sz="870" dirty="0">
                <a:solidFill>
                  <a:srgbClr val="A9BED1"/>
                </a:solidFill>
                <a:latin typeface="Arimo" pitchFamily="34" charset="0"/>
                <a:ea typeface="Arimo" pitchFamily="34" charset="-122"/>
                <a:cs typeface="Arimo" pitchFamily="34" charset="-120"/>
              </a:rPr>
              <a:t>bedrooms • bathrooms • total rooms</a:t>
            </a:r>
            <a:endParaRPr lang="en-US" sz="870" dirty="0"/>
          </a:p>
        </p:txBody>
      </p:sp>
      <p:sp>
        <p:nvSpPr>
          <p:cNvPr id="60" name="Shape 58"/>
          <p:cNvSpPr/>
          <p:nvPr/>
        </p:nvSpPr>
        <p:spPr>
          <a:xfrm>
            <a:off x="7754112" y="4498848"/>
            <a:ext cx="228600" cy="228600"/>
          </a:xfrm>
          <a:prstGeom prst="ellipse">
            <a:avLst/>
          </a:prstGeom>
          <a:solidFill>
            <a:srgbClr val="16826C"/>
          </a:solidFill>
          <a:ln w="12700">
            <a:solidFill>
              <a:srgbClr val="16826C">
                <a:alpha val="0"/>
              </a:srgbClr>
            </a:solidFill>
            <a:prstDash val="solid"/>
          </a:ln>
        </p:spPr>
      </p:sp>
      <p:sp>
        <p:nvSpPr>
          <p:cNvPr id="61" name="Text 59"/>
          <p:cNvSpPr/>
          <p:nvPr/>
        </p:nvSpPr>
        <p:spPr>
          <a:xfrm>
            <a:off x="8101584" y="4462272"/>
            <a:ext cx="841248" cy="228600"/>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mo" pitchFamily="34" charset="0"/>
                <a:ea typeface="Arimo" pitchFamily="34" charset="-122"/>
                <a:cs typeface="Arimo" pitchFamily="34" charset="-120"/>
              </a:rPr>
              <a:t>Amenities</a:t>
            </a:r>
            <a:endParaRPr lang="en-US" sz="1050" dirty="0"/>
          </a:p>
        </p:txBody>
      </p:sp>
      <p:sp>
        <p:nvSpPr>
          <p:cNvPr id="62" name="Text 60"/>
          <p:cNvSpPr/>
          <p:nvPr/>
        </p:nvSpPr>
        <p:spPr>
          <a:xfrm>
            <a:off x="8906256" y="4462272"/>
            <a:ext cx="1956816" cy="237744"/>
          </a:xfrm>
          <a:prstGeom prst="rect">
            <a:avLst/>
          </a:prstGeom>
          <a:noFill/>
          <a:ln/>
        </p:spPr>
        <p:txBody>
          <a:bodyPr wrap="square" lIns="0" tIns="0" rIns="0" bIns="0" rtlCol="0" anchor="ctr">
            <a:normAutofit/>
          </a:bodyPr>
          <a:lstStyle/>
          <a:p>
            <a:pPr algn="l" indent="0" marL="0">
              <a:buNone/>
            </a:pPr>
            <a:r>
              <a:rPr lang="en-US" sz="870" dirty="0">
                <a:solidFill>
                  <a:srgbClr val="A9BED1"/>
                </a:solidFill>
                <a:latin typeface="Arimo" pitchFamily="34" charset="0"/>
                <a:ea typeface="Arimo" pitchFamily="34" charset="-122"/>
                <a:cs typeface="Arimo" pitchFamily="34" charset="-120"/>
              </a:rPr>
              <a:t>parking • balcony • pool • security • etc.</a:t>
            </a:r>
            <a:endParaRPr lang="en-US" sz="870" dirty="0"/>
          </a:p>
        </p:txBody>
      </p:sp>
      <p:sp>
        <p:nvSpPr>
          <p:cNvPr id="63" name="Shape 61"/>
          <p:cNvSpPr/>
          <p:nvPr/>
        </p:nvSpPr>
        <p:spPr>
          <a:xfrm>
            <a:off x="7772400" y="5148072"/>
            <a:ext cx="3054096" cy="0"/>
          </a:xfrm>
          <a:prstGeom prst="line">
            <a:avLst/>
          </a:prstGeom>
          <a:noFill/>
          <a:ln w="12700">
            <a:solidFill>
              <a:srgbClr val="28455F"/>
            </a:solidFill>
            <a:prstDash val="solid"/>
            <a:headEnd type="none"/>
            <a:tailEnd type="none"/>
          </a:ln>
        </p:spPr>
      </p:sp>
      <p:sp>
        <p:nvSpPr>
          <p:cNvPr id="64" name="Text 62"/>
          <p:cNvSpPr/>
          <p:nvPr/>
        </p:nvSpPr>
        <p:spPr>
          <a:xfrm>
            <a:off x="7763256" y="5294376"/>
            <a:ext cx="1143000" cy="201168"/>
          </a:xfrm>
          <a:prstGeom prst="rect">
            <a:avLst/>
          </a:prstGeom>
          <a:noFill/>
          <a:ln/>
        </p:spPr>
        <p:txBody>
          <a:bodyPr wrap="square" lIns="0" tIns="0" rIns="0" bIns="0" rtlCol="0" anchor="ctr">
            <a:normAutofit/>
          </a:bodyPr>
          <a:lstStyle/>
          <a:p>
            <a:pPr algn="l" indent="0" marL="0">
              <a:buNone/>
            </a:pPr>
            <a:r>
              <a:rPr lang="en-US" sz="950" b="1" dirty="0">
                <a:solidFill>
                  <a:srgbClr val="F3C474"/>
                </a:solidFill>
                <a:latin typeface="Arimo" pitchFamily="34" charset="0"/>
                <a:ea typeface="Arimo" pitchFamily="34" charset="-122"/>
                <a:cs typeface="Arimo" pitchFamily="34" charset="-120"/>
              </a:rPr>
              <a:t>EDA cautions</a:t>
            </a:r>
            <a:endParaRPr lang="en-US" sz="950" dirty="0"/>
          </a:p>
        </p:txBody>
      </p:sp>
      <p:sp>
        <p:nvSpPr>
          <p:cNvPr id="65" name="Text 63"/>
          <p:cNvSpPr/>
          <p:nvPr/>
        </p:nvSpPr>
        <p:spPr>
          <a:xfrm>
            <a:off x="7763256" y="5504688"/>
            <a:ext cx="3017520" cy="658368"/>
          </a:xfrm>
          <a:prstGeom prst="rect">
            <a:avLst/>
          </a:prstGeom>
          <a:noFill/>
          <a:ln/>
        </p:spPr>
        <p:txBody>
          <a:bodyPr wrap="square" lIns="0" tIns="0" rIns="0" bIns="0" rtlCol="0" anchor="t">
            <a:normAutofit/>
          </a:bodyPr>
          <a:lstStyle/>
          <a:p>
            <a:pPr algn="l" indent="0" marL="0">
              <a:buNone/>
            </a:pPr>
            <a:r>
              <a:rPr lang="en-US" sz="910" dirty="0">
                <a:solidFill>
                  <a:srgbClr val="C3D1DD"/>
                </a:solidFill>
                <a:latin typeface="Arimo" pitchFamily="34" charset="0"/>
                <a:ea typeface="Arimo" pitchFamily="34" charset="-122"/>
                <a:cs typeface="Arimo" pitchFamily="34" charset="-120"/>
              </a:rPr>
              <a:t>Asking prices ≠ completed sales</a:t>
            </a:r>
            <a:endParaRPr lang="en-US" sz="910" dirty="0"/>
          </a:p>
          <a:p>
            <a:pPr algn="l" indent="0" marL="0">
              <a:buNone/>
            </a:pPr>
            <a:r>
              <a:rPr lang="en-US" sz="910" dirty="0">
                <a:solidFill>
                  <a:srgbClr val="C3D1DD"/>
                </a:solidFill>
                <a:latin typeface="Arimo" pitchFamily="34" charset="0"/>
                <a:ea typeface="Arimo" pitchFamily="34" charset="-122"/>
                <a:cs typeface="Arimo" pitchFamily="34" charset="-120"/>
              </a:rPr>
              <a:t>Amenity 0 = “not mentioned”</a:t>
            </a:r>
            <a:endParaRPr lang="en-US" sz="910" dirty="0"/>
          </a:p>
          <a:p>
            <a:pPr algn="l" indent="0" marL="0">
              <a:buNone/>
            </a:pPr>
            <a:r>
              <a:rPr lang="en-US" sz="910" dirty="0">
                <a:solidFill>
                  <a:srgbClr val="C3D1DD"/>
                </a:solidFill>
                <a:latin typeface="Arimo" pitchFamily="34" charset="0"/>
                <a:ea typeface="Arimo" pitchFamily="34" charset="-122"/>
                <a:cs typeface="Arimo" pitchFamily="34" charset="-120"/>
              </a:rPr>
              <a:t>Some optional fields are very sparse</a:t>
            </a:r>
            <a:endParaRPr lang="en-US" sz="91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38091"/>
                </a:solidFill>
                <a:latin typeface="Arimo"/>
                <a:ea typeface="Arimo"/>
                <a:cs typeface="Arimo"/>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47472"/>
            <a:ext cx="3474720"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2F6BFF"/>
                </a:solidFill>
                <a:latin typeface="Arimo" pitchFamily="34" charset="0"/>
                <a:ea typeface="Arimo" pitchFamily="34" charset="-122"/>
                <a:cs typeface="Arimo" pitchFamily="34" charset="-120"/>
              </a:rPr>
              <a:t>03 • MODELING</a:t>
            </a:r>
            <a:endParaRPr lang="en-US" sz="1000" dirty="0"/>
          </a:p>
        </p:txBody>
      </p:sp>
      <p:sp>
        <p:nvSpPr>
          <p:cNvPr id="3" name="Text 1"/>
          <p:cNvSpPr/>
          <p:nvPr/>
        </p:nvSpPr>
        <p:spPr>
          <a:xfrm>
            <a:off x="530352" y="658368"/>
            <a:ext cx="10972800" cy="566928"/>
          </a:xfrm>
          <a:prstGeom prst="rect">
            <a:avLst/>
          </a:prstGeom>
          <a:noFill/>
          <a:ln/>
        </p:spPr>
        <p:txBody>
          <a:bodyPr wrap="square" lIns="0" tIns="0" rIns="0" bIns="0" rtlCol="0" anchor="ctr">
            <a:normAutofit/>
          </a:bodyPr>
          <a:lstStyle/>
          <a:p>
            <a:pPr algn="l" indent="0" marL="0">
              <a:buNone/>
            </a:pPr>
            <a:r>
              <a:rPr lang="en-US" sz="2700" b="1" dirty="0">
                <a:solidFill>
                  <a:srgbClr val="071A2B"/>
                </a:solidFill>
                <a:latin typeface="Arimo" pitchFamily="34" charset="0"/>
                <a:ea typeface="Arimo" pitchFamily="34" charset="-122"/>
                <a:cs typeface="Arimo" pitchFamily="34" charset="-120"/>
              </a:rPr>
              <a:t>Leakage-safe model selection</a:t>
            </a:r>
            <a:endParaRPr lang="en-US" sz="2700" dirty="0"/>
          </a:p>
        </p:txBody>
      </p:sp>
      <p:sp>
        <p:nvSpPr>
          <p:cNvPr id="4" name="Text 2"/>
          <p:cNvSpPr/>
          <p:nvPr/>
        </p:nvSpPr>
        <p:spPr>
          <a:xfrm>
            <a:off x="530352" y="1234440"/>
            <a:ext cx="10881360" cy="347472"/>
          </a:xfrm>
          <a:prstGeom prst="rect">
            <a:avLst/>
          </a:prstGeom>
          <a:noFill/>
          <a:ln/>
        </p:spPr>
        <p:txBody>
          <a:bodyPr wrap="square" lIns="0" tIns="0" rIns="0" bIns="0" rtlCol="0" anchor="ctr">
            <a:normAutofit/>
          </a:bodyPr>
          <a:lstStyle/>
          <a:p>
            <a:pPr algn="l" indent="0" marL="0">
              <a:buNone/>
            </a:pPr>
            <a:r>
              <a:rPr lang="en-US" sz="1280" dirty="0">
                <a:solidFill>
                  <a:srgbClr val="657383"/>
                </a:solidFill>
                <a:latin typeface="Arimo" pitchFamily="34" charset="0"/>
                <a:ea typeface="Arimo" pitchFamily="34" charset="-122"/>
                <a:cs typeface="Arimo" pitchFamily="34" charset="-120"/>
              </a:rPr>
              <a:t>The test set stays untouched while preprocessing and 5-fold cross-validation happen inside the training data.</a:t>
            </a:r>
            <a:endParaRPr lang="en-US" sz="1280" dirty="0"/>
          </a:p>
        </p:txBody>
      </p:sp>
      <p:sp>
        <p:nvSpPr>
          <p:cNvPr id="5" name="Shape 3"/>
          <p:cNvSpPr/>
          <p:nvPr/>
        </p:nvSpPr>
        <p:spPr>
          <a:xfrm>
            <a:off x="566928" y="1737360"/>
            <a:ext cx="3794760" cy="4370832"/>
          </a:xfrm>
          <a:prstGeom prst="roundRect">
            <a:avLst>
              <a:gd name="adj" fmla="val 2892"/>
            </a:avLst>
          </a:prstGeom>
          <a:solidFill>
            <a:srgbClr val="FFFFFF"/>
          </a:solidFill>
          <a:ln w="12700">
            <a:solidFill>
              <a:srgbClr val="DDE4EC"/>
            </a:solidFill>
            <a:prstDash val="solid"/>
          </a:ln>
        </p:spPr>
      </p:sp>
      <p:sp>
        <p:nvSpPr>
          <p:cNvPr id="6" name="Text 4"/>
          <p:cNvSpPr/>
          <p:nvPr/>
        </p:nvSpPr>
        <p:spPr>
          <a:xfrm>
            <a:off x="841248" y="1984248"/>
            <a:ext cx="2377440" cy="292608"/>
          </a:xfrm>
          <a:prstGeom prst="rect">
            <a:avLst/>
          </a:prstGeom>
          <a:noFill/>
          <a:ln/>
        </p:spPr>
        <p:txBody>
          <a:bodyPr wrap="square" lIns="0" tIns="0" rIns="0" bIns="0" rtlCol="0" anchor="ctr">
            <a:normAutofit/>
          </a:bodyPr>
          <a:lstStyle/>
          <a:p>
            <a:pPr algn="l" indent="0" marL="0">
              <a:buNone/>
            </a:pPr>
            <a:r>
              <a:rPr lang="en-US" sz="1400" b="1" dirty="0">
                <a:solidFill>
                  <a:srgbClr val="071A2B"/>
                </a:solidFill>
                <a:latin typeface="Arimo" pitchFamily="34" charset="0"/>
                <a:ea typeface="Arimo" pitchFamily="34" charset="-122"/>
                <a:cs typeface="Arimo" pitchFamily="34" charset="-120"/>
              </a:rPr>
              <a:t>Reproducible pipeline</a:t>
            </a:r>
            <a:endParaRPr lang="en-US" sz="1400" dirty="0"/>
          </a:p>
        </p:txBody>
      </p:sp>
      <p:sp>
        <p:nvSpPr>
          <p:cNvPr id="7" name="Shape 5"/>
          <p:cNvSpPr/>
          <p:nvPr/>
        </p:nvSpPr>
        <p:spPr>
          <a:xfrm>
            <a:off x="877824" y="2505456"/>
            <a:ext cx="384048" cy="384048"/>
          </a:xfrm>
          <a:prstGeom prst="ellipse">
            <a:avLst/>
          </a:prstGeom>
          <a:solidFill>
            <a:srgbClr val="2F6BFF"/>
          </a:solidFill>
          <a:ln w="12700">
            <a:solidFill>
              <a:srgbClr val="2F6BFF">
                <a:alpha val="0"/>
              </a:srgbClr>
            </a:solidFill>
            <a:prstDash val="solid"/>
          </a:ln>
        </p:spPr>
      </p:sp>
      <p:sp>
        <p:nvSpPr>
          <p:cNvPr id="8" name="Text 6"/>
          <p:cNvSpPr/>
          <p:nvPr/>
        </p:nvSpPr>
        <p:spPr>
          <a:xfrm>
            <a:off x="877824" y="2523744"/>
            <a:ext cx="384048" cy="32918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mo" pitchFamily="34" charset="0"/>
                <a:ea typeface="Arimo" pitchFamily="34" charset="-122"/>
                <a:cs typeface="Arimo" pitchFamily="34" charset="-120"/>
              </a:rPr>
              <a:t>1</a:t>
            </a:r>
            <a:endParaRPr lang="en-US" sz="1100" dirty="0"/>
          </a:p>
        </p:txBody>
      </p:sp>
      <p:sp>
        <p:nvSpPr>
          <p:cNvPr id="9" name="Text 7"/>
          <p:cNvSpPr/>
          <p:nvPr/>
        </p:nvSpPr>
        <p:spPr>
          <a:xfrm>
            <a:off x="1417320" y="2487168"/>
            <a:ext cx="1417320" cy="237744"/>
          </a:xfrm>
          <a:prstGeom prst="rect">
            <a:avLst/>
          </a:prstGeom>
          <a:noFill/>
          <a:ln/>
        </p:spPr>
        <p:txBody>
          <a:bodyPr wrap="square" lIns="0" tIns="0" rIns="0" bIns="0" rtlCol="0" anchor="ctr">
            <a:normAutofit/>
          </a:bodyPr>
          <a:lstStyle/>
          <a:p>
            <a:pPr algn="l" indent="0" marL="0">
              <a:buNone/>
            </a:pPr>
            <a:r>
              <a:rPr lang="en-US" sz="1080" b="1" dirty="0">
                <a:solidFill>
                  <a:srgbClr val="15202B"/>
                </a:solidFill>
                <a:latin typeface="Arimo" pitchFamily="34" charset="0"/>
                <a:ea typeface="Arimo" pitchFamily="34" charset="-122"/>
                <a:cs typeface="Arimo" pitchFamily="34" charset="-120"/>
              </a:rPr>
              <a:t>Split once</a:t>
            </a:r>
            <a:endParaRPr lang="en-US" sz="1080" dirty="0"/>
          </a:p>
        </p:txBody>
      </p:sp>
      <p:sp>
        <p:nvSpPr>
          <p:cNvPr id="10" name="Text 8"/>
          <p:cNvSpPr/>
          <p:nvPr/>
        </p:nvSpPr>
        <p:spPr>
          <a:xfrm>
            <a:off x="2816352" y="2487168"/>
            <a:ext cx="1234440" cy="493776"/>
          </a:xfrm>
          <a:prstGeom prst="rect">
            <a:avLst/>
          </a:prstGeom>
          <a:noFill/>
          <a:ln/>
        </p:spPr>
        <p:txBody>
          <a:bodyPr wrap="square" lIns="0" tIns="0" rIns="0" bIns="0" rtlCol="0" anchor="t">
            <a:normAutofit/>
          </a:bodyPr>
          <a:lstStyle/>
          <a:p>
            <a:pPr algn="l" indent="0" marL="0">
              <a:buNone/>
            </a:pPr>
            <a:r>
              <a:rPr lang="en-US" sz="880" dirty="0">
                <a:solidFill>
                  <a:srgbClr val="657383"/>
                </a:solidFill>
                <a:latin typeface="Arimo" pitchFamily="34" charset="0"/>
                <a:ea typeface="Arimo" pitchFamily="34" charset="-122"/>
                <a:cs typeface="Arimo" pitchFamily="34" charset="-120"/>
              </a:rPr>
              <a:t>80% train = 1,351</a:t>
            </a:r>
            <a:endParaRPr lang="en-US" sz="880" dirty="0"/>
          </a:p>
          <a:p>
            <a:pPr algn="l" indent="0" marL="0">
              <a:buNone/>
            </a:pPr>
            <a:r>
              <a:rPr lang="en-US" sz="880" dirty="0">
                <a:solidFill>
                  <a:srgbClr val="657383"/>
                </a:solidFill>
                <a:latin typeface="Arimo" pitchFamily="34" charset="0"/>
                <a:ea typeface="Arimo" pitchFamily="34" charset="-122"/>
                <a:cs typeface="Arimo" pitchFamily="34" charset="-120"/>
              </a:rPr>
              <a:t>20% test = 338</a:t>
            </a:r>
            <a:endParaRPr lang="en-US" sz="880" dirty="0"/>
          </a:p>
        </p:txBody>
      </p:sp>
      <p:sp>
        <p:nvSpPr>
          <p:cNvPr id="11" name="Shape 9"/>
          <p:cNvSpPr/>
          <p:nvPr/>
        </p:nvSpPr>
        <p:spPr>
          <a:xfrm>
            <a:off x="1069848" y="2889504"/>
            <a:ext cx="0" cy="402336"/>
          </a:xfrm>
          <a:prstGeom prst="line">
            <a:avLst/>
          </a:prstGeom>
          <a:noFill/>
          <a:ln w="16510">
            <a:solidFill>
              <a:srgbClr val="C9D4DF"/>
            </a:solidFill>
            <a:prstDash val="dash"/>
            <a:headEnd type="none"/>
            <a:tailEnd type="none"/>
          </a:ln>
        </p:spPr>
      </p:sp>
      <p:sp>
        <p:nvSpPr>
          <p:cNvPr id="12" name="Shape 10"/>
          <p:cNvSpPr/>
          <p:nvPr/>
        </p:nvSpPr>
        <p:spPr>
          <a:xfrm>
            <a:off x="877824" y="3310128"/>
            <a:ext cx="384048" cy="384048"/>
          </a:xfrm>
          <a:prstGeom prst="ellipse">
            <a:avLst/>
          </a:prstGeom>
          <a:solidFill>
            <a:srgbClr val="18A7B8"/>
          </a:solidFill>
          <a:ln w="12700">
            <a:solidFill>
              <a:srgbClr val="18A7B8">
                <a:alpha val="0"/>
              </a:srgbClr>
            </a:solidFill>
            <a:prstDash val="solid"/>
          </a:ln>
        </p:spPr>
      </p:sp>
      <p:sp>
        <p:nvSpPr>
          <p:cNvPr id="13" name="Text 11"/>
          <p:cNvSpPr/>
          <p:nvPr/>
        </p:nvSpPr>
        <p:spPr>
          <a:xfrm>
            <a:off x="877824" y="3328416"/>
            <a:ext cx="384048" cy="32918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mo" pitchFamily="34" charset="0"/>
                <a:ea typeface="Arimo" pitchFamily="34" charset="-122"/>
                <a:cs typeface="Arimo" pitchFamily="34" charset="-120"/>
              </a:rPr>
              <a:t>2</a:t>
            </a:r>
            <a:endParaRPr lang="en-US" sz="1100" dirty="0"/>
          </a:p>
        </p:txBody>
      </p:sp>
      <p:sp>
        <p:nvSpPr>
          <p:cNvPr id="14" name="Text 12"/>
          <p:cNvSpPr/>
          <p:nvPr/>
        </p:nvSpPr>
        <p:spPr>
          <a:xfrm>
            <a:off x="1417320" y="3291840"/>
            <a:ext cx="1417320" cy="237744"/>
          </a:xfrm>
          <a:prstGeom prst="rect">
            <a:avLst/>
          </a:prstGeom>
          <a:noFill/>
          <a:ln/>
        </p:spPr>
        <p:txBody>
          <a:bodyPr wrap="square" lIns="0" tIns="0" rIns="0" bIns="0" rtlCol="0" anchor="ctr">
            <a:normAutofit/>
          </a:bodyPr>
          <a:lstStyle/>
          <a:p>
            <a:pPr algn="l" indent="0" marL="0">
              <a:buNone/>
            </a:pPr>
            <a:r>
              <a:rPr lang="en-US" sz="1080" b="1" dirty="0">
                <a:solidFill>
                  <a:srgbClr val="15202B"/>
                </a:solidFill>
                <a:latin typeface="Arimo" pitchFamily="34" charset="0"/>
                <a:ea typeface="Arimo" pitchFamily="34" charset="-122"/>
                <a:cs typeface="Arimo" pitchFamily="34" charset="-120"/>
              </a:rPr>
              <a:t>Preprocess in-fold</a:t>
            </a:r>
            <a:endParaRPr lang="en-US" sz="1080" dirty="0"/>
          </a:p>
        </p:txBody>
      </p:sp>
      <p:sp>
        <p:nvSpPr>
          <p:cNvPr id="15" name="Text 13"/>
          <p:cNvSpPr/>
          <p:nvPr/>
        </p:nvSpPr>
        <p:spPr>
          <a:xfrm>
            <a:off x="2816352" y="3291840"/>
            <a:ext cx="1234440" cy="493776"/>
          </a:xfrm>
          <a:prstGeom prst="rect">
            <a:avLst/>
          </a:prstGeom>
          <a:noFill/>
          <a:ln/>
        </p:spPr>
        <p:txBody>
          <a:bodyPr wrap="square" lIns="0" tIns="0" rIns="0" bIns="0" rtlCol="0" anchor="t">
            <a:normAutofit/>
          </a:bodyPr>
          <a:lstStyle/>
          <a:p>
            <a:pPr algn="l" indent="0" marL="0">
              <a:buNone/>
            </a:pPr>
            <a:r>
              <a:rPr lang="en-US" sz="880" dirty="0">
                <a:solidFill>
                  <a:srgbClr val="657383"/>
                </a:solidFill>
                <a:latin typeface="Arimo" pitchFamily="34" charset="0"/>
                <a:ea typeface="Arimo" pitchFamily="34" charset="-122"/>
                <a:cs typeface="Arimo" pitchFamily="34" charset="-120"/>
              </a:rPr>
              <a:t>median imputation + scaling</a:t>
            </a:r>
            <a:endParaRPr lang="en-US" sz="880" dirty="0"/>
          </a:p>
          <a:p>
            <a:pPr algn="l" indent="0" marL="0">
              <a:buNone/>
            </a:pPr>
            <a:r>
              <a:rPr lang="en-US" sz="880" dirty="0">
                <a:solidFill>
                  <a:srgbClr val="657383"/>
                </a:solidFill>
                <a:latin typeface="Arimo" pitchFamily="34" charset="0"/>
                <a:ea typeface="Arimo" pitchFamily="34" charset="-122"/>
                <a:cs typeface="Arimo" pitchFamily="34" charset="-120"/>
              </a:rPr>
              <a:t>one-hot encoding</a:t>
            </a:r>
            <a:endParaRPr lang="en-US" sz="880" dirty="0"/>
          </a:p>
        </p:txBody>
      </p:sp>
      <p:sp>
        <p:nvSpPr>
          <p:cNvPr id="16" name="Shape 14"/>
          <p:cNvSpPr/>
          <p:nvPr/>
        </p:nvSpPr>
        <p:spPr>
          <a:xfrm>
            <a:off x="1069848" y="3694176"/>
            <a:ext cx="0" cy="402336"/>
          </a:xfrm>
          <a:prstGeom prst="line">
            <a:avLst/>
          </a:prstGeom>
          <a:noFill/>
          <a:ln w="16510">
            <a:solidFill>
              <a:srgbClr val="C9D4DF"/>
            </a:solidFill>
            <a:prstDash val="dash"/>
            <a:headEnd type="none"/>
            <a:tailEnd type="none"/>
          </a:ln>
        </p:spPr>
      </p:sp>
      <p:sp>
        <p:nvSpPr>
          <p:cNvPr id="17" name="Shape 15"/>
          <p:cNvSpPr/>
          <p:nvPr/>
        </p:nvSpPr>
        <p:spPr>
          <a:xfrm>
            <a:off x="877824" y="4114800"/>
            <a:ext cx="384048" cy="384048"/>
          </a:xfrm>
          <a:prstGeom prst="ellipse">
            <a:avLst/>
          </a:prstGeom>
          <a:solidFill>
            <a:srgbClr val="F1A73C"/>
          </a:solidFill>
          <a:ln w="12700">
            <a:solidFill>
              <a:srgbClr val="F1A73C">
                <a:alpha val="0"/>
              </a:srgbClr>
            </a:solidFill>
            <a:prstDash val="solid"/>
          </a:ln>
        </p:spPr>
      </p:sp>
      <p:sp>
        <p:nvSpPr>
          <p:cNvPr id="18" name="Text 16"/>
          <p:cNvSpPr/>
          <p:nvPr/>
        </p:nvSpPr>
        <p:spPr>
          <a:xfrm>
            <a:off x="877824" y="4133088"/>
            <a:ext cx="384048" cy="32918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mo" pitchFamily="34" charset="0"/>
                <a:ea typeface="Arimo" pitchFamily="34" charset="-122"/>
                <a:cs typeface="Arimo" pitchFamily="34" charset="-120"/>
              </a:rPr>
              <a:t>3</a:t>
            </a:r>
            <a:endParaRPr lang="en-US" sz="1100" dirty="0"/>
          </a:p>
        </p:txBody>
      </p:sp>
      <p:sp>
        <p:nvSpPr>
          <p:cNvPr id="19" name="Text 17"/>
          <p:cNvSpPr/>
          <p:nvPr/>
        </p:nvSpPr>
        <p:spPr>
          <a:xfrm>
            <a:off x="1417320" y="4096512"/>
            <a:ext cx="1417320" cy="237744"/>
          </a:xfrm>
          <a:prstGeom prst="rect">
            <a:avLst/>
          </a:prstGeom>
          <a:noFill/>
          <a:ln/>
        </p:spPr>
        <p:txBody>
          <a:bodyPr wrap="square" lIns="0" tIns="0" rIns="0" bIns="0" rtlCol="0" anchor="ctr">
            <a:normAutofit/>
          </a:bodyPr>
          <a:lstStyle/>
          <a:p>
            <a:pPr algn="l" indent="0" marL="0">
              <a:buNone/>
            </a:pPr>
            <a:r>
              <a:rPr lang="en-US" sz="1080" b="1" dirty="0">
                <a:solidFill>
                  <a:srgbClr val="15202B"/>
                </a:solidFill>
                <a:latin typeface="Arimo" pitchFamily="34" charset="0"/>
                <a:ea typeface="Arimo" pitchFamily="34" charset="-122"/>
                <a:cs typeface="Arimo" pitchFamily="34" charset="-120"/>
              </a:rPr>
              <a:t>5-fold CV</a:t>
            </a:r>
            <a:endParaRPr lang="en-US" sz="1080" dirty="0"/>
          </a:p>
        </p:txBody>
      </p:sp>
      <p:sp>
        <p:nvSpPr>
          <p:cNvPr id="20" name="Text 18"/>
          <p:cNvSpPr/>
          <p:nvPr/>
        </p:nvSpPr>
        <p:spPr>
          <a:xfrm>
            <a:off x="2816352" y="4096512"/>
            <a:ext cx="1234440" cy="493776"/>
          </a:xfrm>
          <a:prstGeom prst="rect">
            <a:avLst/>
          </a:prstGeom>
          <a:noFill/>
          <a:ln/>
        </p:spPr>
        <p:txBody>
          <a:bodyPr wrap="square" lIns="0" tIns="0" rIns="0" bIns="0" rtlCol="0" anchor="t">
            <a:normAutofit/>
          </a:bodyPr>
          <a:lstStyle/>
          <a:p>
            <a:pPr algn="l" indent="0" marL="0">
              <a:buNone/>
            </a:pPr>
            <a:r>
              <a:rPr lang="en-US" sz="880" dirty="0">
                <a:solidFill>
                  <a:srgbClr val="657383"/>
                </a:solidFill>
                <a:latin typeface="Arimo" pitchFamily="34" charset="0"/>
                <a:ea typeface="Arimo" pitchFamily="34" charset="-122"/>
                <a:cs typeface="Arimo" pitchFamily="34" charset="-120"/>
              </a:rPr>
              <a:t>compare four regressors</a:t>
            </a:r>
            <a:endParaRPr lang="en-US" sz="880" dirty="0"/>
          </a:p>
          <a:p>
            <a:pPr algn="l" indent="0" marL="0">
              <a:buNone/>
            </a:pPr>
            <a:r>
              <a:rPr lang="en-US" sz="880" dirty="0">
                <a:solidFill>
                  <a:srgbClr val="657383"/>
                </a:solidFill>
                <a:latin typeface="Arimo" pitchFamily="34" charset="0"/>
                <a:ea typeface="Arimo" pitchFamily="34" charset="-122"/>
                <a:cs typeface="Arimo" pitchFamily="34" charset="-120"/>
              </a:rPr>
              <a:t>using training rows only</a:t>
            </a:r>
            <a:endParaRPr lang="en-US" sz="880" dirty="0"/>
          </a:p>
        </p:txBody>
      </p:sp>
      <p:sp>
        <p:nvSpPr>
          <p:cNvPr id="21" name="Shape 19"/>
          <p:cNvSpPr/>
          <p:nvPr/>
        </p:nvSpPr>
        <p:spPr>
          <a:xfrm>
            <a:off x="1069848" y="4498848"/>
            <a:ext cx="0" cy="402336"/>
          </a:xfrm>
          <a:prstGeom prst="line">
            <a:avLst/>
          </a:prstGeom>
          <a:noFill/>
          <a:ln w="16510">
            <a:solidFill>
              <a:srgbClr val="C9D4DF"/>
            </a:solidFill>
            <a:prstDash val="dash"/>
            <a:headEnd type="none"/>
            <a:tailEnd type="none"/>
          </a:ln>
        </p:spPr>
      </p:sp>
      <p:sp>
        <p:nvSpPr>
          <p:cNvPr id="22" name="Shape 20"/>
          <p:cNvSpPr/>
          <p:nvPr/>
        </p:nvSpPr>
        <p:spPr>
          <a:xfrm>
            <a:off x="877824" y="4919472"/>
            <a:ext cx="384048" cy="384048"/>
          </a:xfrm>
          <a:prstGeom prst="ellipse">
            <a:avLst/>
          </a:prstGeom>
          <a:solidFill>
            <a:srgbClr val="16826C"/>
          </a:solidFill>
          <a:ln w="12700">
            <a:solidFill>
              <a:srgbClr val="16826C">
                <a:alpha val="0"/>
              </a:srgbClr>
            </a:solidFill>
            <a:prstDash val="solid"/>
          </a:ln>
        </p:spPr>
      </p:sp>
      <p:sp>
        <p:nvSpPr>
          <p:cNvPr id="23" name="Text 21"/>
          <p:cNvSpPr/>
          <p:nvPr/>
        </p:nvSpPr>
        <p:spPr>
          <a:xfrm>
            <a:off x="877824" y="4937760"/>
            <a:ext cx="384048" cy="32918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mo" pitchFamily="34" charset="0"/>
                <a:ea typeface="Arimo" pitchFamily="34" charset="-122"/>
                <a:cs typeface="Arimo" pitchFamily="34" charset="-120"/>
              </a:rPr>
              <a:t>4</a:t>
            </a:r>
            <a:endParaRPr lang="en-US" sz="1100" dirty="0"/>
          </a:p>
        </p:txBody>
      </p:sp>
      <p:sp>
        <p:nvSpPr>
          <p:cNvPr id="24" name="Text 22"/>
          <p:cNvSpPr/>
          <p:nvPr/>
        </p:nvSpPr>
        <p:spPr>
          <a:xfrm>
            <a:off x="1417320" y="4901184"/>
            <a:ext cx="1417320" cy="237744"/>
          </a:xfrm>
          <a:prstGeom prst="rect">
            <a:avLst/>
          </a:prstGeom>
          <a:noFill/>
          <a:ln/>
        </p:spPr>
        <p:txBody>
          <a:bodyPr wrap="square" lIns="0" tIns="0" rIns="0" bIns="0" rtlCol="0" anchor="ctr">
            <a:normAutofit/>
          </a:bodyPr>
          <a:lstStyle/>
          <a:p>
            <a:pPr algn="l" indent="0" marL="0">
              <a:buNone/>
            </a:pPr>
            <a:r>
              <a:rPr lang="en-US" sz="1080" b="1" dirty="0">
                <a:solidFill>
                  <a:srgbClr val="15202B"/>
                </a:solidFill>
                <a:latin typeface="Arimo" pitchFamily="34" charset="0"/>
                <a:ea typeface="Arimo" pitchFamily="34" charset="-122"/>
                <a:cs typeface="Arimo" pitchFamily="34" charset="-120"/>
              </a:rPr>
              <a:t>Select + test</a:t>
            </a:r>
            <a:endParaRPr lang="en-US" sz="1080" dirty="0"/>
          </a:p>
        </p:txBody>
      </p:sp>
      <p:sp>
        <p:nvSpPr>
          <p:cNvPr id="25" name="Text 23"/>
          <p:cNvSpPr/>
          <p:nvPr/>
        </p:nvSpPr>
        <p:spPr>
          <a:xfrm>
            <a:off x="2816352" y="4901184"/>
            <a:ext cx="1234440" cy="493776"/>
          </a:xfrm>
          <a:prstGeom prst="rect">
            <a:avLst/>
          </a:prstGeom>
          <a:noFill/>
          <a:ln/>
        </p:spPr>
        <p:txBody>
          <a:bodyPr wrap="square" lIns="0" tIns="0" rIns="0" bIns="0" rtlCol="0" anchor="t">
            <a:normAutofit/>
          </a:bodyPr>
          <a:lstStyle/>
          <a:p>
            <a:pPr algn="l" indent="0" marL="0">
              <a:buNone/>
            </a:pPr>
            <a:r>
              <a:rPr lang="en-US" sz="880" dirty="0">
                <a:solidFill>
                  <a:srgbClr val="657383"/>
                </a:solidFill>
                <a:latin typeface="Arimo" pitchFamily="34" charset="0"/>
                <a:ea typeface="Arimo" pitchFamily="34" charset="-122"/>
                <a:cs typeface="Arimo" pitchFamily="34" charset="-120"/>
              </a:rPr>
              <a:t>Ridge Regression</a:t>
            </a:r>
            <a:endParaRPr lang="en-US" sz="880" dirty="0"/>
          </a:p>
          <a:p>
            <a:pPr algn="l" indent="0" marL="0">
              <a:buNone/>
            </a:pPr>
            <a:r>
              <a:rPr lang="en-US" sz="880" dirty="0">
                <a:solidFill>
                  <a:srgbClr val="657383"/>
                </a:solidFill>
                <a:latin typeface="Arimo" pitchFamily="34" charset="0"/>
                <a:ea typeface="Arimo" pitchFamily="34" charset="-122"/>
                <a:cs typeface="Arimo" pitchFamily="34" charset="-120"/>
              </a:rPr>
              <a:t>evaluate once on hold-out</a:t>
            </a:r>
            <a:endParaRPr lang="en-US" sz="880" dirty="0"/>
          </a:p>
        </p:txBody>
      </p:sp>
      <p:sp>
        <p:nvSpPr>
          <p:cNvPr id="26" name="Shape 24"/>
          <p:cNvSpPr/>
          <p:nvPr/>
        </p:nvSpPr>
        <p:spPr>
          <a:xfrm>
            <a:off x="841248" y="5641848"/>
            <a:ext cx="3218688" cy="283464"/>
          </a:xfrm>
          <a:prstGeom prst="roundRect">
            <a:avLst>
              <a:gd name="adj" fmla="val 25806"/>
            </a:avLst>
          </a:prstGeom>
          <a:solidFill>
            <a:srgbClr val="FCEAEA"/>
          </a:solidFill>
          <a:ln w="12700">
            <a:solidFill>
              <a:srgbClr val="FCEAEA"/>
            </a:solidFill>
            <a:prstDash val="solid"/>
          </a:ln>
        </p:spPr>
      </p:sp>
      <p:sp>
        <p:nvSpPr>
          <p:cNvPr id="27" name="Text 25"/>
          <p:cNvSpPr/>
          <p:nvPr/>
        </p:nvSpPr>
        <p:spPr>
          <a:xfrm>
            <a:off x="896112" y="5650992"/>
            <a:ext cx="3099816" cy="256032"/>
          </a:xfrm>
          <a:prstGeom prst="rect">
            <a:avLst/>
          </a:prstGeom>
          <a:noFill/>
          <a:ln/>
        </p:spPr>
        <p:txBody>
          <a:bodyPr wrap="square" lIns="0" tIns="0" rIns="0" bIns="0" rtlCol="0" anchor="ctr">
            <a:normAutofit/>
          </a:bodyPr>
          <a:lstStyle/>
          <a:p>
            <a:pPr algn="ctr" indent="0" marL="0">
              <a:buNone/>
            </a:pPr>
            <a:r>
              <a:rPr lang="en-US" sz="840" b="1" dirty="0">
                <a:solidFill>
                  <a:srgbClr val="9A4040"/>
                </a:solidFill>
                <a:latin typeface="Arimo" pitchFamily="34" charset="0"/>
                <a:ea typeface="Arimo" pitchFamily="34" charset="-122"/>
                <a:cs typeface="Arimo" pitchFamily="34" charset="-120"/>
              </a:rPr>
              <a:t>Leakage guard: price_per_sqm is excluded from features</a:t>
            </a:r>
            <a:endParaRPr lang="en-US" sz="840" dirty="0"/>
          </a:p>
        </p:txBody>
      </p:sp>
      <p:sp>
        <p:nvSpPr>
          <p:cNvPr id="28" name="Shape 26"/>
          <p:cNvSpPr/>
          <p:nvPr/>
        </p:nvSpPr>
        <p:spPr>
          <a:xfrm>
            <a:off x="4626864" y="1737360"/>
            <a:ext cx="6583680" cy="4370832"/>
          </a:xfrm>
          <a:prstGeom prst="roundRect">
            <a:avLst>
              <a:gd name="adj" fmla="val 2510"/>
            </a:avLst>
          </a:prstGeom>
          <a:solidFill>
            <a:srgbClr val="071A2B"/>
          </a:solidFill>
          <a:ln w="12700">
            <a:solidFill>
              <a:srgbClr val="071A2B"/>
            </a:solidFill>
            <a:prstDash val="solid"/>
          </a:ln>
        </p:spPr>
      </p:sp>
      <p:sp>
        <p:nvSpPr>
          <p:cNvPr id="29" name="Text 27"/>
          <p:cNvSpPr/>
          <p:nvPr/>
        </p:nvSpPr>
        <p:spPr>
          <a:xfrm>
            <a:off x="4937760" y="1984248"/>
            <a:ext cx="3108960" cy="310896"/>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mo" pitchFamily="34" charset="0"/>
                <a:ea typeface="Arimo" pitchFamily="34" charset="-122"/>
                <a:cs typeface="Arimo" pitchFamily="34" charset="-120"/>
              </a:rPr>
              <a:t>Cross-validation mean R²</a:t>
            </a:r>
            <a:endParaRPr lang="en-US" sz="1400" dirty="0"/>
          </a:p>
        </p:txBody>
      </p:sp>
      <p:sp>
        <p:nvSpPr>
          <p:cNvPr id="30" name="Text 28"/>
          <p:cNvSpPr/>
          <p:nvPr/>
        </p:nvSpPr>
        <p:spPr>
          <a:xfrm>
            <a:off x="8375904" y="2011680"/>
            <a:ext cx="2468880" cy="256032"/>
          </a:xfrm>
          <a:prstGeom prst="rect">
            <a:avLst/>
          </a:prstGeom>
          <a:noFill/>
          <a:ln/>
        </p:spPr>
        <p:txBody>
          <a:bodyPr wrap="square" lIns="0" tIns="0" rIns="0" bIns="0" rtlCol="0" anchor="ctr">
            <a:normAutofit/>
          </a:bodyPr>
          <a:lstStyle/>
          <a:p>
            <a:pPr algn="r" indent="0" marL="0">
              <a:buNone/>
            </a:pPr>
            <a:r>
              <a:rPr lang="en-US" sz="900" dirty="0">
                <a:solidFill>
                  <a:srgbClr val="9EB2C6"/>
                </a:solidFill>
                <a:latin typeface="Arimo" pitchFamily="34" charset="0"/>
                <a:ea typeface="Arimo" pitchFamily="34" charset="-122"/>
                <a:cs typeface="Arimo" pitchFamily="34" charset="-120"/>
              </a:rPr>
              <a:t>Higher is better • training data only</a:t>
            </a:r>
            <a:endParaRPr lang="en-US" sz="900" dirty="0"/>
          </a:p>
        </p:txBody>
      </p:sp>
      <p:sp>
        <p:nvSpPr>
          <p:cNvPr id="31" name="Text 29"/>
          <p:cNvSpPr/>
          <p:nvPr/>
        </p:nvSpPr>
        <p:spPr>
          <a:xfrm>
            <a:off x="4937760" y="2697480"/>
            <a:ext cx="1600200" cy="219456"/>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rimo" pitchFamily="34" charset="0"/>
                <a:ea typeface="Arimo" pitchFamily="34" charset="-122"/>
                <a:cs typeface="Arimo" pitchFamily="34" charset="-120"/>
              </a:rPr>
              <a:t>Ridge Regression</a:t>
            </a:r>
            <a:endParaRPr lang="en-US" sz="1000" dirty="0"/>
          </a:p>
        </p:txBody>
      </p:sp>
      <p:sp>
        <p:nvSpPr>
          <p:cNvPr id="32" name="Shape 30"/>
          <p:cNvSpPr/>
          <p:nvPr/>
        </p:nvSpPr>
        <p:spPr>
          <a:xfrm>
            <a:off x="6629400" y="2724912"/>
            <a:ext cx="3310128" cy="164592"/>
          </a:xfrm>
          <a:prstGeom prst="roundRect">
            <a:avLst>
              <a:gd name="adj" fmla="val 50000"/>
            </a:avLst>
          </a:prstGeom>
          <a:solidFill>
            <a:srgbClr val="29435B"/>
          </a:solidFill>
          <a:ln w="12700">
            <a:solidFill>
              <a:srgbClr val="29435B"/>
            </a:solidFill>
            <a:prstDash val="solid"/>
          </a:ln>
        </p:spPr>
      </p:sp>
      <p:sp>
        <p:nvSpPr>
          <p:cNvPr id="33" name="Shape 31"/>
          <p:cNvSpPr/>
          <p:nvPr/>
        </p:nvSpPr>
        <p:spPr>
          <a:xfrm>
            <a:off x="6629400" y="2724912"/>
            <a:ext cx="2969658" cy="164592"/>
          </a:xfrm>
          <a:prstGeom prst="roundRect">
            <a:avLst>
              <a:gd name="adj" fmla="val 50000"/>
            </a:avLst>
          </a:prstGeom>
          <a:solidFill>
            <a:srgbClr val="16826C"/>
          </a:solidFill>
          <a:ln w="12700">
            <a:solidFill>
              <a:srgbClr val="16826C"/>
            </a:solidFill>
            <a:prstDash val="solid"/>
          </a:ln>
        </p:spPr>
      </p:sp>
      <p:sp>
        <p:nvSpPr>
          <p:cNvPr id="34" name="Text 32"/>
          <p:cNvSpPr/>
          <p:nvPr/>
        </p:nvSpPr>
        <p:spPr>
          <a:xfrm>
            <a:off x="10040112" y="2697480"/>
            <a:ext cx="667512" cy="219456"/>
          </a:xfrm>
          <a:prstGeom prst="rect">
            <a:avLst/>
          </a:prstGeom>
          <a:noFill/>
          <a:ln/>
        </p:spPr>
        <p:txBody>
          <a:bodyPr wrap="square" lIns="0" tIns="0" rIns="0" bIns="0" rtlCol="0" anchor="ctr">
            <a:normAutofit/>
          </a:bodyPr>
          <a:lstStyle/>
          <a:p>
            <a:pPr algn="r" indent="0" marL="0">
              <a:buNone/>
            </a:pPr>
            <a:r>
              <a:rPr lang="en-US" sz="1040" b="1" dirty="0">
                <a:solidFill>
                  <a:srgbClr val="16826C"/>
                </a:solidFill>
                <a:latin typeface="Arimo" pitchFamily="34" charset="0"/>
                <a:ea typeface="Arimo" pitchFamily="34" charset="-122"/>
                <a:cs typeface="Arimo" pitchFamily="34" charset="-120"/>
              </a:rPr>
              <a:t>0.628</a:t>
            </a:r>
            <a:endParaRPr lang="en-US" sz="1040" dirty="0"/>
          </a:p>
        </p:txBody>
      </p:sp>
      <p:sp>
        <p:nvSpPr>
          <p:cNvPr id="35" name="Text 33"/>
          <p:cNvSpPr/>
          <p:nvPr/>
        </p:nvSpPr>
        <p:spPr>
          <a:xfrm>
            <a:off x="4937760" y="3355848"/>
            <a:ext cx="1600200" cy="219456"/>
          </a:xfrm>
          <a:prstGeom prst="rect">
            <a:avLst/>
          </a:prstGeom>
          <a:noFill/>
          <a:ln/>
        </p:spPr>
        <p:txBody>
          <a:bodyPr wrap="square" lIns="0" tIns="0" rIns="0" bIns="0" rtlCol="0" anchor="ctr">
            <a:normAutofit/>
          </a:bodyPr>
          <a:lstStyle/>
          <a:p>
            <a:pPr algn="l" indent="0" marL="0">
              <a:buNone/>
            </a:pPr>
            <a:r>
              <a:rPr lang="en-US" sz="1000" dirty="0">
                <a:solidFill>
                  <a:srgbClr val="C3D1DD"/>
                </a:solidFill>
                <a:latin typeface="Arimo" pitchFamily="34" charset="0"/>
                <a:ea typeface="Arimo" pitchFamily="34" charset="-122"/>
                <a:cs typeface="Arimo" pitchFamily="34" charset="-120"/>
              </a:rPr>
              <a:t>Gradient Boosting</a:t>
            </a:r>
            <a:endParaRPr lang="en-US" sz="1000" dirty="0"/>
          </a:p>
        </p:txBody>
      </p:sp>
      <p:sp>
        <p:nvSpPr>
          <p:cNvPr id="36" name="Shape 34"/>
          <p:cNvSpPr/>
          <p:nvPr/>
        </p:nvSpPr>
        <p:spPr>
          <a:xfrm>
            <a:off x="6629400" y="3383280"/>
            <a:ext cx="3310128" cy="164592"/>
          </a:xfrm>
          <a:prstGeom prst="roundRect">
            <a:avLst>
              <a:gd name="adj" fmla="val 50000"/>
            </a:avLst>
          </a:prstGeom>
          <a:solidFill>
            <a:srgbClr val="29435B"/>
          </a:solidFill>
          <a:ln w="12700">
            <a:solidFill>
              <a:srgbClr val="29435B"/>
            </a:solidFill>
            <a:prstDash val="solid"/>
          </a:ln>
        </p:spPr>
      </p:sp>
      <p:sp>
        <p:nvSpPr>
          <p:cNvPr id="37" name="Shape 35"/>
          <p:cNvSpPr/>
          <p:nvPr/>
        </p:nvSpPr>
        <p:spPr>
          <a:xfrm>
            <a:off x="6629400" y="3383280"/>
            <a:ext cx="2023907" cy="164592"/>
          </a:xfrm>
          <a:prstGeom prst="roundRect">
            <a:avLst>
              <a:gd name="adj" fmla="val 50000"/>
            </a:avLst>
          </a:prstGeom>
          <a:solidFill>
            <a:srgbClr val="18A7B8"/>
          </a:solidFill>
          <a:ln w="12700">
            <a:solidFill>
              <a:srgbClr val="18A7B8"/>
            </a:solidFill>
            <a:prstDash val="solid"/>
          </a:ln>
        </p:spPr>
      </p:sp>
      <p:sp>
        <p:nvSpPr>
          <p:cNvPr id="38" name="Text 36"/>
          <p:cNvSpPr/>
          <p:nvPr/>
        </p:nvSpPr>
        <p:spPr>
          <a:xfrm>
            <a:off x="10040112" y="3355848"/>
            <a:ext cx="667512" cy="219456"/>
          </a:xfrm>
          <a:prstGeom prst="rect">
            <a:avLst/>
          </a:prstGeom>
          <a:noFill/>
          <a:ln/>
        </p:spPr>
        <p:txBody>
          <a:bodyPr wrap="square" lIns="0" tIns="0" rIns="0" bIns="0" rtlCol="0" anchor="ctr">
            <a:normAutofit/>
          </a:bodyPr>
          <a:lstStyle/>
          <a:p>
            <a:pPr algn="r" indent="0" marL="0">
              <a:buNone/>
            </a:pPr>
            <a:r>
              <a:rPr lang="en-US" sz="1040" b="1" dirty="0">
                <a:solidFill>
                  <a:srgbClr val="18A7B8"/>
                </a:solidFill>
                <a:latin typeface="Arimo" pitchFamily="34" charset="0"/>
                <a:ea typeface="Arimo" pitchFamily="34" charset="-122"/>
                <a:cs typeface="Arimo" pitchFamily="34" charset="-120"/>
              </a:rPr>
              <a:t>0.428</a:t>
            </a:r>
            <a:endParaRPr lang="en-US" sz="1040" dirty="0"/>
          </a:p>
        </p:txBody>
      </p:sp>
      <p:sp>
        <p:nvSpPr>
          <p:cNvPr id="39" name="Text 37"/>
          <p:cNvSpPr/>
          <p:nvPr/>
        </p:nvSpPr>
        <p:spPr>
          <a:xfrm>
            <a:off x="4937760" y="4014216"/>
            <a:ext cx="1600200" cy="219456"/>
          </a:xfrm>
          <a:prstGeom prst="rect">
            <a:avLst/>
          </a:prstGeom>
          <a:noFill/>
          <a:ln/>
        </p:spPr>
        <p:txBody>
          <a:bodyPr wrap="square" lIns="0" tIns="0" rIns="0" bIns="0" rtlCol="0" anchor="ctr">
            <a:normAutofit/>
          </a:bodyPr>
          <a:lstStyle/>
          <a:p>
            <a:pPr algn="l" indent="0" marL="0">
              <a:buNone/>
            </a:pPr>
            <a:r>
              <a:rPr lang="en-US" sz="1000" dirty="0">
                <a:solidFill>
                  <a:srgbClr val="C3D1DD"/>
                </a:solidFill>
                <a:latin typeface="Arimo" pitchFamily="34" charset="0"/>
                <a:ea typeface="Arimo" pitchFamily="34" charset="-122"/>
                <a:cs typeface="Arimo" pitchFamily="34" charset="-120"/>
              </a:rPr>
              <a:t>Random Forest</a:t>
            </a:r>
            <a:endParaRPr lang="en-US" sz="1000" dirty="0"/>
          </a:p>
        </p:txBody>
      </p:sp>
      <p:sp>
        <p:nvSpPr>
          <p:cNvPr id="40" name="Shape 38"/>
          <p:cNvSpPr/>
          <p:nvPr/>
        </p:nvSpPr>
        <p:spPr>
          <a:xfrm>
            <a:off x="6629400" y="4041648"/>
            <a:ext cx="3310128" cy="164592"/>
          </a:xfrm>
          <a:prstGeom prst="roundRect">
            <a:avLst>
              <a:gd name="adj" fmla="val 50000"/>
            </a:avLst>
          </a:prstGeom>
          <a:solidFill>
            <a:srgbClr val="29435B"/>
          </a:solidFill>
          <a:ln w="12700">
            <a:solidFill>
              <a:srgbClr val="29435B"/>
            </a:solidFill>
            <a:prstDash val="solid"/>
          </a:ln>
        </p:spPr>
      </p:sp>
      <p:sp>
        <p:nvSpPr>
          <p:cNvPr id="41" name="Shape 39"/>
          <p:cNvSpPr/>
          <p:nvPr/>
        </p:nvSpPr>
        <p:spPr>
          <a:xfrm>
            <a:off x="6629400" y="4041648"/>
            <a:ext cx="1919874" cy="164592"/>
          </a:xfrm>
          <a:prstGeom prst="roundRect">
            <a:avLst>
              <a:gd name="adj" fmla="val 50000"/>
            </a:avLst>
          </a:prstGeom>
          <a:solidFill>
            <a:srgbClr val="2F6BFF"/>
          </a:solidFill>
          <a:ln w="12700">
            <a:solidFill>
              <a:srgbClr val="2F6BFF"/>
            </a:solidFill>
            <a:prstDash val="solid"/>
          </a:ln>
        </p:spPr>
      </p:sp>
      <p:sp>
        <p:nvSpPr>
          <p:cNvPr id="42" name="Text 40"/>
          <p:cNvSpPr/>
          <p:nvPr/>
        </p:nvSpPr>
        <p:spPr>
          <a:xfrm>
            <a:off x="10040112" y="4014216"/>
            <a:ext cx="667512" cy="219456"/>
          </a:xfrm>
          <a:prstGeom prst="rect">
            <a:avLst/>
          </a:prstGeom>
          <a:noFill/>
          <a:ln/>
        </p:spPr>
        <p:txBody>
          <a:bodyPr wrap="square" lIns="0" tIns="0" rIns="0" bIns="0" rtlCol="0" anchor="ctr">
            <a:normAutofit/>
          </a:bodyPr>
          <a:lstStyle/>
          <a:p>
            <a:pPr algn="r" indent="0" marL="0">
              <a:buNone/>
            </a:pPr>
            <a:r>
              <a:rPr lang="en-US" sz="1040" b="1" dirty="0">
                <a:solidFill>
                  <a:srgbClr val="2F6BFF"/>
                </a:solidFill>
                <a:latin typeface="Arimo" pitchFamily="34" charset="0"/>
                <a:ea typeface="Arimo" pitchFamily="34" charset="-122"/>
                <a:cs typeface="Arimo" pitchFamily="34" charset="-120"/>
              </a:rPr>
              <a:t>0.406</a:t>
            </a:r>
            <a:endParaRPr lang="en-US" sz="1040" dirty="0"/>
          </a:p>
        </p:txBody>
      </p:sp>
      <p:sp>
        <p:nvSpPr>
          <p:cNvPr id="43" name="Text 41"/>
          <p:cNvSpPr/>
          <p:nvPr/>
        </p:nvSpPr>
        <p:spPr>
          <a:xfrm>
            <a:off x="4937760" y="4672584"/>
            <a:ext cx="1600200" cy="219456"/>
          </a:xfrm>
          <a:prstGeom prst="rect">
            <a:avLst/>
          </a:prstGeom>
          <a:noFill/>
          <a:ln/>
        </p:spPr>
        <p:txBody>
          <a:bodyPr wrap="square" lIns="0" tIns="0" rIns="0" bIns="0" rtlCol="0" anchor="ctr">
            <a:normAutofit/>
          </a:bodyPr>
          <a:lstStyle/>
          <a:p>
            <a:pPr algn="l" indent="0" marL="0">
              <a:buNone/>
            </a:pPr>
            <a:r>
              <a:rPr lang="en-US" sz="1000" dirty="0">
                <a:solidFill>
                  <a:srgbClr val="C3D1DD"/>
                </a:solidFill>
                <a:latin typeface="Arimo" pitchFamily="34" charset="0"/>
                <a:ea typeface="Arimo" pitchFamily="34" charset="-122"/>
                <a:cs typeface="Arimo" pitchFamily="34" charset="-120"/>
              </a:rPr>
              <a:t>Linear Regression</a:t>
            </a:r>
            <a:endParaRPr lang="en-US" sz="1000" dirty="0"/>
          </a:p>
        </p:txBody>
      </p:sp>
      <p:sp>
        <p:nvSpPr>
          <p:cNvPr id="44" name="Shape 42"/>
          <p:cNvSpPr/>
          <p:nvPr/>
        </p:nvSpPr>
        <p:spPr>
          <a:xfrm>
            <a:off x="6629400" y="4700016"/>
            <a:ext cx="3310128" cy="164592"/>
          </a:xfrm>
          <a:prstGeom prst="roundRect">
            <a:avLst>
              <a:gd name="adj" fmla="val 50000"/>
            </a:avLst>
          </a:prstGeom>
          <a:solidFill>
            <a:srgbClr val="29435B"/>
          </a:solidFill>
          <a:ln w="12700">
            <a:solidFill>
              <a:srgbClr val="29435B"/>
            </a:solidFill>
            <a:prstDash val="solid"/>
          </a:ln>
        </p:spPr>
      </p:sp>
      <p:sp>
        <p:nvSpPr>
          <p:cNvPr id="45" name="Shape 43"/>
          <p:cNvSpPr/>
          <p:nvPr/>
        </p:nvSpPr>
        <p:spPr>
          <a:xfrm>
            <a:off x="6629400" y="4700016"/>
            <a:ext cx="874820" cy="164592"/>
          </a:xfrm>
          <a:prstGeom prst="roundRect">
            <a:avLst>
              <a:gd name="adj" fmla="val 50000"/>
            </a:avLst>
          </a:prstGeom>
          <a:solidFill>
            <a:srgbClr val="F1A73C"/>
          </a:solidFill>
          <a:ln w="12700">
            <a:solidFill>
              <a:srgbClr val="F1A73C"/>
            </a:solidFill>
            <a:prstDash val="solid"/>
          </a:ln>
        </p:spPr>
      </p:sp>
      <p:sp>
        <p:nvSpPr>
          <p:cNvPr id="46" name="Text 44"/>
          <p:cNvSpPr/>
          <p:nvPr/>
        </p:nvSpPr>
        <p:spPr>
          <a:xfrm>
            <a:off x="10040112" y="4672584"/>
            <a:ext cx="667512" cy="219456"/>
          </a:xfrm>
          <a:prstGeom prst="rect">
            <a:avLst/>
          </a:prstGeom>
          <a:noFill/>
          <a:ln/>
        </p:spPr>
        <p:txBody>
          <a:bodyPr wrap="square" lIns="0" tIns="0" rIns="0" bIns="0" rtlCol="0" anchor="ctr">
            <a:normAutofit/>
          </a:bodyPr>
          <a:lstStyle/>
          <a:p>
            <a:pPr algn="r" indent="0" marL="0">
              <a:buNone/>
            </a:pPr>
            <a:r>
              <a:rPr lang="en-US" sz="1040" b="1" dirty="0">
                <a:solidFill>
                  <a:srgbClr val="F1A73C"/>
                </a:solidFill>
                <a:latin typeface="Arimo" pitchFamily="34" charset="0"/>
                <a:ea typeface="Arimo" pitchFamily="34" charset="-122"/>
                <a:cs typeface="Arimo" pitchFamily="34" charset="-120"/>
              </a:rPr>
              <a:t>0.185</a:t>
            </a:r>
            <a:endParaRPr lang="en-US" sz="1040" dirty="0"/>
          </a:p>
        </p:txBody>
      </p:sp>
      <p:sp>
        <p:nvSpPr>
          <p:cNvPr id="47" name="Shape 45"/>
          <p:cNvSpPr/>
          <p:nvPr/>
        </p:nvSpPr>
        <p:spPr>
          <a:xfrm>
            <a:off x="4937760" y="5468112"/>
            <a:ext cx="5907024" cy="384048"/>
          </a:xfrm>
          <a:prstGeom prst="roundRect">
            <a:avLst>
              <a:gd name="adj" fmla="val 19048"/>
            </a:avLst>
          </a:prstGeom>
          <a:solidFill>
            <a:srgbClr val="102D46"/>
          </a:solidFill>
          <a:ln w="12700">
            <a:solidFill>
              <a:srgbClr val="102D46"/>
            </a:solidFill>
            <a:prstDash val="solid"/>
          </a:ln>
        </p:spPr>
      </p:sp>
      <p:sp>
        <p:nvSpPr>
          <p:cNvPr id="48" name="Text 46"/>
          <p:cNvSpPr/>
          <p:nvPr/>
        </p:nvSpPr>
        <p:spPr>
          <a:xfrm>
            <a:off x="5102352" y="5504688"/>
            <a:ext cx="5577840" cy="301752"/>
          </a:xfrm>
          <a:prstGeom prst="rect">
            <a:avLst/>
          </a:prstGeom>
          <a:noFill/>
          <a:ln/>
        </p:spPr>
        <p:txBody>
          <a:bodyPr wrap="square" lIns="0" tIns="0" rIns="0" bIns="0" rtlCol="0" anchor="ctr">
            <a:normAutofit/>
          </a:bodyPr>
          <a:lstStyle/>
          <a:p>
            <a:pPr algn="ctr" indent="0" marL="0">
              <a:buNone/>
            </a:pPr>
            <a:r>
              <a:rPr lang="en-US" sz="1020" b="1" dirty="0">
                <a:solidFill>
                  <a:srgbClr val="DDE9F4"/>
                </a:solidFill>
                <a:latin typeface="Arimo" pitchFamily="34" charset="0"/>
                <a:ea typeface="Arimo" pitchFamily="34" charset="-122"/>
                <a:cs typeface="Arimo" pitchFamily="34" charset="-120"/>
              </a:rPr>
              <a:t>Selected: Ridge Regression  •  CV R² = 0.628  •  CV MAE ≈ $107,995</a:t>
            </a:r>
            <a:endParaRPr lang="en-US" sz="1020" dirty="0"/>
          </a:p>
        </p:txBody>
      </p:sp>
      <p:sp>
        <p:nvSpPr>
          <p:cNvPr id="49" name="Text 47"/>
          <p:cNvSpPr/>
          <p:nvPr/>
        </p:nvSpPr>
        <p:spPr>
          <a:xfrm>
            <a:off x="4937760" y="5934456"/>
            <a:ext cx="5852160" cy="256032"/>
          </a:xfrm>
          <a:prstGeom prst="rect">
            <a:avLst/>
          </a:prstGeom>
          <a:noFill/>
          <a:ln/>
        </p:spPr>
        <p:txBody>
          <a:bodyPr wrap="square" lIns="0" tIns="0" rIns="0" bIns="0" rtlCol="0" anchor="ctr">
            <a:normAutofit/>
          </a:bodyPr>
          <a:lstStyle/>
          <a:p>
            <a:pPr algn="ctr" indent="0" marL="0">
              <a:buNone/>
            </a:pPr>
            <a:r>
              <a:rPr lang="en-US" sz="860" dirty="0">
                <a:solidFill>
                  <a:srgbClr val="9EB2C6"/>
                </a:solidFill>
                <a:latin typeface="Arimo" pitchFamily="34" charset="0"/>
                <a:ea typeface="Arimo" pitchFamily="34" charset="-122"/>
                <a:cs typeface="Arimo" pitchFamily="34" charset="-120"/>
              </a:rPr>
              <a:t>Why Ridge won: best validation R² and lowest validation MAE among the tested baselines.</a:t>
            </a:r>
            <a:endParaRPr lang="en-US" sz="86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38091"/>
                </a:solidFill>
                <a:latin typeface="Arimo"/>
                <a:ea typeface="Arimo"/>
                <a:cs typeface="Arimo"/>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47472"/>
            <a:ext cx="3474720"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2F6BFF"/>
                </a:solidFill>
                <a:latin typeface="Arimo" pitchFamily="34" charset="0"/>
                <a:ea typeface="Arimo" pitchFamily="34" charset="-122"/>
                <a:cs typeface="Arimo" pitchFamily="34" charset="-120"/>
              </a:rPr>
              <a:t>04 • RESULTS</a:t>
            </a:r>
            <a:endParaRPr lang="en-US" sz="1000" dirty="0"/>
          </a:p>
        </p:txBody>
      </p:sp>
      <p:sp>
        <p:nvSpPr>
          <p:cNvPr id="3" name="Text 1"/>
          <p:cNvSpPr/>
          <p:nvPr/>
        </p:nvSpPr>
        <p:spPr>
          <a:xfrm>
            <a:off x="530352" y="658368"/>
            <a:ext cx="10972800" cy="566928"/>
          </a:xfrm>
          <a:prstGeom prst="rect">
            <a:avLst/>
          </a:prstGeom>
          <a:noFill/>
          <a:ln/>
        </p:spPr>
        <p:txBody>
          <a:bodyPr wrap="square" lIns="0" tIns="0" rIns="0" bIns="0" rtlCol="0" anchor="ctr">
            <a:normAutofit/>
          </a:bodyPr>
          <a:lstStyle/>
          <a:p>
            <a:pPr algn="l" indent="0" marL="0">
              <a:buNone/>
            </a:pPr>
            <a:r>
              <a:rPr lang="en-US" sz="2700" b="1" dirty="0">
                <a:solidFill>
                  <a:srgbClr val="071A2B"/>
                </a:solidFill>
                <a:latin typeface="Arimo" pitchFamily="34" charset="0"/>
                <a:ea typeface="Arimo" pitchFamily="34" charset="-122"/>
                <a:cs typeface="Arimo" pitchFamily="34" charset="-120"/>
              </a:rPr>
              <a:t>Useful baseline — strongest for apartments</a:t>
            </a:r>
            <a:endParaRPr lang="en-US" sz="2700" dirty="0"/>
          </a:p>
        </p:txBody>
      </p:sp>
      <p:sp>
        <p:nvSpPr>
          <p:cNvPr id="4" name="Text 2"/>
          <p:cNvSpPr/>
          <p:nvPr/>
        </p:nvSpPr>
        <p:spPr>
          <a:xfrm>
            <a:off x="530352" y="1234440"/>
            <a:ext cx="10881360" cy="347472"/>
          </a:xfrm>
          <a:prstGeom prst="rect">
            <a:avLst/>
          </a:prstGeom>
          <a:noFill/>
          <a:ln/>
        </p:spPr>
        <p:txBody>
          <a:bodyPr wrap="square" lIns="0" tIns="0" rIns="0" bIns="0" rtlCol="0" anchor="ctr">
            <a:normAutofit/>
          </a:bodyPr>
          <a:lstStyle/>
          <a:p>
            <a:pPr algn="l" indent="0" marL="0">
              <a:buNone/>
            </a:pPr>
            <a:r>
              <a:rPr lang="en-US" sz="1280" dirty="0">
                <a:solidFill>
                  <a:srgbClr val="657383"/>
                </a:solidFill>
                <a:latin typeface="Arimo" pitchFamily="34" charset="0"/>
                <a:ea typeface="Arimo" pitchFamily="34" charset="-122"/>
                <a:cs typeface="Arimo" pitchFamily="34" charset="-120"/>
              </a:rPr>
              <a:t>The model estimates current listing prices reasonably for some segments, but it is not yet a future market forecaster.</a:t>
            </a:r>
            <a:endParaRPr lang="en-US" sz="1280" dirty="0"/>
          </a:p>
        </p:txBody>
      </p:sp>
      <p:sp>
        <p:nvSpPr>
          <p:cNvPr id="5" name="Shape 3"/>
          <p:cNvSpPr/>
          <p:nvPr/>
        </p:nvSpPr>
        <p:spPr>
          <a:xfrm>
            <a:off x="566928" y="1755648"/>
            <a:ext cx="2148840" cy="1124712"/>
          </a:xfrm>
          <a:prstGeom prst="roundRect">
            <a:avLst>
              <a:gd name="adj" fmla="val 6504"/>
            </a:avLst>
          </a:prstGeom>
          <a:solidFill>
            <a:srgbClr val="FFFFFF"/>
          </a:solidFill>
          <a:ln w="12700">
            <a:solidFill>
              <a:srgbClr val="DDE4EC"/>
            </a:solidFill>
            <a:prstDash val="solid"/>
          </a:ln>
        </p:spPr>
      </p:sp>
      <p:sp>
        <p:nvSpPr>
          <p:cNvPr id="6" name="Shape 4"/>
          <p:cNvSpPr/>
          <p:nvPr/>
        </p:nvSpPr>
        <p:spPr>
          <a:xfrm>
            <a:off x="566928" y="1755648"/>
            <a:ext cx="64008" cy="1124712"/>
          </a:xfrm>
          <a:prstGeom prst="rect">
            <a:avLst/>
          </a:prstGeom>
          <a:solidFill>
            <a:srgbClr val="2F6BFF"/>
          </a:solidFill>
          <a:ln w="12700">
            <a:solidFill>
              <a:srgbClr val="2F6BFF">
                <a:alpha val="0"/>
              </a:srgbClr>
            </a:solidFill>
            <a:prstDash val="solid"/>
          </a:ln>
        </p:spPr>
      </p:sp>
      <p:sp>
        <p:nvSpPr>
          <p:cNvPr id="7" name="Text 5"/>
          <p:cNvSpPr/>
          <p:nvPr/>
        </p:nvSpPr>
        <p:spPr>
          <a:xfrm>
            <a:off x="768096" y="1865376"/>
            <a:ext cx="1856232" cy="438912"/>
          </a:xfrm>
          <a:prstGeom prst="rect">
            <a:avLst/>
          </a:prstGeom>
          <a:noFill/>
          <a:ln/>
        </p:spPr>
        <p:txBody>
          <a:bodyPr wrap="square" lIns="0" tIns="0" rIns="0" bIns="0" rtlCol="0" anchor="ctr">
            <a:normAutofit/>
          </a:bodyPr>
          <a:lstStyle/>
          <a:p>
            <a:pPr algn="l" indent="0" marL="0">
              <a:buNone/>
            </a:pPr>
            <a:r>
              <a:rPr lang="en-US" sz="2400" b="1" dirty="0">
                <a:solidFill>
                  <a:srgbClr val="071A2B"/>
                </a:solidFill>
                <a:latin typeface="Arimo" pitchFamily="34" charset="0"/>
                <a:ea typeface="Arimo" pitchFamily="34" charset="-122"/>
                <a:cs typeface="Arimo" pitchFamily="34" charset="-120"/>
              </a:rPr>
              <a:t>0.475</a:t>
            </a:r>
            <a:endParaRPr lang="en-US" sz="2400" dirty="0"/>
          </a:p>
        </p:txBody>
      </p:sp>
      <p:sp>
        <p:nvSpPr>
          <p:cNvPr id="8" name="Text 6"/>
          <p:cNvSpPr/>
          <p:nvPr/>
        </p:nvSpPr>
        <p:spPr>
          <a:xfrm>
            <a:off x="768096" y="2295144"/>
            <a:ext cx="1856232" cy="228600"/>
          </a:xfrm>
          <a:prstGeom prst="rect">
            <a:avLst/>
          </a:prstGeom>
          <a:noFill/>
          <a:ln/>
        </p:spPr>
        <p:txBody>
          <a:bodyPr wrap="square" lIns="0" tIns="0" rIns="0" bIns="0" rtlCol="0" anchor="ctr">
            <a:normAutofit/>
          </a:bodyPr>
          <a:lstStyle/>
          <a:p>
            <a:pPr algn="l" indent="0" marL="0">
              <a:buNone/>
            </a:pPr>
            <a:r>
              <a:rPr lang="en-US" sz="1020" b="1" dirty="0">
                <a:solidFill>
                  <a:srgbClr val="657383"/>
                </a:solidFill>
                <a:latin typeface="Arimo" pitchFamily="34" charset="0"/>
                <a:ea typeface="Arimo" pitchFamily="34" charset="-122"/>
                <a:cs typeface="Arimo" pitchFamily="34" charset="-120"/>
              </a:rPr>
              <a:t>test R²</a:t>
            </a:r>
            <a:endParaRPr lang="en-US" sz="1020" dirty="0"/>
          </a:p>
        </p:txBody>
      </p:sp>
      <p:sp>
        <p:nvSpPr>
          <p:cNvPr id="9" name="Text 7"/>
          <p:cNvSpPr/>
          <p:nvPr/>
        </p:nvSpPr>
        <p:spPr>
          <a:xfrm>
            <a:off x="768096" y="2542032"/>
            <a:ext cx="1856232" cy="265176"/>
          </a:xfrm>
          <a:prstGeom prst="rect">
            <a:avLst/>
          </a:prstGeom>
          <a:noFill/>
          <a:ln/>
        </p:spPr>
        <p:txBody>
          <a:bodyPr wrap="square" lIns="0" tIns="0" rIns="0" bIns="0" rtlCol="0" anchor="t">
            <a:normAutofit/>
          </a:bodyPr>
          <a:lstStyle/>
          <a:p>
            <a:pPr algn="l" indent="0" marL="0">
              <a:buNone/>
            </a:pPr>
            <a:r>
              <a:rPr lang="en-US" sz="850" dirty="0">
                <a:solidFill>
                  <a:srgbClr val="657383"/>
                </a:solidFill>
                <a:latin typeface="Arimo" pitchFamily="34" charset="0"/>
                <a:ea typeface="Arimo" pitchFamily="34" charset="-122"/>
                <a:cs typeface="Arimo" pitchFamily="34" charset="-120"/>
              </a:rPr>
              <a:t>explains 47.5% of held-out price variance</a:t>
            </a:r>
            <a:endParaRPr lang="en-US" sz="850" dirty="0"/>
          </a:p>
        </p:txBody>
      </p:sp>
      <p:sp>
        <p:nvSpPr>
          <p:cNvPr id="10" name="Shape 8"/>
          <p:cNvSpPr/>
          <p:nvPr/>
        </p:nvSpPr>
        <p:spPr>
          <a:xfrm>
            <a:off x="2862072" y="1755648"/>
            <a:ext cx="2148840" cy="1124712"/>
          </a:xfrm>
          <a:prstGeom prst="roundRect">
            <a:avLst>
              <a:gd name="adj" fmla="val 6504"/>
            </a:avLst>
          </a:prstGeom>
          <a:solidFill>
            <a:srgbClr val="FFFFFF"/>
          </a:solidFill>
          <a:ln w="12700">
            <a:solidFill>
              <a:srgbClr val="DDE4EC"/>
            </a:solidFill>
            <a:prstDash val="solid"/>
          </a:ln>
        </p:spPr>
      </p:sp>
      <p:sp>
        <p:nvSpPr>
          <p:cNvPr id="11" name="Shape 9"/>
          <p:cNvSpPr/>
          <p:nvPr/>
        </p:nvSpPr>
        <p:spPr>
          <a:xfrm>
            <a:off x="2862072" y="1755648"/>
            <a:ext cx="64008" cy="1124712"/>
          </a:xfrm>
          <a:prstGeom prst="rect">
            <a:avLst/>
          </a:prstGeom>
          <a:solidFill>
            <a:srgbClr val="18A7B8"/>
          </a:solidFill>
          <a:ln w="12700">
            <a:solidFill>
              <a:srgbClr val="18A7B8">
                <a:alpha val="0"/>
              </a:srgbClr>
            </a:solidFill>
            <a:prstDash val="solid"/>
          </a:ln>
        </p:spPr>
      </p:sp>
      <p:sp>
        <p:nvSpPr>
          <p:cNvPr id="12" name="Text 10"/>
          <p:cNvSpPr/>
          <p:nvPr/>
        </p:nvSpPr>
        <p:spPr>
          <a:xfrm>
            <a:off x="3063240" y="1865376"/>
            <a:ext cx="1856232" cy="438912"/>
          </a:xfrm>
          <a:prstGeom prst="rect">
            <a:avLst/>
          </a:prstGeom>
          <a:noFill/>
          <a:ln/>
        </p:spPr>
        <p:txBody>
          <a:bodyPr wrap="square" lIns="0" tIns="0" rIns="0" bIns="0" rtlCol="0" anchor="ctr">
            <a:normAutofit/>
          </a:bodyPr>
          <a:lstStyle/>
          <a:p>
            <a:pPr algn="l" indent="0" marL="0">
              <a:buNone/>
            </a:pPr>
            <a:r>
              <a:rPr lang="en-US" sz="2400" b="1" dirty="0">
                <a:solidFill>
                  <a:srgbClr val="071A2B"/>
                </a:solidFill>
                <a:latin typeface="Arimo" pitchFamily="34" charset="0"/>
                <a:ea typeface="Arimo" pitchFamily="34" charset="-122"/>
                <a:cs typeface="Arimo" pitchFamily="34" charset="-120"/>
              </a:rPr>
              <a:t>27.2%</a:t>
            </a:r>
            <a:endParaRPr lang="en-US" sz="2400" dirty="0"/>
          </a:p>
        </p:txBody>
      </p:sp>
      <p:sp>
        <p:nvSpPr>
          <p:cNvPr id="13" name="Text 11"/>
          <p:cNvSpPr/>
          <p:nvPr/>
        </p:nvSpPr>
        <p:spPr>
          <a:xfrm>
            <a:off x="3063240" y="2295144"/>
            <a:ext cx="1856232" cy="228600"/>
          </a:xfrm>
          <a:prstGeom prst="rect">
            <a:avLst/>
          </a:prstGeom>
          <a:noFill/>
          <a:ln/>
        </p:spPr>
        <p:txBody>
          <a:bodyPr wrap="square" lIns="0" tIns="0" rIns="0" bIns="0" rtlCol="0" anchor="ctr">
            <a:normAutofit/>
          </a:bodyPr>
          <a:lstStyle/>
          <a:p>
            <a:pPr algn="l" indent="0" marL="0">
              <a:buNone/>
            </a:pPr>
            <a:r>
              <a:rPr lang="en-US" sz="1020" b="1" dirty="0">
                <a:solidFill>
                  <a:srgbClr val="657383"/>
                </a:solidFill>
                <a:latin typeface="Arimo" pitchFamily="34" charset="0"/>
                <a:ea typeface="Arimo" pitchFamily="34" charset="-122"/>
                <a:cs typeface="Arimo" pitchFamily="34" charset="-120"/>
              </a:rPr>
              <a:t>test MAPE</a:t>
            </a:r>
            <a:endParaRPr lang="en-US" sz="1020" dirty="0"/>
          </a:p>
        </p:txBody>
      </p:sp>
      <p:sp>
        <p:nvSpPr>
          <p:cNvPr id="14" name="Text 12"/>
          <p:cNvSpPr/>
          <p:nvPr/>
        </p:nvSpPr>
        <p:spPr>
          <a:xfrm>
            <a:off x="3063240" y="2542032"/>
            <a:ext cx="1856232" cy="265176"/>
          </a:xfrm>
          <a:prstGeom prst="rect">
            <a:avLst/>
          </a:prstGeom>
          <a:noFill/>
          <a:ln/>
        </p:spPr>
        <p:txBody>
          <a:bodyPr wrap="square" lIns="0" tIns="0" rIns="0" bIns="0" rtlCol="0" anchor="t">
            <a:normAutofit/>
          </a:bodyPr>
          <a:lstStyle/>
          <a:p>
            <a:pPr algn="l" indent="0" marL="0">
              <a:buNone/>
            </a:pPr>
            <a:r>
              <a:rPr lang="en-US" sz="850" dirty="0">
                <a:solidFill>
                  <a:srgbClr val="657383"/>
                </a:solidFill>
                <a:latin typeface="Arimo" pitchFamily="34" charset="0"/>
                <a:ea typeface="Arimo" pitchFamily="34" charset="-122"/>
                <a:cs typeface="Arimo" pitchFamily="34" charset="-120"/>
              </a:rPr>
              <a:t>average percentage error on hold-out</a:t>
            </a:r>
            <a:endParaRPr lang="en-US" sz="850" dirty="0"/>
          </a:p>
        </p:txBody>
      </p:sp>
      <p:sp>
        <p:nvSpPr>
          <p:cNvPr id="15" name="Shape 13"/>
          <p:cNvSpPr/>
          <p:nvPr/>
        </p:nvSpPr>
        <p:spPr>
          <a:xfrm>
            <a:off x="5157216" y="1755648"/>
            <a:ext cx="2148840" cy="1124712"/>
          </a:xfrm>
          <a:prstGeom prst="roundRect">
            <a:avLst>
              <a:gd name="adj" fmla="val 6504"/>
            </a:avLst>
          </a:prstGeom>
          <a:solidFill>
            <a:srgbClr val="FFFFFF"/>
          </a:solidFill>
          <a:ln w="12700">
            <a:solidFill>
              <a:srgbClr val="DDE4EC"/>
            </a:solidFill>
            <a:prstDash val="solid"/>
          </a:ln>
        </p:spPr>
      </p:sp>
      <p:sp>
        <p:nvSpPr>
          <p:cNvPr id="16" name="Shape 14"/>
          <p:cNvSpPr/>
          <p:nvPr/>
        </p:nvSpPr>
        <p:spPr>
          <a:xfrm>
            <a:off x="5157216" y="1755648"/>
            <a:ext cx="64008" cy="1124712"/>
          </a:xfrm>
          <a:prstGeom prst="rect">
            <a:avLst/>
          </a:prstGeom>
          <a:solidFill>
            <a:srgbClr val="F1A73C"/>
          </a:solidFill>
          <a:ln w="12700">
            <a:solidFill>
              <a:srgbClr val="F1A73C">
                <a:alpha val="0"/>
              </a:srgbClr>
            </a:solidFill>
            <a:prstDash val="solid"/>
          </a:ln>
        </p:spPr>
      </p:sp>
      <p:sp>
        <p:nvSpPr>
          <p:cNvPr id="17" name="Text 15"/>
          <p:cNvSpPr/>
          <p:nvPr/>
        </p:nvSpPr>
        <p:spPr>
          <a:xfrm>
            <a:off x="5358384" y="1865376"/>
            <a:ext cx="1856232" cy="438912"/>
          </a:xfrm>
          <a:prstGeom prst="rect">
            <a:avLst/>
          </a:prstGeom>
          <a:noFill/>
          <a:ln/>
        </p:spPr>
        <p:txBody>
          <a:bodyPr wrap="square" lIns="0" tIns="0" rIns="0" bIns="0" rtlCol="0" anchor="ctr">
            <a:normAutofit/>
          </a:bodyPr>
          <a:lstStyle/>
          <a:p>
            <a:pPr algn="l" indent="0" marL="0">
              <a:buNone/>
            </a:pPr>
            <a:r>
              <a:rPr lang="en-US" sz="2400" b="1" dirty="0">
                <a:solidFill>
                  <a:srgbClr val="071A2B"/>
                </a:solidFill>
                <a:latin typeface="Arimo" pitchFamily="34" charset="0"/>
                <a:ea typeface="Arimo" pitchFamily="34" charset="-122"/>
                <a:cs typeface="Arimo" pitchFamily="34" charset="-120"/>
              </a:rPr>
              <a:t>$105,473</a:t>
            </a:r>
            <a:endParaRPr lang="en-US" sz="2400" dirty="0"/>
          </a:p>
        </p:txBody>
      </p:sp>
      <p:sp>
        <p:nvSpPr>
          <p:cNvPr id="18" name="Text 16"/>
          <p:cNvSpPr/>
          <p:nvPr/>
        </p:nvSpPr>
        <p:spPr>
          <a:xfrm>
            <a:off x="5358384" y="2295144"/>
            <a:ext cx="1856232" cy="228600"/>
          </a:xfrm>
          <a:prstGeom prst="rect">
            <a:avLst/>
          </a:prstGeom>
          <a:noFill/>
          <a:ln/>
        </p:spPr>
        <p:txBody>
          <a:bodyPr wrap="square" lIns="0" tIns="0" rIns="0" bIns="0" rtlCol="0" anchor="ctr">
            <a:normAutofit/>
          </a:bodyPr>
          <a:lstStyle/>
          <a:p>
            <a:pPr algn="l" indent="0" marL="0">
              <a:buNone/>
            </a:pPr>
            <a:r>
              <a:rPr lang="en-US" sz="1020" b="1" dirty="0">
                <a:solidFill>
                  <a:srgbClr val="657383"/>
                </a:solidFill>
                <a:latin typeface="Arimo" pitchFamily="34" charset="0"/>
                <a:ea typeface="Arimo" pitchFamily="34" charset="-122"/>
                <a:cs typeface="Arimo" pitchFamily="34" charset="-120"/>
              </a:rPr>
              <a:t>test MAE</a:t>
            </a:r>
            <a:endParaRPr lang="en-US" sz="1020" dirty="0"/>
          </a:p>
        </p:txBody>
      </p:sp>
      <p:sp>
        <p:nvSpPr>
          <p:cNvPr id="19" name="Text 17"/>
          <p:cNvSpPr/>
          <p:nvPr/>
        </p:nvSpPr>
        <p:spPr>
          <a:xfrm>
            <a:off x="5358384" y="2542032"/>
            <a:ext cx="1856232" cy="265176"/>
          </a:xfrm>
          <a:prstGeom prst="rect">
            <a:avLst/>
          </a:prstGeom>
          <a:noFill/>
          <a:ln/>
        </p:spPr>
        <p:txBody>
          <a:bodyPr wrap="square" lIns="0" tIns="0" rIns="0" bIns="0" rtlCol="0" anchor="t">
            <a:normAutofit/>
          </a:bodyPr>
          <a:lstStyle/>
          <a:p>
            <a:pPr algn="l" indent="0" marL="0">
              <a:buNone/>
            </a:pPr>
            <a:r>
              <a:rPr lang="en-US" sz="850" dirty="0">
                <a:solidFill>
                  <a:srgbClr val="657383"/>
                </a:solidFill>
                <a:latin typeface="Arimo" pitchFamily="34" charset="0"/>
                <a:ea typeface="Arimo" pitchFamily="34" charset="-122"/>
                <a:cs typeface="Arimo" pitchFamily="34" charset="-120"/>
              </a:rPr>
              <a:t>average absolute error per listing</a:t>
            </a:r>
            <a:endParaRPr lang="en-US" sz="850" dirty="0"/>
          </a:p>
        </p:txBody>
      </p:sp>
      <p:sp>
        <p:nvSpPr>
          <p:cNvPr id="20" name="Shape 18"/>
          <p:cNvSpPr/>
          <p:nvPr/>
        </p:nvSpPr>
        <p:spPr>
          <a:xfrm>
            <a:off x="566928" y="3145536"/>
            <a:ext cx="6739128" cy="2578608"/>
          </a:xfrm>
          <a:prstGeom prst="roundRect">
            <a:avLst>
              <a:gd name="adj" fmla="val 4255"/>
            </a:avLst>
          </a:prstGeom>
          <a:solidFill>
            <a:srgbClr val="FFFFFF"/>
          </a:solidFill>
          <a:ln w="12700">
            <a:solidFill>
              <a:srgbClr val="DDE4EC"/>
            </a:solidFill>
            <a:prstDash val="solid"/>
          </a:ln>
        </p:spPr>
      </p:sp>
      <p:sp>
        <p:nvSpPr>
          <p:cNvPr id="21" name="Text 19"/>
          <p:cNvSpPr/>
          <p:nvPr/>
        </p:nvSpPr>
        <p:spPr>
          <a:xfrm>
            <a:off x="822960" y="3374136"/>
            <a:ext cx="2212848" cy="256032"/>
          </a:xfrm>
          <a:prstGeom prst="rect">
            <a:avLst/>
          </a:prstGeom>
          <a:noFill/>
          <a:ln/>
        </p:spPr>
        <p:txBody>
          <a:bodyPr wrap="square" lIns="0" tIns="0" rIns="0" bIns="0" rtlCol="0" anchor="ctr">
            <a:normAutofit/>
          </a:bodyPr>
          <a:lstStyle/>
          <a:p>
            <a:pPr algn="l" indent="0" marL="0">
              <a:buNone/>
            </a:pPr>
            <a:r>
              <a:rPr lang="en-US" sz="1300" b="1" dirty="0">
                <a:solidFill>
                  <a:srgbClr val="071A2B"/>
                </a:solidFill>
                <a:latin typeface="Arimo" pitchFamily="34" charset="0"/>
                <a:ea typeface="Arimo" pitchFamily="34" charset="-122"/>
                <a:cs typeface="Arimo" pitchFamily="34" charset="-120"/>
              </a:rPr>
              <a:t>Segment error (MAPE)</a:t>
            </a:r>
            <a:endParaRPr lang="en-US" sz="1300" dirty="0"/>
          </a:p>
        </p:txBody>
      </p:sp>
      <p:sp>
        <p:nvSpPr>
          <p:cNvPr id="22" name="Text 20"/>
          <p:cNvSpPr/>
          <p:nvPr/>
        </p:nvSpPr>
        <p:spPr>
          <a:xfrm>
            <a:off x="5468112" y="3410712"/>
            <a:ext cx="1490472" cy="201168"/>
          </a:xfrm>
          <a:prstGeom prst="rect">
            <a:avLst/>
          </a:prstGeom>
          <a:noFill/>
          <a:ln/>
        </p:spPr>
        <p:txBody>
          <a:bodyPr wrap="square" lIns="0" tIns="0" rIns="0" bIns="0" rtlCol="0" anchor="ctr">
            <a:normAutofit/>
          </a:bodyPr>
          <a:lstStyle/>
          <a:p>
            <a:pPr algn="r" indent="0" marL="0">
              <a:buNone/>
            </a:pPr>
            <a:r>
              <a:rPr lang="en-US" sz="880" dirty="0">
                <a:solidFill>
                  <a:srgbClr val="657383"/>
                </a:solidFill>
                <a:latin typeface="Arimo" pitchFamily="34" charset="0"/>
                <a:ea typeface="Arimo" pitchFamily="34" charset="-122"/>
                <a:cs typeface="Arimo" pitchFamily="34" charset="-120"/>
              </a:rPr>
              <a:t>Lower is better</a:t>
            </a:r>
            <a:endParaRPr lang="en-US" sz="880" dirty="0"/>
          </a:p>
        </p:txBody>
      </p:sp>
      <p:sp>
        <p:nvSpPr>
          <p:cNvPr id="23" name="Text 21"/>
          <p:cNvSpPr/>
          <p:nvPr/>
        </p:nvSpPr>
        <p:spPr>
          <a:xfrm>
            <a:off x="832104" y="3858768"/>
            <a:ext cx="1051560" cy="201168"/>
          </a:xfrm>
          <a:prstGeom prst="rect">
            <a:avLst/>
          </a:prstGeom>
          <a:noFill/>
          <a:ln/>
        </p:spPr>
        <p:txBody>
          <a:bodyPr wrap="square" lIns="0" tIns="0" rIns="0" bIns="0" rtlCol="0" anchor="ctr">
            <a:normAutofit/>
          </a:bodyPr>
          <a:lstStyle/>
          <a:p>
            <a:pPr algn="l" indent="0" marL="0">
              <a:buNone/>
            </a:pPr>
            <a:r>
              <a:rPr lang="en-US" sz="980" b="1" dirty="0">
                <a:solidFill>
                  <a:srgbClr val="15202B"/>
                </a:solidFill>
                <a:latin typeface="Arimo" pitchFamily="34" charset="0"/>
                <a:ea typeface="Arimo" pitchFamily="34" charset="-122"/>
                <a:cs typeface="Arimo" pitchFamily="34" charset="-120"/>
              </a:rPr>
              <a:t>Apartment</a:t>
            </a:r>
            <a:endParaRPr lang="en-US" sz="980" dirty="0"/>
          </a:p>
        </p:txBody>
      </p:sp>
      <p:sp>
        <p:nvSpPr>
          <p:cNvPr id="24" name="Shape 22"/>
          <p:cNvSpPr/>
          <p:nvPr/>
        </p:nvSpPr>
        <p:spPr>
          <a:xfrm>
            <a:off x="1947672" y="3881628"/>
            <a:ext cx="4023360" cy="146304"/>
          </a:xfrm>
          <a:prstGeom prst="roundRect">
            <a:avLst>
              <a:gd name="adj" fmla="val 50000"/>
            </a:avLst>
          </a:prstGeom>
          <a:solidFill>
            <a:srgbClr val="E7ECF2"/>
          </a:solidFill>
          <a:ln w="12700">
            <a:solidFill>
              <a:srgbClr val="E7ECF2"/>
            </a:solidFill>
            <a:prstDash val="solid"/>
          </a:ln>
        </p:spPr>
      </p:sp>
      <p:sp>
        <p:nvSpPr>
          <p:cNvPr id="25" name="Shape 23"/>
          <p:cNvSpPr/>
          <p:nvPr/>
        </p:nvSpPr>
        <p:spPr>
          <a:xfrm>
            <a:off x="1947672" y="3881628"/>
            <a:ext cx="1689811" cy="146304"/>
          </a:xfrm>
          <a:prstGeom prst="roundRect">
            <a:avLst>
              <a:gd name="adj" fmla="val 50000"/>
            </a:avLst>
          </a:prstGeom>
          <a:solidFill>
            <a:srgbClr val="16826C"/>
          </a:solidFill>
          <a:ln w="12700">
            <a:solidFill>
              <a:srgbClr val="16826C"/>
            </a:solidFill>
            <a:prstDash val="solid"/>
          </a:ln>
        </p:spPr>
      </p:sp>
      <p:sp>
        <p:nvSpPr>
          <p:cNvPr id="26" name="Text 24"/>
          <p:cNvSpPr/>
          <p:nvPr/>
        </p:nvSpPr>
        <p:spPr>
          <a:xfrm>
            <a:off x="6135624" y="3858768"/>
            <a:ext cx="585216" cy="201168"/>
          </a:xfrm>
          <a:prstGeom prst="rect">
            <a:avLst/>
          </a:prstGeom>
          <a:noFill/>
          <a:ln/>
        </p:spPr>
        <p:txBody>
          <a:bodyPr wrap="square" lIns="0" tIns="0" rIns="0" bIns="0" rtlCol="0" anchor="ctr">
            <a:normAutofit/>
          </a:bodyPr>
          <a:lstStyle/>
          <a:p>
            <a:pPr algn="r" indent="0" marL="0">
              <a:buNone/>
            </a:pPr>
            <a:r>
              <a:rPr lang="en-US" sz="970" b="1" dirty="0">
                <a:solidFill>
                  <a:srgbClr val="16826C"/>
                </a:solidFill>
                <a:latin typeface="Arimo" pitchFamily="34" charset="0"/>
                <a:ea typeface="Arimo" pitchFamily="34" charset="-122"/>
                <a:cs typeface="Arimo" pitchFamily="34" charset="-120"/>
              </a:rPr>
              <a:t>21.0%</a:t>
            </a:r>
            <a:endParaRPr lang="en-US" sz="970" dirty="0"/>
          </a:p>
        </p:txBody>
      </p:sp>
      <p:sp>
        <p:nvSpPr>
          <p:cNvPr id="27" name="Text 25"/>
          <p:cNvSpPr/>
          <p:nvPr/>
        </p:nvSpPr>
        <p:spPr>
          <a:xfrm>
            <a:off x="832104" y="4279392"/>
            <a:ext cx="1051560" cy="201168"/>
          </a:xfrm>
          <a:prstGeom prst="rect">
            <a:avLst/>
          </a:prstGeom>
          <a:noFill/>
          <a:ln/>
        </p:spPr>
        <p:txBody>
          <a:bodyPr wrap="square" lIns="0" tIns="0" rIns="0" bIns="0" rtlCol="0" anchor="ctr">
            <a:normAutofit/>
          </a:bodyPr>
          <a:lstStyle/>
          <a:p>
            <a:pPr algn="l" indent="0" marL="0">
              <a:buNone/>
            </a:pPr>
            <a:r>
              <a:rPr lang="en-US" sz="980" b="1" dirty="0">
                <a:solidFill>
                  <a:srgbClr val="15202B"/>
                </a:solidFill>
                <a:latin typeface="Arimo" pitchFamily="34" charset="0"/>
                <a:ea typeface="Arimo" pitchFamily="34" charset="-122"/>
                <a:cs typeface="Arimo" pitchFamily="34" charset="-120"/>
              </a:rPr>
              <a:t>Uruguay</a:t>
            </a:r>
            <a:endParaRPr lang="en-US" sz="980" dirty="0"/>
          </a:p>
        </p:txBody>
      </p:sp>
      <p:sp>
        <p:nvSpPr>
          <p:cNvPr id="28" name="Shape 26"/>
          <p:cNvSpPr/>
          <p:nvPr/>
        </p:nvSpPr>
        <p:spPr>
          <a:xfrm>
            <a:off x="1947672" y="4302252"/>
            <a:ext cx="4023360" cy="146304"/>
          </a:xfrm>
          <a:prstGeom prst="roundRect">
            <a:avLst>
              <a:gd name="adj" fmla="val 50000"/>
            </a:avLst>
          </a:prstGeom>
          <a:solidFill>
            <a:srgbClr val="E7ECF2"/>
          </a:solidFill>
          <a:ln w="12700">
            <a:solidFill>
              <a:srgbClr val="E7ECF2"/>
            </a:solidFill>
            <a:prstDash val="solid"/>
          </a:ln>
        </p:spPr>
      </p:sp>
      <p:sp>
        <p:nvSpPr>
          <p:cNvPr id="29" name="Shape 27"/>
          <p:cNvSpPr/>
          <p:nvPr/>
        </p:nvSpPr>
        <p:spPr>
          <a:xfrm>
            <a:off x="1947672" y="4302252"/>
            <a:ext cx="2011680" cy="146304"/>
          </a:xfrm>
          <a:prstGeom prst="roundRect">
            <a:avLst>
              <a:gd name="adj" fmla="val 50000"/>
            </a:avLst>
          </a:prstGeom>
          <a:solidFill>
            <a:srgbClr val="18A7B8"/>
          </a:solidFill>
          <a:ln w="12700">
            <a:solidFill>
              <a:srgbClr val="18A7B8"/>
            </a:solidFill>
            <a:prstDash val="solid"/>
          </a:ln>
        </p:spPr>
      </p:sp>
      <p:sp>
        <p:nvSpPr>
          <p:cNvPr id="30" name="Text 28"/>
          <p:cNvSpPr/>
          <p:nvPr/>
        </p:nvSpPr>
        <p:spPr>
          <a:xfrm>
            <a:off x="6135624" y="4279392"/>
            <a:ext cx="585216" cy="201168"/>
          </a:xfrm>
          <a:prstGeom prst="rect">
            <a:avLst/>
          </a:prstGeom>
          <a:noFill/>
          <a:ln/>
        </p:spPr>
        <p:txBody>
          <a:bodyPr wrap="square" lIns="0" tIns="0" rIns="0" bIns="0" rtlCol="0" anchor="ctr">
            <a:normAutofit/>
          </a:bodyPr>
          <a:lstStyle/>
          <a:p>
            <a:pPr algn="r" indent="0" marL="0">
              <a:buNone/>
            </a:pPr>
            <a:r>
              <a:rPr lang="en-US" sz="970" b="1" dirty="0">
                <a:solidFill>
                  <a:srgbClr val="18A7B8"/>
                </a:solidFill>
                <a:latin typeface="Arimo" pitchFamily="34" charset="0"/>
                <a:ea typeface="Arimo" pitchFamily="34" charset="-122"/>
                <a:cs typeface="Arimo" pitchFamily="34" charset="-120"/>
              </a:rPr>
              <a:t>25.0%</a:t>
            </a:r>
            <a:endParaRPr lang="en-US" sz="970" dirty="0"/>
          </a:p>
        </p:txBody>
      </p:sp>
      <p:sp>
        <p:nvSpPr>
          <p:cNvPr id="31" name="Text 29"/>
          <p:cNvSpPr/>
          <p:nvPr/>
        </p:nvSpPr>
        <p:spPr>
          <a:xfrm>
            <a:off x="832104" y="4700016"/>
            <a:ext cx="1051560" cy="201168"/>
          </a:xfrm>
          <a:prstGeom prst="rect">
            <a:avLst/>
          </a:prstGeom>
          <a:noFill/>
          <a:ln/>
        </p:spPr>
        <p:txBody>
          <a:bodyPr wrap="square" lIns="0" tIns="0" rIns="0" bIns="0" rtlCol="0" anchor="ctr">
            <a:normAutofit/>
          </a:bodyPr>
          <a:lstStyle/>
          <a:p>
            <a:pPr algn="l" indent="0" marL="0">
              <a:buNone/>
            </a:pPr>
            <a:r>
              <a:rPr lang="en-US" sz="980" b="1" dirty="0">
                <a:solidFill>
                  <a:srgbClr val="15202B"/>
                </a:solidFill>
                <a:latin typeface="Arimo" pitchFamily="34" charset="0"/>
                <a:ea typeface="Arimo" pitchFamily="34" charset="-122"/>
                <a:cs typeface="Arimo" pitchFamily="34" charset="-120"/>
              </a:rPr>
              <a:t>Argentina</a:t>
            </a:r>
            <a:endParaRPr lang="en-US" sz="980" dirty="0"/>
          </a:p>
        </p:txBody>
      </p:sp>
      <p:sp>
        <p:nvSpPr>
          <p:cNvPr id="32" name="Shape 30"/>
          <p:cNvSpPr/>
          <p:nvPr/>
        </p:nvSpPr>
        <p:spPr>
          <a:xfrm>
            <a:off x="1947672" y="4722876"/>
            <a:ext cx="4023360" cy="146304"/>
          </a:xfrm>
          <a:prstGeom prst="roundRect">
            <a:avLst>
              <a:gd name="adj" fmla="val 50000"/>
            </a:avLst>
          </a:prstGeom>
          <a:solidFill>
            <a:srgbClr val="E7ECF2"/>
          </a:solidFill>
          <a:ln w="12700">
            <a:solidFill>
              <a:srgbClr val="E7ECF2"/>
            </a:solidFill>
            <a:prstDash val="solid"/>
          </a:ln>
        </p:spPr>
      </p:sp>
      <p:sp>
        <p:nvSpPr>
          <p:cNvPr id="33" name="Shape 31"/>
          <p:cNvSpPr/>
          <p:nvPr/>
        </p:nvSpPr>
        <p:spPr>
          <a:xfrm>
            <a:off x="1947672" y="4722876"/>
            <a:ext cx="2558857" cy="146304"/>
          </a:xfrm>
          <a:prstGeom prst="roundRect">
            <a:avLst>
              <a:gd name="adj" fmla="val 50000"/>
            </a:avLst>
          </a:prstGeom>
          <a:solidFill>
            <a:srgbClr val="2F6BFF"/>
          </a:solidFill>
          <a:ln w="12700">
            <a:solidFill>
              <a:srgbClr val="2F6BFF"/>
            </a:solidFill>
            <a:prstDash val="solid"/>
          </a:ln>
        </p:spPr>
      </p:sp>
      <p:sp>
        <p:nvSpPr>
          <p:cNvPr id="34" name="Text 32"/>
          <p:cNvSpPr/>
          <p:nvPr/>
        </p:nvSpPr>
        <p:spPr>
          <a:xfrm>
            <a:off x="6135624" y="4700016"/>
            <a:ext cx="585216" cy="201168"/>
          </a:xfrm>
          <a:prstGeom prst="rect">
            <a:avLst/>
          </a:prstGeom>
          <a:noFill/>
          <a:ln/>
        </p:spPr>
        <p:txBody>
          <a:bodyPr wrap="square" lIns="0" tIns="0" rIns="0" bIns="0" rtlCol="0" anchor="ctr">
            <a:normAutofit/>
          </a:bodyPr>
          <a:lstStyle/>
          <a:p>
            <a:pPr algn="r" indent="0" marL="0">
              <a:buNone/>
            </a:pPr>
            <a:r>
              <a:rPr lang="en-US" sz="970" b="1" dirty="0">
                <a:solidFill>
                  <a:srgbClr val="2F6BFF"/>
                </a:solidFill>
                <a:latin typeface="Arimo" pitchFamily="34" charset="0"/>
                <a:ea typeface="Arimo" pitchFamily="34" charset="-122"/>
                <a:cs typeface="Arimo" pitchFamily="34" charset="-120"/>
              </a:rPr>
              <a:t>31.8%</a:t>
            </a:r>
            <a:endParaRPr lang="en-US" sz="970" dirty="0"/>
          </a:p>
        </p:txBody>
      </p:sp>
      <p:sp>
        <p:nvSpPr>
          <p:cNvPr id="35" name="Text 33"/>
          <p:cNvSpPr/>
          <p:nvPr/>
        </p:nvSpPr>
        <p:spPr>
          <a:xfrm>
            <a:off x="832104" y="5120640"/>
            <a:ext cx="1051560" cy="201168"/>
          </a:xfrm>
          <a:prstGeom prst="rect">
            <a:avLst/>
          </a:prstGeom>
          <a:noFill/>
          <a:ln/>
        </p:spPr>
        <p:txBody>
          <a:bodyPr wrap="square" lIns="0" tIns="0" rIns="0" bIns="0" rtlCol="0" anchor="ctr">
            <a:normAutofit/>
          </a:bodyPr>
          <a:lstStyle/>
          <a:p>
            <a:pPr algn="l" indent="0" marL="0">
              <a:buNone/>
            </a:pPr>
            <a:r>
              <a:rPr lang="en-US" sz="980" b="1" dirty="0">
                <a:solidFill>
                  <a:srgbClr val="15202B"/>
                </a:solidFill>
                <a:latin typeface="Arimo" pitchFamily="34" charset="0"/>
                <a:ea typeface="Arimo" pitchFamily="34" charset="-122"/>
                <a:cs typeface="Arimo" pitchFamily="34" charset="-120"/>
              </a:rPr>
              <a:t>House</a:t>
            </a:r>
            <a:endParaRPr lang="en-US" sz="980" dirty="0"/>
          </a:p>
        </p:txBody>
      </p:sp>
      <p:sp>
        <p:nvSpPr>
          <p:cNvPr id="36" name="Shape 34"/>
          <p:cNvSpPr/>
          <p:nvPr/>
        </p:nvSpPr>
        <p:spPr>
          <a:xfrm>
            <a:off x="1947672" y="5143500"/>
            <a:ext cx="4023360" cy="146304"/>
          </a:xfrm>
          <a:prstGeom prst="roundRect">
            <a:avLst>
              <a:gd name="adj" fmla="val 50000"/>
            </a:avLst>
          </a:prstGeom>
          <a:solidFill>
            <a:srgbClr val="E7ECF2"/>
          </a:solidFill>
          <a:ln w="12700">
            <a:solidFill>
              <a:srgbClr val="E7ECF2"/>
            </a:solidFill>
            <a:prstDash val="solid"/>
          </a:ln>
        </p:spPr>
      </p:sp>
      <p:sp>
        <p:nvSpPr>
          <p:cNvPr id="37" name="Shape 35"/>
          <p:cNvSpPr/>
          <p:nvPr/>
        </p:nvSpPr>
        <p:spPr>
          <a:xfrm>
            <a:off x="1947672" y="5143500"/>
            <a:ext cx="3781958" cy="146304"/>
          </a:xfrm>
          <a:prstGeom prst="roundRect">
            <a:avLst>
              <a:gd name="adj" fmla="val 50000"/>
            </a:avLst>
          </a:prstGeom>
          <a:solidFill>
            <a:srgbClr val="D75A5A"/>
          </a:solidFill>
          <a:ln w="12700">
            <a:solidFill>
              <a:srgbClr val="D75A5A"/>
            </a:solidFill>
            <a:prstDash val="solid"/>
          </a:ln>
        </p:spPr>
      </p:sp>
      <p:sp>
        <p:nvSpPr>
          <p:cNvPr id="38" name="Text 36"/>
          <p:cNvSpPr/>
          <p:nvPr/>
        </p:nvSpPr>
        <p:spPr>
          <a:xfrm>
            <a:off x="6135624" y="5120640"/>
            <a:ext cx="585216" cy="201168"/>
          </a:xfrm>
          <a:prstGeom prst="rect">
            <a:avLst/>
          </a:prstGeom>
          <a:noFill/>
          <a:ln/>
        </p:spPr>
        <p:txBody>
          <a:bodyPr wrap="square" lIns="0" tIns="0" rIns="0" bIns="0" rtlCol="0" anchor="ctr">
            <a:normAutofit/>
          </a:bodyPr>
          <a:lstStyle/>
          <a:p>
            <a:pPr algn="r" indent="0" marL="0">
              <a:buNone/>
            </a:pPr>
            <a:r>
              <a:rPr lang="en-US" sz="970" b="1" dirty="0">
                <a:solidFill>
                  <a:srgbClr val="D75A5A"/>
                </a:solidFill>
                <a:latin typeface="Arimo" pitchFamily="34" charset="0"/>
                <a:ea typeface="Arimo" pitchFamily="34" charset="-122"/>
                <a:cs typeface="Arimo" pitchFamily="34" charset="-120"/>
              </a:rPr>
              <a:t>47.0%</a:t>
            </a:r>
            <a:endParaRPr lang="en-US" sz="970" dirty="0"/>
          </a:p>
        </p:txBody>
      </p:sp>
      <p:sp>
        <p:nvSpPr>
          <p:cNvPr id="39" name="Text 37"/>
          <p:cNvSpPr/>
          <p:nvPr/>
        </p:nvSpPr>
        <p:spPr>
          <a:xfrm>
            <a:off x="832104" y="5532120"/>
            <a:ext cx="6080760" cy="310896"/>
          </a:xfrm>
          <a:prstGeom prst="rect">
            <a:avLst/>
          </a:prstGeom>
          <a:noFill/>
          <a:ln/>
        </p:spPr>
        <p:txBody>
          <a:bodyPr wrap="square" lIns="0" tIns="0" rIns="0" bIns="0" rtlCol="0" anchor="ctr">
            <a:normAutofit/>
          </a:bodyPr>
          <a:lstStyle/>
          <a:p>
            <a:pPr algn="l" indent="0" marL="0">
              <a:buNone/>
            </a:pPr>
            <a:r>
              <a:rPr lang="en-US" sz="920" dirty="0">
                <a:solidFill>
                  <a:srgbClr val="657383"/>
                </a:solidFill>
                <a:latin typeface="Arimo" pitchFamily="34" charset="0"/>
                <a:ea typeface="Arimo" pitchFamily="34" charset="-122"/>
                <a:cs typeface="Arimo" pitchFamily="34" charset="-120"/>
              </a:rPr>
              <a:t>Apartment predictions are materially stronger than house predictions, so the model should not be described with one “accuracy” number.</a:t>
            </a:r>
            <a:endParaRPr lang="en-US" sz="920" dirty="0"/>
          </a:p>
        </p:txBody>
      </p:sp>
      <p:sp>
        <p:nvSpPr>
          <p:cNvPr id="40" name="Shape 38"/>
          <p:cNvSpPr/>
          <p:nvPr/>
        </p:nvSpPr>
        <p:spPr>
          <a:xfrm>
            <a:off x="7571232" y="1755648"/>
            <a:ext cx="3639312" cy="3968496"/>
          </a:xfrm>
          <a:prstGeom prst="roundRect">
            <a:avLst>
              <a:gd name="adj" fmla="val 3015"/>
            </a:avLst>
          </a:prstGeom>
          <a:solidFill>
            <a:srgbClr val="071A2B"/>
          </a:solidFill>
          <a:ln w="12700">
            <a:solidFill>
              <a:srgbClr val="071A2B"/>
            </a:solidFill>
            <a:prstDash val="solid"/>
          </a:ln>
        </p:spPr>
      </p:sp>
      <p:sp>
        <p:nvSpPr>
          <p:cNvPr id="41" name="Text 39"/>
          <p:cNvSpPr/>
          <p:nvPr/>
        </p:nvSpPr>
        <p:spPr>
          <a:xfrm>
            <a:off x="7882128" y="2011680"/>
            <a:ext cx="1115568"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mo" pitchFamily="34" charset="0"/>
                <a:ea typeface="Arimo" pitchFamily="34" charset="-122"/>
                <a:cs typeface="Arimo" pitchFamily="34" charset="-120"/>
              </a:rPr>
              <a:t>CLI demo</a:t>
            </a:r>
            <a:endParaRPr lang="en-US" sz="1300" dirty="0"/>
          </a:p>
        </p:txBody>
      </p:sp>
      <p:sp>
        <p:nvSpPr>
          <p:cNvPr id="42" name="Shape 40"/>
          <p:cNvSpPr/>
          <p:nvPr/>
        </p:nvSpPr>
        <p:spPr>
          <a:xfrm>
            <a:off x="7872984" y="2404872"/>
            <a:ext cx="3017520" cy="1600200"/>
          </a:xfrm>
          <a:prstGeom prst="roundRect">
            <a:avLst>
              <a:gd name="adj" fmla="val 4571"/>
            </a:avLst>
          </a:prstGeom>
          <a:solidFill>
            <a:srgbClr val="05121E"/>
          </a:solidFill>
          <a:ln w="12700">
            <a:solidFill>
              <a:srgbClr val="29435B"/>
            </a:solidFill>
            <a:prstDash val="solid"/>
          </a:ln>
        </p:spPr>
      </p:sp>
      <p:sp>
        <p:nvSpPr>
          <p:cNvPr id="43" name="Text 41"/>
          <p:cNvSpPr/>
          <p:nvPr/>
        </p:nvSpPr>
        <p:spPr>
          <a:xfrm>
            <a:off x="8065008" y="2542032"/>
            <a:ext cx="2651760" cy="1298448"/>
          </a:xfrm>
          <a:prstGeom prst="rect">
            <a:avLst/>
          </a:prstGeom>
          <a:noFill/>
          <a:ln/>
        </p:spPr>
        <p:txBody>
          <a:bodyPr wrap="square" lIns="0" tIns="0" rIns="0" bIns="0" rtlCol="0" anchor="t">
            <a:normAutofit/>
          </a:bodyPr>
          <a:lstStyle/>
          <a:p>
            <a:pPr algn="l" indent="0" marL="0">
              <a:buNone/>
            </a:pPr>
            <a:r>
              <a:rPr lang="en-US" sz="820" dirty="0">
                <a:solidFill>
                  <a:srgbClr val="C9D9E8"/>
                </a:solidFill>
                <a:latin typeface="DejaVu Sans Mono" pitchFamily="34" charset="0"/>
                <a:ea typeface="DejaVu Sans Mono" pitchFamily="34" charset="-122"/>
                <a:cs typeface="DejaVu Sans Mono" pitchFamily="34" charset="-120"/>
              </a:rPr>
              <a:t>&gt; python code/predict_property.py</a:t>
            </a:r>
            <a:endParaRPr lang="en-US" sz="820" dirty="0"/>
          </a:p>
          <a:p>
            <a:pPr algn="l" indent="0" marL="0">
              <a:buNone/>
            </a:pPr>
            <a:endParaRPr lang="en-US" sz="820" dirty="0"/>
          </a:p>
          <a:p>
            <a:pPr algn="l" indent="0" marL="0">
              <a:buNone/>
            </a:pPr>
            <a:r>
              <a:rPr lang="en-US" sz="820" dirty="0">
                <a:solidFill>
                  <a:srgbClr val="C9D9E8"/>
                </a:solidFill>
                <a:latin typeface="DejaVu Sans Mono" pitchFamily="34" charset="0"/>
                <a:ea typeface="DejaVu Sans Mono" pitchFamily="34" charset="-122"/>
                <a:cs typeface="DejaVu Sans Mono" pitchFamily="34" charset="-120"/>
              </a:rPr>
              <a:t>Country: UY</a:t>
            </a:r>
            <a:endParaRPr lang="en-US" sz="820" dirty="0"/>
          </a:p>
          <a:p>
            <a:pPr algn="l" indent="0" marL="0">
              <a:buNone/>
            </a:pPr>
            <a:r>
              <a:rPr lang="en-US" sz="820" dirty="0">
                <a:solidFill>
                  <a:srgbClr val="C9D9E8"/>
                </a:solidFill>
                <a:latin typeface="DejaVu Sans Mono" pitchFamily="34" charset="0"/>
                <a:ea typeface="DejaVu Sans Mono" pitchFamily="34" charset="-122"/>
                <a:cs typeface="DejaVu Sans Mono" pitchFamily="34" charset="-120"/>
              </a:rPr>
              <a:t>Type: Apartment</a:t>
            </a:r>
            <a:endParaRPr lang="en-US" sz="820" dirty="0"/>
          </a:p>
          <a:p>
            <a:pPr algn="l" indent="0" marL="0">
              <a:buNone/>
            </a:pPr>
            <a:r>
              <a:rPr lang="en-US" sz="820" dirty="0">
                <a:solidFill>
                  <a:srgbClr val="C9D9E8"/>
                </a:solidFill>
                <a:latin typeface="DejaVu Sans Mono" pitchFamily="34" charset="0"/>
                <a:ea typeface="DejaVu Sans Mono" pitchFamily="34" charset="-122"/>
                <a:cs typeface="DejaVu Sans Mono" pitchFamily="34" charset="-120"/>
              </a:rPr>
              <a:t>Area / rooms / location ...</a:t>
            </a:r>
            <a:endParaRPr lang="en-US" sz="820" dirty="0"/>
          </a:p>
          <a:p>
            <a:pPr algn="l" indent="0" marL="0">
              <a:buNone/>
            </a:pPr>
            <a:endParaRPr lang="en-US" sz="820" dirty="0"/>
          </a:p>
          <a:p>
            <a:pPr algn="l" indent="0" marL="0">
              <a:buNone/>
            </a:pPr>
            <a:r>
              <a:rPr lang="en-US" sz="820" dirty="0">
                <a:solidFill>
                  <a:srgbClr val="C9D9E8"/>
                </a:solidFill>
                <a:latin typeface="DejaVu Sans Mono" pitchFamily="34" charset="0"/>
                <a:ea typeface="DejaVu Sans Mono" pitchFamily="34" charset="-122"/>
                <a:cs typeface="DejaVu Sans Mono" pitchFamily="34" charset="-120"/>
              </a:rPr>
              <a:t>→ Estimated price in USD</a:t>
            </a:r>
            <a:endParaRPr lang="en-US" sz="820" dirty="0"/>
          </a:p>
        </p:txBody>
      </p:sp>
      <p:sp>
        <p:nvSpPr>
          <p:cNvPr id="44" name="Text 42"/>
          <p:cNvSpPr/>
          <p:nvPr/>
        </p:nvSpPr>
        <p:spPr>
          <a:xfrm>
            <a:off x="7882128" y="4315968"/>
            <a:ext cx="1554480" cy="219456"/>
          </a:xfrm>
          <a:prstGeom prst="rect">
            <a:avLst/>
          </a:prstGeom>
          <a:noFill/>
          <a:ln/>
        </p:spPr>
        <p:txBody>
          <a:bodyPr wrap="square" lIns="0" tIns="0" rIns="0" bIns="0" rtlCol="0" anchor="ctr">
            <a:normAutofit/>
          </a:bodyPr>
          <a:lstStyle/>
          <a:p>
            <a:pPr algn="l" indent="0" marL="0">
              <a:buNone/>
            </a:pPr>
            <a:r>
              <a:rPr lang="en-US" sz="960" b="1" dirty="0">
                <a:solidFill>
                  <a:srgbClr val="F2C16D"/>
                </a:solidFill>
                <a:latin typeface="Arimo" pitchFamily="34" charset="0"/>
                <a:ea typeface="Arimo" pitchFamily="34" charset="-122"/>
                <a:cs typeface="Arimo" pitchFamily="34" charset="-120"/>
              </a:rPr>
              <a:t>Current limitation</a:t>
            </a:r>
            <a:endParaRPr lang="en-US" sz="960" dirty="0"/>
          </a:p>
        </p:txBody>
      </p:sp>
      <p:sp>
        <p:nvSpPr>
          <p:cNvPr id="45" name="Text 43"/>
          <p:cNvSpPr/>
          <p:nvPr/>
        </p:nvSpPr>
        <p:spPr>
          <a:xfrm>
            <a:off x="7882128" y="4553712"/>
            <a:ext cx="2788920" cy="502920"/>
          </a:xfrm>
          <a:prstGeom prst="rect">
            <a:avLst/>
          </a:prstGeom>
          <a:noFill/>
          <a:ln/>
        </p:spPr>
        <p:txBody>
          <a:bodyPr wrap="square" lIns="0" tIns="0" rIns="0" bIns="0" rtlCol="0" anchor="t">
            <a:normAutofit/>
          </a:bodyPr>
          <a:lstStyle/>
          <a:p>
            <a:pPr algn="l" indent="0" marL="0">
              <a:buNone/>
            </a:pPr>
            <a:r>
              <a:rPr lang="en-US" sz="930" dirty="0">
                <a:solidFill>
                  <a:srgbClr val="C3D1DD"/>
                </a:solidFill>
                <a:latin typeface="Arimo" pitchFamily="34" charset="0"/>
                <a:ea typeface="Arimo" pitchFamily="34" charset="-122"/>
                <a:cs typeface="Arimo" pitchFamily="34" charset="-120"/>
              </a:rPr>
              <a:t>One snapshot of listings cannot reveal how market prices change over time.</a:t>
            </a:r>
            <a:endParaRPr lang="en-US" sz="930" dirty="0"/>
          </a:p>
        </p:txBody>
      </p:sp>
      <p:sp>
        <p:nvSpPr>
          <p:cNvPr id="46" name="Shape 44"/>
          <p:cNvSpPr/>
          <p:nvPr/>
        </p:nvSpPr>
        <p:spPr>
          <a:xfrm>
            <a:off x="7909560" y="5276088"/>
            <a:ext cx="2660904" cy="0"/>
          </a:xfrm>
          <a:prstGeom prst="line">
            <a:avLst/>
          </a:prstGeom>
          <a:noFill/>
          <a:ln w="21590">
            <a:solidFill>
              <a:srgbClr val="79A4FF"/>
            </a:solidFill>
            <a:prstDash val="solid"/>
            <a:headEnd type="none"/>
            <a:tailEnd type="triangle"/>
          </a:ln>
        </p:spPr>
      </p:sp>
      <p:sp>
        <p:nvSpPr>
          <p:cNvPr id="47" name="Shape 45"/>
          <p:cNvSpPr/>
          <p:nvPr/>
        </p:nvSpPr>
        <p:spPr>
          <a:xfrm>
            <a:off x="7808976" y="5120640"/>
            <a:ext cx="1435608" cy="274320"/>
          </a:xfrm>
          <a:prstGeom prst="roundRect">
            <a:avLst>
              <a:gd name="adj" fmla="val 50000"/>
            </a:avLst>
          </a:prstGeom>
          <a:solidFill>
            <a:srgbClr val="173D5C"/>
          </a:solidFill>
          <a:ln w="12700">
            <a:solidFill>
              <a:srgbClr val="173D5C"/>
            </a:solidFill>
            <a:prstDash val="solid"/>
          </a:ln>
        </p:spPr>
      </p:sp>
      <p:sp>
        <p:nvSpPr>
          <p:cNvPr id="48" name="Text 46"/>
          <p:cNvSpPr/>
          <p:nvPr/>
        </p:nvSpPr>
        <p:spPr>
          <a:xfrm>
            <a:off x="7808976" y="5129784"/>
            <a:ext cx="1435608" cy="256032"/>
          </a:xfrm>
          <a:prstGeom prst="rect">
            <a:avLst/>
          </a:prstGeom>
          <a:noFill/>
          <a:ln/>
        </p:spPr>
        <p:txBody>
          <a:bodyPr wrap="square" lIns="0" tIns="0" rIns="0" bIns="0" rtlCol="0" anchor="ctr">
            <a:normAutofit/>
          </a:bodyPr>
          <a:lstStyle/>
          <a:p>
            <a:pPr algn="ctr" indent="0" marL="0">
              <a:buNone/>
            </a:pPr>
            <a:r>
              <a:rPr lang="en-US" sz="950" b="1" dirty="0">
                <a:solidFill>
                  <a:srgbClr val="CDE0F4"/>
                </a:solidFill>
                <a:latin typeface="Arimo" pitchFamily="34" charset="0"/>
                <a:ea typeface="Arimo" pitchFamily="34" charset="-122"/>
                <a:cs typeface="Arimo" pitchFamily="34" charset="-120"/>
              </a:rPr>
              <a:t>collect dated snapshots</a:t>
            </a:r>
            <a:endParaRPr lang="en-US" sz="950" dirty="0"/>
          </a:p>
        </p:txBody>
      </p:sp>
      <p:sp>
        <p:nvSpPr>
          <p:cNvPr id="49" name="Shape 47"/>
          <p:cNvSpPr/>
          <p:nvPr/>
        </p:nvSpPr>
        <p:spPr>
          <a:xfrm>
            <a:off x="9473184" y="5120640"/>
            <a:ext cx="1316736" cy="274320"/>
          </a:xfrm>
          <a:prstGeom prst="roundRect">
            <a:avLst>
              <a:gd name="adj" fmla="val 50000"/>
            </a:avLst>
          </a:prstGeom>
          <a:solidFill>
            <a:srgbClr val="173D5C"/>
          </a:solidFill>
          <a:ln w="12700">
            <a:solidFill>
              <a:srgbClr val="173D5C"/>
            </a:solidFill>
            <a:prstDash val="solid"/>
          </a:ln>
        </p:spPr>
      </p:sp>
      <p:sp>
        <p:nvSpPr>
          <p:cNvPr id="50" name="Text 48"/>
          <p:cNvSpPr/>
          <p:nvPr/>
        </p:nvSpPr>
        <p:spPr>
          <a:xfrm>
            <a:off x="9473184" y="5129784"/>
            <a:ext cx="1316736" cy="256032"/>
          </a:xfrm>
          <a:prstGeom prst="rect">
            <a:avLst/>
          </a:prstGeom>
          <a:noFill/>
          <a:ln/>
        </p:spPr>
        <p:txBody>
          <a:bodyPr wrap="square" lIns="0" tIns="0" rIns="0" bIns="0" rtlCol="0" anchor="ctr">
            <a:normAutofit/>
          </a:bodyPr>
          <a:lstStyle/>
          <a:p>
            <a:pPr algn="ctr" indent="0" marL="0">
              <a:buNone/>
            </a:pPr>
            <a:r>
              <a:rPr lang="en-US" sz="950" b="1" dirty="0">
                <a:solidFill>
                  <a:srgbClr val="CDE0F4"/>
                </a:solidFill>
                <a:latin typeface="Arimo" pitchFamily="34" charset="0"/>
                <a:ea typeface="Arimo" pitchFamily="34" charset="-122"/>
                <a:cs typeface="Arimo" pitchFamily="34" charset="-120"/>
              </a:rPr>
              <a:t>forecast trends</a:t>
            </a:r>
            <a:endParaRPr lang="en-US" sz="950" dirty="0"/>
          </a:p>
        </p:txBody>
      </p:sp>
      <p:sp>
        <p:nvSpPr>
          <p:cNvPr id="51" name="Text 49"/>
          <p:cNvSpPr/>
          <p:nvPr/>
        </p:nvSpPr>
        <p:spPr>
          <a:xfrm>
            <a:off x="7882128" y="5568696"/>
            <a:ext cx="2852928" cy="365760"/>
          </a:xfrm>
          <a:prstGeom prst="rect">
            <a:avLst/>
          </a:prstGeom>
          <a:noFill/>
          <a:ln/>
        </p:spPr>
        <p:txBody>
          <a:bodyPr wrap="square" lIns="0" tIns="0" rIns="0" bIns="0" rtlCol="0" anchor="ctr">
            <a:normAutofit/>
          </a:bodyPr>
          <a:lstStyle/>
          <a:p>
            <a:pPr algn="ctr" indent="0" marL="0">
              <a:buNone/>
            </a:pPr>
            <a:r>
              <a:rPr lang="en-US" sz="870" dirty="0">
                <a:solidFill>
                  <a:srgbClr val="9FB2C7"/>
                </a:solidFill>
                <a:latin typeface="Arimo" pitchFamily="34" charset="0"/>
                <a:ea typeface="Arimo" pitchFamily="34" charset="-122"/>
                <a:cs typeface="Arimo" pitchFamily="34" charset="-120"/>
              </a:rPr>
              <a:t>Next: build a historical time series, then test true future forecasting.</a:t>
            </a:r>
            <a:endParaRPr lang="en-US" sz="87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38091"/>
                </a:solidFill>
                <a:latin typeface="Arimo"/>
                <a:ea typeface="Arimo"/>
                <a:cs typeface="Arimo"/>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30352" y="347472"/>
            <a:ext cx="3474720" cy="256032"/>
          </a:xfrm>
          <a:prstGeom prst="rect">
            <a:avLst/>
          </a:prstGeom>
          <a:noFill/>
        </p:spPr>
        <p:txBody>
          <a:bodyPr wrap="square" lIns="0" rIns="0" tIns="0" bIns="0" anchor="ctr">
            <a:spAutoFit/>
          </a:bodyPr>
          <a:lstStyle/>
          <a:p>
            <a:pPr algn="l"/>
            <a:r>
              <a:rPr sz="1000" b="1">
                <a:solidFill>
                  <a:srgbClr val="2F6BFF"/>
                </a:solidFill>
                <a:latin typeface="Arimo"/>
              </a:rPr>
              <a:t>05 • SUMMARY</a:t>
            </a:r>
          </a:p>
        </p:txBody>
      </p:sp>
      <p:sp>
        <p:nvSpPr>
          <p:cNvPr id="3" name="TextBox 2"/>
          <p:cNvSpPr txBox="1"/>
          <p:nvPr/>
        </p:nvSpPr>
        <p:spPr>
          <a:xfrm>
            <a:off x="530352" y="658368"/>
            <a:ext cx="10972800" cy="548640"/>
          </a:xfrm>
          <a:prstGeom prst="rect">
            <a:avLst/>
          </a:prstGeom>
          <a:noFill/>
        </p:spPr>
        <p:txBody>
          <a:bodyPr wrap="square" lIns="0" rIns="0" tIns="0" bIns="0" anchor="ctr">
            <a:spAutoFit/>
          </a:bodyPr>
          <a:lstStyle/>
          <a:p>
            <a:pPr algn="l"/>
            <a:r>
              <a:rPr sz="2800" b="1">
                <a:solidFill>
                  <a:srgbClr val="071A2B"/>
                </a:solidFill>
                <a:latin typeface="Arimo"/>
              </a:rPr>
              <a:t>Project in four files</a:t>
            </a:r>
          </a:p>
        </p:txBody>
      </p:sp>
      <p:sp>
        <p:nvSpPr>
          <p:cNvPr id="4" name="TextBox 3"/>
          <p:cNvSpPr txBox="1"/>
          <p:nvPr/>
        </p:nvSpPr>
        <p:spPr>
          <a:xfrm>
            <a:off x="530352" y="1225296"/>
            <a:ext cx="10789920" cy="329184"/>
          </a:xfrm>
          <a:prstGeom prst="rect">
            <a:avLst/>
          </a:prstGeom>
          <a:noFill/>
        </p:spPr>
        <p:txBody>
          <a:bodyPr wrap="square" lIns="0" rIns="0" tIns="0" bIns="0" anchor="ctr">
            <a:spAutoFit/>
          </a:bodyPr>
          <a:lstStyle/>
          <a:p>
            <a:pPr algn="l"/>
            <a:r>
              <a:rPr sz="1350" b="0">
                <a:solidFill>
                  <a:srgbClr val="657383"/>
                </a:solidFill>
                <a:latin typeface="Arimo"/>
              </a:rPr>
              <a:t>The core workflow is simple: collect data, understand it, train safely, then estimate a new listing.</a:t>
            </a:r>
          </a:p>
        </p:txBody>
      </p:sp>
      <p:sp>
        <p:nvSpPr>
          <p:cNvPr id="5" name="Rounded Rectangle 4"/>
          <p:cNvSpPr/>
          <p:nvPr/>
        </p:nvSpPr>
        <p:spPr>
          <a:xfrm>
            <a:off x="566928" y="1874519"/>
            <a:ext cx="2505456" cy="2907792"/>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74519"/>
            <a:ext cx="64008" cy="2907792"/>
          </a:xfrm>
          <a:prstGeom prst="rect">
            <a:avLst/>
          </a:prstGeom>
          <a:solidFill>
            <a:srgbClr val="168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 y="2103120"/>
            <a:ext cx="384048" cy="384048"/>
          </a:xfrm>
          <a:prstGeom prst="ellipse">
            <a:avLst/>
          </a:prstGeom>
          <a:solidFill>
            <a:srgbClr val="168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103120"/>
            <a:ext cx="384048" cy="384048"/>
          </a:xfrm>
          <a:prstGeom prst="rect">
            <a:avLst/>
          </a:prstGeom>
          <a:noFill/>
        </p:spPr>
        <p:txBody>
          <a:bodyPr wrap="square" lIns="0" rIns="0" tIns="0" bIns="0" anchor="ctr">
            <a:spAutoFit/>
          </a:bodyPr>
          <a:lstStyle/>
          <a:p>
            <a:pPr algn="ctr"/>
            <a:r>
              <a:rPr sz="1200" b="1">
                <a:solidFill>
                  <a:srgbClr val="FFFFFF"/>
                </a:solidFill>
                <a:latin typeface="Arimo"/>
              </a:rPr>
              <a:t>1</a:t>
            </a:r>
          </a:p>
        </p:txBody>
      </p:sp>
      <p:sp>
        <p:nvSpPr>
          <p:cNvPr id="9" name="TextBox 8"/>
          <p:cNvSpPr txBox="1"/>
          <p:nvPr/>
        </p:nvSpPr>
        <p:spPr>
          <a:xfrm>
            <a:off x="1280160" y="2075688"/>
            <a:ext cx="1554480" cy="384048"/>
          </a:xfrm>
          <a:prstGeom prst="rect">
            <a:avLst/>
          </a:prstGeom>
          <a:noFill/>
        </p:spPr>
        <p:txBody>
          <a:bodyPr wrap="square" lIns="0" rIns="0" tIns="0" bIns="0" anchor="ctr">
            <a:spAutoFit/>
          </a:bodyPr>
          <a:lstStyle/>
          <a:p>
            <a:pPr algn="l"/>
            <a:r>
              <a:rPr sz="1300" b="1">
                <a:solidFill>
                  <a:srgbClr val="071A2B"/>
                </a:solidFill>
                <a:latin typeface="Arimo"/>
              </a:rPr>
              <a:t>SCRAPE + CLEAN</a:t>
            </a:r>
          </a:p>
        </p:txBody>
      </p:sp>
      <p:sp>
        <p:nvSpPr>
          <p:cNvPr id="10" name="Rounded Rectangle 9"/>
          <p:cNvSpPr/>
          <p:nvPr/>
        </p:nvSpPr>
        <p:spPr>
          <a:xfrm>
            <a:off x="768096" y="2651760"/>
            <a:ext cx="2103120" cy="640080"/>
          </a:xfrm>
          <a:prstGeom prst="roundRect">
            <a:avLst/>
          </a:prstGeom>
          <a:solidFill>
            <a:srgbClr val="E8F7F2"/>
          </a:solidFill>
          <a:ln w="15240">
            <a:solidFill>
              <a:srgbClr val="E8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688336"/>
            <a:ext cx="1883664" cy="566928"/>
          </a:xfrm>
          <a:prstGeom prst="rect">
            <a:avLst/>
          </a:prstGeom>
          <a:noFill/>
        </p:spPr>
        <p:txBody>
          <a:bodyPr wrap="square" lIns="0" rIns="0" tIns="0" bIns="0" anchor="ctr">
            <a:spAutoFit/>
          </a:bodyPr>
          <a:lstStyle/>
          <a:p>
            <a:pPr algn="ctr"/>
            <a:r>
              <a:rPr sz="1050" b="1">
                <a:solidFill>
                  <a:srgbClr val="16826C"/>
                </a:solidFill>
                <a:latin typeface="Arimo"/>
              </a:rPr>
              <a:t>scrape_real_estate_
training_data.py</a:t>
            </a:r>
          </a:p>
        </p:txBody>
      </p:sp>
      <p:sp>
        <p:nvSpPr>
          <p:cNvPr id="12" name="TextBox 11"/>
          <p:cNvSpPr txBox="1"/>
          <p:nvPr/>
        </p:nvSpPr>
        <p:spPr>
          <a:xfrm>
            <a:off x="768096" y="3447287"/>
            <a:ext cx="2103120" cy="713232"/>
          </a:xfrm>
          <a:prstGeom prst="rect">
            <a:avLst/>
          </a:prstGeom>
          <a:noFill/>
        </p:spPr>
        <p:txBody>
          <a:bodyPr wrap="square" lIns="0" rIns="0" tIns="0" bIns="0" anchor="t">
            <a:spAutoFit/>
          </a:bodyPr>
          <a:lstStyle/>
          <a:p>
            <a:pPr algn="l"/>
            <a:r>
              <a:rPr sz="1120" b="0">
                <a:solidFill>
                  <a:srgbClr val="657383"/>
                </a:solidFill>
                <a:latin typeface="Arimo"/>
              </a:rPr>
              <a:t>Collect approved listings, normalize fields and remove duplicates.</a:t>
            </a:r>
          </a:p>
        </p:txBody>
      </p:sp>
      <p:sp>
        <p:nvSpPr>
          <p:cNvPr id="13" name="Rounded Rectangle 12"/>
          <p:cNvSpPr/>
          <p:nvPr/>
        </p:nvSpPr>
        <p:spPr>
          <a:xfrm>
            <a:off x="768096"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1,777 rows</a:t>
            </a:r>
          </a:p>
        </p:txBody>
      </p:sp>
      <p:sp>
        <p:nvSpPr>
          <p:cNvPr id="15" name="Rounded Rectangle 14"/>
          <p:cNvSpPr/>
          <p:nvPr/>
        </p:nvSpPr>
        <p:spPr>
          <a:xfrm>
            <a:off x="1856232"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56232"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161 cols</a:t>
            </a:r>
          </a:p>
        </p:txBody>
      </p:sp>
      <p:sp>
        <p:nvSpPr>
          <p:cNvPr id="17" name="Rounded Rectangle 16"/>
          <p:cNvSpPr/>
          <p:nvPr/>
        </p:nvSpPr>
        <p:spPr>
          <a:xfrm>
            <a:off x="3255264" y="1874519"/>
            <a:ext cx="2505456" cy="2907792"/>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55264" y="1874519"/>
            <a:ext cx="64008" cy="2907792"/>
          </a:xfrm>
          <a:prstGeom prst="rect">
            <a:avLst/>
          </a:prstGeom>
          <a:solidFill>
            <a:srgbClr val="1CA9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56432" y="2103120"/>
            <a:ext cx="384048" cy="384048"/>
          </a:xfrm>
          <a:prstGeom prst="ellipse">
            <a:avLst/>
          </a:prstGeom>
          <a:solidFill>
            <a:srgbClr val="1CA9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56432" y="2103120"/>
            <a:ext cx="384048" cy="384048"/>
          </a:xfrm>
          <a:prstGeom prst="rect">
            <a:avLst/>
          </a:prstGeom>
          <a:noFill/>
        </p:spPr>
        <p:txBody>
          <a:bodyPr wrap="square" lIns="0" rIns="0" tIns="0" bIns="0" anchor="ctr">
            <a:spAutoFit/>
          </a:bodyPr>
          <a:lstStyle/>
          <a:p>
            <a:pPr algn="ctr"/>
            <a:r>
              <a:rPr sz="1200" b="1">
                <a:solidFill>
                  <a:srgbClr val="FFFFFF"/>
                </a:solidFill>
                <a:latin typeface="Arimo"/>
              </a:rPr>
              <a:t>2</a:t>
            </a:r>
          </a:p>
        </p:txBody>
      </p:sp>
      <p:sp>
        <p:nvSpPr>
          <p:cNvPr id="21" name="TextBox 20"/>
          <p:cNvSpPr txBox="1"/>
          <p:nvPr/>
        </p:nvSpPr>
        <p:spPr>
          <a:xfrm>
            <a:off x="3968496" y="2075688"/>
            <a:ext cx="1554480" cy="384048"/>
          </a:xfrm>
          <a:prstGeom prst="rect">
            <a:avLst/>
          </a:prstGeom>
          <a:noFill/>
        </p:spPr>
        <p:txBody>
          <a:bodyPr wrap="square" lIns="0" rIns="0" tIns="0" bIns="0" anchor="ctr">
            <a:spAutoFit/>
          </a:bodyPr>
          <a:lstStyle/>
          <a:p>
            <a:pPr algn="l"/>
            <a:r>
              <a:rPr sz="1300" b="1">
                <a:solidFill>
                  <a:srgbClr val="071A2B"/>
                </a:solidFill>
                <a:latin typeface="Arimo"/>
              </a:rPr>
              <a:t>EDA</a:t>
            </a:r>
          </a:p>
        </p:txBody>
      </p:sp>
      <p:sp>
        <p:nvSpPr>
          <p:cNvPr id="22" name="Rounded Rectangle 21"/>
          <p:cNvSpPr/>
          <p:nvPr/>
        </p:nvSpPr>
        <p:spPr>
          <a:xfrm>
            <a:off x="3456432" y="2651760"/>
            <a:ext cx="2103120" cy="640080"/>
          </a:xfrm>
          <a:prstGeom prst="roundRect">
            <a:avLst/>
          </a:prstGeom>
          <a:solidFill>
            <a:srgbClr val="E8F9FB"/>
          </a:solidFill>
          <a:ln w="15240">
            <a:solidFill>
              <a:srgbClr val="E8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66160" y="2688336"/>
            <a:ext cx="1883664" cy="566928"/>
          </a:xfrm>
          <a:prstGeom prst="rect">
            <a:avLst/>
          </a:prstGeom>
          <a:noFill/>
        </p:spPr>
        <p:txBody>
          <a:bodyPr wrap="square" lIns="0" rIns="0" tIns="0" bIns="0" anchor="ctr">
            <a:spAutoFit/>
          </a:bodyPr>
          <a:lstStyle/>
          <a:p>
            <a:pPr algn="ctr"/>
            <a:r>
              <a:rPr sz="1050" b="1">
                <a:solidFill>
                  <a:srgbClr val="1CA9BC"/>
                </a:solidFill>
                <a:latin typeface="Arimo"/>
              </a:rPr>
              <a:t>eda_real_estate.ipynb</a:t>
            </a:r>
          </a:p>
        </p:txBody>
      </p:sp>
      <p:sp>
        <p:nvSpPr>
          <p:cNvPr id="24" name="TextBox 23"/>
          <p:cNvSpPr txBox="1"/>
          <p:nvPr/>
        </p:nvSpPr>
        <p:spPr>
          <a:xfrm>
            <a:off x="3456432" y="3447287"/>
            <a:ext cx="2103120" cy="713232"/>
          </a:xfrm>
          <a:prstGeom prst="rect">
            <a:avLst/>
          </a:prstGeom>
          <a:noFill/>
        </p:spPr>
        <p:txBody>
          <a:bodyPr wrap="square" lIns="0" rIns="0" tIns="0" bIns="0" anchor="t">
            <a:spAutoFit/>
          </a:bodyPr>
          <a:lstStyle/>
          <a:p>
            <a:pPr algn="l"/>
            <a:r>
              <a:rPr sz="1120" b="0">
                <a:solidFill>
                  <a:srgbClr val="657383"/>
                </a:solidFill>
                <a:latin typeface="Arimo"/>
              </a:rPr>
              <a:t>Inspect missingness, distributions, coverage and useful signals.</a:t>
            </a:r>
          </a:p>
        </p:txBody>
      </p:sp>
      <p:sp>
        <p:nvSpPr>
          <p:cNvPr id="25" name="Rounded Rectangle 24"/>
          <p:cNvSpPr/>
          <p:nvPr/>
        </p:nvSpPr>
        <p:spPr>
          <a:xfrm>
            <a:off x="3456432"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56432"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1,689 rows</a:t>
            </a:r>
          </a:p>
        </p:txBody>
      </p:sp>
      <p:sp>
        <p:nvSpPr>
          <p:cNvPr id="27" name="Rounded Rectangle 26"/>
          <p:cNvSpPr/>
          <p:nvPr/>
        </p:nvSpPr>
        <p:spPr>
          <a:xfrm>
            <a:off x="4544568"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44568"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63 cols</a:t>
            </a:r>
          </a:p>
        </p:txBody>
      </p:sp>
      <p:sp>
        <p:nvSpPr>
          <p:cNvPr id="29" name="Rounded Rectangle 28"/>
          <p:cNvSpPr/>
          <p:nvPr/>
        </p:nvSpPr>
        <p:spPr>
          <a:xfrm>
            <a:off x="5943600" y="1874519"/>
            <a:ext cx="2505456" cy="2907792"/>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0" y="1874519"/>
            <a:ext cx="64008" cy="2907792"/>
          </a:xfrm>
          <a:prstGeom prst="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144768" y="2103120"/>
            <a:ext cx="384048" cy="384048"/>
          </a:xfrm>
          <a:prstGeom prst="ellipse">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44768" y="2103120"/>
            <a:ext cx="384048" cy="384048"/>
          </a:xfrm>
          <a:prstGeom prst="rect">
            <a:avLst/>
          </a:prstGeom>
          <a:noFill/>
        </p:spPr>
        <p:txBody>
          <a:bodyPr wrap="square" lIns="0" rIns="0" tIns="0" bIns="0" anchor="ctr">
            <a:spAutoFit/>
          </a:bodyPr>
          <a:lstStyle/>
          <a:p>
            <a:pPr algn="ctr"/>
            <a:r>
              <a:rPr sz="1200" b="1">
                <a:solidFill>
                  <a:srgbClr val="FFFFFF"/>
                </a:solidFill>
                <a:latin typeface="Arimo"/>
              </a:rPr>
              <a:t>3</a:t>
            </a:r>
          </a:p>
        </p:txBody>
      </p:sp>
      <p:sp>
        <p:nvSpPr>
          <p:cNvPr id="33" name="TextBox 32"/>
          <p:cNvSpPr txBox="1"/>
          <p:nvPr/>
        </p:nvSpPr>
        <p:spPr>
          <a:xfrm>
            <a:off x="6656832" y="2075688"/>
            <a:ext cx="1554480" cy="384048"/>
          </a:xfrm>
          <a:prstGeom prst="rect">
            <a:avLst/>
          </a:prstGeom>
          <a:noFill/>
        </p:spPr>
        <p:txBody>
          <a:bodyPr wrap="square" lIns="0" rIns="0" tIns="0" bIns="0" anchor="ctr">
            <a:spAutoFit/>
          </a:bodyPr>
          <a:lstStyle/>
          <a:p>
            <a:pPr algn="l"/>
            <a:r>
              <a:rPr sz="1300" b="1">
                <a:solidFill>
                  <a:srgbClr val="071A2B"/>
                </a:solidFill>
                <a:latin typeface="Arimo"/>
              </a:rPr>
              <a:t>MODEL</a:t>
            </a:r>
          </a:p>
        </p:txBody>
      </p:sp>
      <p:sp>
        <p:nvSpPr>
          <p:cNvPr id="34" name="Rounded Rectangle 33"/>
          <p:cNvSpPr/>
          <p:nvPr/>
        </p:nvSpPr>
        <p:spPr>
          <a:xfrm>
            <a:off x="6144768" y="2651760"/>
            <a:ext cx="2103120" cy="640080"/>
          </a:xfrm>
          <a:prstGeom prst="roundRect">
            <a:avLst/>
          </a:prstGeom>
          <a:solidFill>
            <a:srgbClr val="EBF1FF"/>
          </a:solidFill>
          <a:ln w="15240">
            <a:solidFill>
              <a:srgbClr val="EB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4496" y="2688336"/>
            <a:ext cx="1883664" cy="566928"/>
          </a:xfrm>
          <a:prstGeom prst="rect">
            <a:avLst/>
          </a:prstGeom>
          <a:noFill/>
        </p:spPr>
        <p:txBody>
          <a:bodyPr wrap="square" lIns="0" rIns="0" tIns="0" bIns="0" anchor="ctr">
            <a:spAutoFit/>
          </a:bodyPr>
          <a:lstStyle/>
          <a:p>
            <a:pPr algn="ctr"/>
            <a:r>
              <a:rPr sz="1050" b="1">
                <a:solidFill>
                  <a:srgbClr val="2F6BFF"/>
                </a:solidFill>
                <a:latin typeface="Arimo"/>
              </a:rPr>
              <a:t>real_estate_model.ipynb</a:t>
            </a:r>
          </a:p>
        </p:txBody>
      </p:sp>
      <p:sp>
        <p:nvSpPr>
          <p:cNvPr id="36" name="TextBox 35"/>
          <p:cNvSpPr txBox="1"/>
          <p:nvPr/>
        </p:nvSpPr>
        <p:spPr>
          <a:xfrm>
            <a:off x="6144768" y="3447287"/>
            <a:ext cx="2103120" cy="713232"/>
          </a:xfrm>
          <a:prstGeom prst="rect">
            <a:avLst/>
          </a:prstGeom>
          <a:noFill/>
        </p:spPr>
        <p:txBody>
          <a:bodyPr wrap="square" lIns="0" rIns="0" tIns="0" bIns="0" anchor="t">
            <a:spAutoFit/>
          </a:bodyPr>
          <a:lstStyle/>
          <a:p>
            <a:pPr algn="l"/>
            <a:r>
              <a:rPr sz="1120" b="0">
                <a:solidFill>
                  <a:srgbClr val="657383"/>
                </a:solidFill>
                <a:latin typeface="Arimo"/>
              </a:rPr>
              <a:t>Preprocess in-fold, compare regressors and select Ridge.</a:t>
            </a:r>
          </a:p>
        </p:txBody>
      </p:sp>
      <p:sp>
        <p:nvSpPr>
          <p:cNvPr id="37" name="Rounded Rectangle 36"/>
          <p:cNvSpPr/>
          <p:nvPr/>
        </p:nvSpPr>
        <p:spPr>
          <a:xfrm>
            <a:off x="6144768"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R² 0.475</a:t>
            </a:r>
          </a:p>
        </p:txBody>
      </p:sp>
      <p:sp>
        <p:nvSpPr>
          <p:cNvPr id="39" name="Rounded Rectangle 38"/>
          <p:cNvSpPr/>
          <p:nvPr/>
        </p:nvSpPr>
        <p:spPr>
          <a:xfrm>
            <a:off x="7232903"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2903"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MAPE 27.2%</a:t>
            </a:r>
          </a:p>
        </p:txBody>
      </p:sp>
      <p:sp>
        <p:nvSpPr>
          <p:cNvPr id="41" name="Rounded Rectangle 40"/>
          <p:cNvSpPr/>
          <p:nvPr/>
        </p:nvSpPr>
        <p:spPr>
          <a:xfrm>
            <a:off x="8631936" y="1874519"/>
            <a:ext cx="2505456" cy="2907792"/>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31936" y="1874519"/>
            <a:ext cx="64008" cy="2907792"/>
          </a:xfrm>
          <a:prstGeom prst="rect">
            <a:avLst/>
          </a:prstGeom>
          <a:solidFill>
            <a:srgbClr val="F4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33104" y="2103120"/>
            <a:ext cx="384048" cy="384048"/>
          </a:xfrm>
          <a:prstGeom prst="ellipse">
            <a:avLst/>
          </a:prstGeom>
          <a:solidFill>
            <a:srgbClr val="F4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33104" y="2103120"/>
            <a:ext cx="384048" cy="384048"/>
          </a:xfrm>
          <a:prstGeom prst="rect">
            <a:avLst/>
          </a:prstGeom>
          <a:noFill/>
        </p:spPr>
        <p:txBody>
          <a:bodyPr wrap="square" lIns="0" rIns="0" tIns="0" bIns="0" anchor="ctr">
            <a:spAutoFit/>
          </a:bodyPr>
          <a:lstStyle/>
          <a:p>
            <a:pPr algn="ctr"/>
            <a:r>
              <a:rPr sz="1200" b="1">
                <a:solidFill>
                  <a:srgbClr val="FFFFFF"/>
                </a:solidFill>
                <a:latin typeface="Arimo"/>
              </a:rPr>
              <a:t>4</a:t>
            </a:r>
          </a:p>
        </p:txBody>
      </p:sp>
      <p:sp>
        <p:nvSpPr>
          <p:cNvPr id="45" name="TextBox 44"/>
          <p:cNvSpPr txBox="1"/>
          <p:nvPr/>
        </p:nvSpPr>
        <p:spPr>
          <a:xfrm>
            <a:off x="9345167" y="2075688"/>
            <a:ext cx="1554480" cy="384048"/>
          </a:xfrm>
          <a:prstGeom prst="rect">
            <a:avLst/>
          </a:prstGeom>
          <a:noFill/>
        </p:spPr>
        <p:txBody>
          <a:bodyPr wrap="square" lIns="0" rIns="0" tIns="0" bIns="0" anchor="ctr">
            <a:spAutoFit/>
          </a:bodyPr>
          <a:lstStyle/>
          <a:p>
            <a:pPr algn="l"/>
            <a:r>
              <a:rPr sz="1300" b="1">
                <a:solidFill>
                  <a:srgbClr val="071A2B"/>
                </a:solidFill>
                <a:latin typeface="Arimo"/>
              </a:rPr>
              <a:t>PREDICT</a:t>
            </a:r>
          </a:p>
        </p:txBody>
      </p:sp>
      <p:sp>
        <p:nvSpPr>
          <p:cNvPr id="46" name="Rounded Rectangle 45"/>
          <p:cNvSpPr/>
          <p:nvPr/>
        </p:nvSpPr>
        <p:spPr>
          <a:xfrm>
            <a:off x="8833104" y="2651760"/>
            <a:ext cx="2103120" cy="640080"/>
          </a:xfrm>
          <a:prstGeom prst="roundRect">
            <a:avLst/>
          </a:prstGeom>
          <a:solidFill>
            <a:srgbClr val="FFF5E2"/>
          </a:solidFill>
          <a:ln w="15240">
            <a:solidFill>
              <a:srgbClr val="FFF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42832" y="2688336"/>
            <a:ext cx="1883664" cy="566928"/>
          </a:xfrm>
          <a:prstGeom prst="rect">
            <a:avLst/>
          </a:prstGeom>
          <a:noFill/>
        </p:spPr>
        <p:txBody>
          <a:bodyPr wrap="square" lIns="0" rIns="0" tIns="0" bIns="0" anchor="ctr">
            <a:spAutoFit/>
          </a:bodyPr>
          <a:lstStyle/>
          <a:p>
            <a:pPr algn="ctr"/>
            <a:r>
              <a:rPr sz="1050" b="1">
                <a:solidFill>
                  <a:srgbClr val="F4A62A"/>
                </a:solidFill>
                <a:latin typeface="Arimo"/>
              </a:rPr>
              <a:t>predict_property.py</a:t>
            </a:r>
          </a:p>
        </p:txBody>
      </p:sp>
      <p:sp>
        <p:nvSpPr>
          <p:cNvPr id="48" name="TextBox 47"/>
          <p:cNvSpPr txBox="1"/>
          <p:nvPr/>
        </p:nvSpPr>
        <p:spPr>
          <a:xfrm>
            <a:off x="8833104" y="3447287"/>
            <a:ext cx="2103120" cy="713232"/>
          </a:xfrm>
          <a:prstGeom prst="rect">
            <a:avLst/>
          </a:prstGeom>
          <a:noFill/>
        </p:spPr>
        <p:txBody>
          <a:bodyPr wrap="square" lIns="0" rIns="0" tIns="0" bIns="0" anchor="t">
            <a:spAutoFit/>
          </a:bodyPr>
          <a:lstStyle/>
          <a:p>
            <a:pPr algn="l"/>
            <a:r>
              <a:rPr sz="1120" b="0">
                <a:solidFill>
                  <a:srgbClr val="657383"/>
                </a:solidFill>
                <a:latin typeface="Arimo"/>
              </a:rPr>
              <a:t>Enter one property in the terminal and return an estimated USD price.</a:t>
            </a:r>
          </a:p>
        </p:txBody>
      </p:sp>
      <p:sp>
        <p:nvSpPr>
          <p:cNvPr id="49" name="Rounded Rectangle 48"/>
          <p:cNvSpPr/>
          <p:nvPr/>
        </p:nvSpPr>
        <p:spPr>
          <a:xfrm>
            <a:off x="8833104"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33104"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CLI</a:t>
            </a:r>
          </a:p>
        </p:txBody>
      </p:sp>
      <p:sp>
        <p:nvSpPr>
          <p:cNvPr id="51" name="Rounded Rectangle 50"/>
          <p:cNvSpPr/>
          <p:nvPr/>
        </p:nvSpPr>
        <p:spPr>
          <a:xfrm>
            <a:off x="9921240" y="4279392"/>
            <a:ext cx="960120" cy="310896"/>
          </a:xfrm>
          <a:prstGeom prst="roundRect">
            <a:avLst/>
          </a:prstGeom>
          <a:solidFill>
            <a:srgbClr val="F0F3F7"/>
          </a:solidFill>
          <a:ln w="15240">
            <a:solidFill>
              <a:srgbClr val="F0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21240" y="4279392"/>
            <a:ext cx="960120" cy="310896"/>
          </a:xfrm>
          <a:prstGeom prst="rect">
            <a:avLst/>
          </a:prstGeom>
          <a:noFill/>
        </p:spPr>
        <p:txBody>
          <a:bodyPr wrap="square" lIns="0" rIns="0" tIns="0" bIns="0" anchor="ctr">
            <a:spAutoFit/>
          </a:bodyPr>
          <a:lstStyle/>
          <a:p>
            <a:pPr algn="ctr"/>
            <a:r>
              <a:rPr sz="880" b="1">
                <a:solidFill>
                  <a:srgbClr val="15202B"/>
                </a:solidFill>
                <a:latin typeface="Arimo"/>
              </a:rPr>
              <a:t>current data</a:t>
            </a:r>
          </a:p>
        </p:txBody>
      </p:sp>
      <p:cxnSp>
        <p:nvCxnSpPr>
          <p:cNvPr id="53" name="Connector 52"/>
          <p:cNvCxnSpPr/>
          <p:nvPr/>
        </p:nvCxnSpPr>
        <p:spPr>
          <a:xfrm>
            <a:off x="3118104" y="3291839"/>
            <a:ext cx="91440" cy="0"/>
          </a:xfrm>
          <a:prstGeom prst="line">
            <a:avLst/>
          </a:prstGeom>
          <a:ln w="27940">
            <a:solidFill>
              <a:srgbClr val="2F6B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806440" y="3291839"/>
            <a:ext cx="91440" cy="0"/>
          </a:xfrm>
          <a:prstGeom prst="line">
            <a:avLst/>
          </a:prstGeom>
          <a:ln w="27940">
            <a:solidFill>
              <a:srgbClr val="2F6BF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494776" y="3291839"/>
            <a:ext cx="91439" cy="0"/>
          </a:xfrm>
          <a:prstGeom prst="line">
            <a:avLst/>
          </a:prstGeom>
          <a:ln w="27940">
            <a:solidFill>
              <a:srgbClr val="2F6BFF"/>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566928" y="5074920"/>
            <a:ext cx="11064240" cy="841248"/>
          </a:xfrm>
          <a:prstGeom prst="roundRect">
            <a:avLst/>
          </a:prstGeom>
          <a:solidFill>
            <a:srgbClr val="071F30"/>
          </a:solidFill>
          <a:ln w="15240">
            <a:solidFill>
              <a:srgbClr val="071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1248" y="5202936"/>
            <a:ext cx="1874519" cy="219456"/>
          </a:xfrm>
          <a:prstGeom prst="rect">
            <a:avLst/>
          </a:prstGeom>
          <a:noFill/>
        </p:spPr>
        <p:txBody>
          <a:bodyPr wrap="square" lIns="0" rIns="0" tIns="0" bIns="0" anchor="ctr">
            <a:spAutoFit/>
          </a:bodyPr>
          <a:lstStyle/>
          <a:p>
            <a:pPr algn="l"/>
            <a:r>
              <a:rPr sz="1019" b="1">
                <a:solidFill>
                  <a:srgbClr val="F4A62A"/>
                </a:solidFill>
                <a:latin typeface="Arimo"/>
              </a:rPr>
              <a:t>NEXT MEANINGFUL STEP</a:t>
            </a:r>
          </a:p>
        </p:txBody>
      </p:sp>
      <p:sp>
        <p:nvSpPr>
          <p:cNvPr id="58" name="TextBox 57"/>
          <p:cNvSpPr txBox="1"/>
          <p:nvPr/>
        </p:nvSpPr>
        <p:spPr>
          <a:xfrm>
            <a:off x="841248" y="5449824"/>
            <a:ext cx="6537960" cy="246888"/>
          </a:xfrm>
          <a:prstGeom prst="rect">
            <a:avLst/>
          </a:prstGeom>
          <a:noFill/>
        </p:spPr>
        <p:txBody>
          <a:bodyPr wrap="square" lIns="0" rIns="0" tIns="0" bIns="0" anchor="ctr">
            <a:spAutoFit/>
          </a:bodyPr>
          <a:lstStyle/>
          <a:p>
            <a:pPr algn="l"/>
            <a:r>
              <a:rPr sz="1300" b="1">
                <a:solidFill>
                  <a:srgbClr val="FFFFFF"/>
                </a:solidFill>
                <a:latin typeface="Arimo"/>
              </a:rPr>
              <a:t>Collect dated snapshots of the same markets → build a real historical time series.</a:t>
            </a:r>
          </a:p>
        </p:txBody>
      </p:sp>
      <p:sp>
        <p:nvSpPr>
          <p:cNvPr id="59" name="Rounded Rectangle 58"/>
          <p:cNvSpPr/>
          <p:nvPr/>
        </p:nvSpPr>
        <p:spPr>
          <a:xfrm>
            <a:off x="8229600" y="5266944"/>
            <a:ext cx="2926080" cy="438912"/>
          </a:xfrm>
          <a:prstGeom prst="roundRect">
            <a:avLst/>
          </a:prstGeom>
          <a:solidFill>
            <a:srgbClr val="144565"/>
          </a:solidFill>
          <a:ln w="15240">
            <a:solidFill>
              <a:srgbClr val="144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0" y="5266944"/>
            <a:ext cx="2926080" cy="438912"/>
          </a:xfrm>
          <a:prstGeom prst="rect">
            <a:avLst/>
          </a:prstGeom>
          <a:noFill/>
        </p:spPr>
        <p:txBody>
          <a:bodyPr wrap="square" lIns="0" rIns="0" tIns="0" bIns="0" anchor="ctr">
            <a:spAutoFit/>
          </a:bodyPr>
          <a:lstStyle/>
          <a:p>
            <a:pPr algn="ctr"/>
            <a:r>
              <a:rPr sz="1050" b="1">
                <a:solidFill>
                  <a:srgbClr val="FFFFFF"/>
                </a:solidFill>
                <a:latin typeface="Arimo"/>
              </a:rPr>
              <a:t>snapshot data  →  future forecasting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m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m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HIT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Estate Price Estimation — Argentina &amp; Uruguay</dc:title>
  <dc:subject>HIT Real Estate Data Project</dc:subject>
  <dc:creator>Daniel Lankry</dc:creator>
  <cp:lastModifiedBy>Daniel Lankry</cp:lastModifiedBy>
  <cp:revision>1</cp:revision>
  <dcterms:created xsi:type="dcterms:W3CDTF">2026-08-28T11:48:36Z</dcterms:created>
  <dcterms:modified xsi:type="dcterms:W3CDTF">2026-08-28T11:48:36Z</dcterms:modified>
</cp:coreProperties>
</file>